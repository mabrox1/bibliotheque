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750800" cy="6858000"/>
  <p:notesSz cx="127508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23" autoAdjust="0"/>
    <p:restoredTop sz="94660"/>
  </p:normalViewPr>
  <p:slideViewPr>
    <p:cSldViewPr>
      <p:cViewPr varScale="1">
        <p:scale>
          <a:sx n="64" d="100"/>
          <a:sy n="64" d="100"/>
        </p:scale>
        <p:origin x="42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5260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7223125" y="0"/>
            <a:ext cx="55245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51FA0-244F-4E35-81D0-259B4587915A}" type="datetimeFigureOut">
              <a:rPr lang="fr-FR" smtClean="0"/>
              <a:t>04/11/2024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984625" y="514350"/>
            <a:ext cx="47815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1274763" y="3257550"/>
            <a:ext cx="10201275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52608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7223125" y="6513513"/>
            <a:ext cx="55245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BC240-7F23-4DBE-8C98-E1E575ED0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4815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031DB6-7337-492C-B918-7A1DD59C2CF7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124956" y="6530342"/>
            <a:ext cx="6621005" cy="327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74590" y="1006142"/>
            <a:ext cx="240162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12620" y="3840481"/>
            <a:ext cx="892556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124956" y="6530342"/>
            <a:ext cx="6621005" cy="327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37540" y="1577340"/>
            <a:ext cx="5546599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66661" y="1577340"/>
            <a:ext cx="5546599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124956" y="6530342"/>
            <a:ext cx="6621005" cy="327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124956" y="6530342"/>
            <a:ext cx="6621005" cy="3276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5324" y="805861"/>
            <a:ext cx="702015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0693" y="2628082"/>
            <a:ext cx="6144259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63194" y="6629216"/>
            <a:ext cx="847725" cy="166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7541" y="6377941"/>
            <a:ext cx="29326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33959" y="6608993"/>
            <a:ext cx="229234" cy="4103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654" y="2143116"/>
            <a:ext cx="11475720" cy="1143000"/>
          </a:xfrm>
        </p:spPr>
        <p:txBody>
          <a:bodyPr>
            <a:normAutofit/>
          </a:bodyPr>
          <a:lstStyle/>
          <a:p>
            <a:pPr algn="ctr"/>
            <a:r>
              <a:rPr lang="fr-FR" sz="5900" b="1" dirty="0">
                <a:solidFill>
                  <a:srgbClr val="000000"/>
                </a:solidFill>
              </a:rPr>
              <a:t>Algo</a:t>
            </a:r>
            <a:r>
              <a:rPr lang="fr-FR" sz="5900" b="1" spc="-5" dirty="0">
                <a:solidFill>
                  <a:srgbClr val="000000"/>
                </a:solidFill>
              </a:rPr>
              <a:t>r</a:t>
            </a:r>
            <a:r>
              <a:rPr lang="fr-FR" sz="5900" b="1" dirty="0">
                <a:solidFill>
                  <a:srgbClr val="000000"/>
                </a:solidFill>
              </a:rPr>
              <a:t>i</a:t>
            </a:r>
            <a:r>
              <a:rPr lang="fr-FR" sz="5900" b="1" spc="-5" dirty="0">
                <a:solidFill>
                  <a:srgbClr val="000000"/>
                </a:solidFill>
              </a:rPr>
              <a:t>t</a:t>
            </a:r>
            <a:r>
              <a:rPr lang="fr-FR" sz="5900" b="1" dirty="0">
                <a:solidFill>
                  <a:srgbClr val="000000"/>
                </a:solidFill>
              </a:rPr>
              <a:t>hmique</a:t>
            </a:r>
            <a:endParaRPr lang="fr-FR" sz="59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" y="6572248"/>
            <a:ext cx="6176168" cy="28575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fr-FR" sz="1100" spc="-5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lang="fr-FR" sz="1100" dirty="0">
              <a:latin typeface="Times New Roman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76212" y="6572272"/>
            <a:ext cx="6574589" cy="285728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>
                <a:latin typeface="Times New Roman" pitchFamily="18" charset="0"/>
                <a:cs typeface="Times New Roman" pitchFamily="18" charset="0"/>
              </a:rPr>
              <a:t>m.saadi@</a:t>
            </a:r>
            <a:r>
              <a:rPr lang="fr-FR" sz="1100" dirty="0">
                <a:latin typeface="Times New Roman" pitchFamily="18" charset="0"/>
                <a:cs typeface="Times New Roman" pitchFamily="18" charset="0"/>
              </a:rPr>
              <a:t>usms.ma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0"/>
            <a:ext cx="12750800" cy="642918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2052" name="Picture 4" descr="Image associée"/>
          <p:cNvPicPr>
            <a:picLocks noChangeAspect="1" noChangeArrowheads="1"/>
          </p:cNvPicPr>
          <p:nvPr/>
        </p:nvPicPr>
        <p:blipFill>
          <a:blip r:embed="rId3" cstate="print"/>
          <a:srcRect l="19769" r="25078" b="-3517"/>
          <a:stretch>
            <a:fillRect/>
          </a:stretch>
        </p:blipFill>
        <p:spPr bwMode="auto">
          <a:xfrm>
            <a:off x="502731" y="1000108"/>
            <a:ext cx="2119720" cy="1071570"/>
          </a:xfrm>
          <a:prstGeom prst="rect">
            <a:avLst/>
          </a:prstGeom>
          <a:noFill/>
        </p:spPr>
      </p:pic>
      <p:pic>
        <p:nvPicPr>
          <p:cNvPr id="9" name="Image 8" descr="Afficher l’image source"/>
          <p:cNvPicPr/>
          <p:nvPr/>
        </p:nvPicPr>
        <p:blipFill>
          <a:blip r:embed="rId4"/>
          <a:srcRect l="6918" t="15111" r="7862" b="15111"/>
          <a:stretch>
            <a:fillRect/>
          </a:stretch>
        </p:blipFill>
        <p:spPr bwMode="auto">
          <a:xfrm>
            <a:off x="10591677" y="1000108"/>
            <a:ext cx="1355232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object 10"/>
          <p:cNvSpPr txBox="1"/>
          <p:nvPr/>
        </p:nvSpPr>
        <p:spPr>
          <a:xfrm>
            <a:off x="2912031" y="3286124"/>
            <a:ext cx="6943422" cy="24942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40"/>
              </a:spcBef>
            </a:pPr>
            <a:r>
              <a:rPr lang="fr-FR" sz="2400" spc="-5" dirty="0">
                <a:solidFill>
                  <a:srgbClr val="595958"/>
                </a:solidFill>
                <a:uFill>
                  <a:solidFill>
                    <a:srgbClr val="595958"/>
                  </a:solidFill>
                </a:uFill>
                <a:latin typeface="Times New Roman"/>
                <a:cs typeface="Times New Roman"/>
              </a:rPr>
              <a:t>Première Année du Cycle Préparatoire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595958"/>
                </a:solidFill>
                <a:latin typeface="Times New Roman"/>
                <a:cs typeface="Times New Roman"/>
              </a:rPr>
              <a:t>ENSA</a:t>
            </a:r>
            <a:r>
              <a:rPr sz="2400" spc="-80" dirty="0">
                <a:solidFill>
                  <a:srgbClr val="595958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8"/>
                </a:solidFill>
                <a:latin typeface="Times New Roman"/>
                <a:cs typeface="Times New Roman"/>
              </a:rPr>
              <a:t>Khouribga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400" b="1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Pr. </a:t>
            </a:r>
            <a:r>
              <a:rPr lang="fr-FR" sz="2400" b="1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SAADI Mostafa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Année Universitaire:</a:t>
            </a:r>
            <a:r>
              <a:rPr sz="240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20</a:t>
            </a: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24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/202</a:t>
            </a: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5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2809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60726" y="1647497"/>
            <a:ext cx="7080250" cy="2500685"/>
          </a:xfrm>
          <a:prstGeom prst="rect">
            <a:avLst/>
          </a:prstGeom>
        </p:spPr>
        <p:txBody>
          <a:bodyPr vert="horz" wrap="square" lIns="0" tIns="4241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40"/>
              </a:spcBef>
            </a:pPr>
            <a:r>
              <a:rPr sz="5400" b="1" dirty="0">
                <a:solidFill>
                  <a:srgbClr val="0070C0"/>
                </a:solidFill>
                <a:latin typeface="Times New Roman"/>
                <a:cs typeface="Times New Roman"/>
              </a:rPr>
              <a:t>La </a:t>
            </a:r>
            <a:r>
              <a:rPr sz="5400" b="1" spc="-15" dirty="0">
                <a:solidFill>
                  <a:srgbClr val="0070C0"/>
                </a:solidFill>
                <a:latin typeface="Times New Roman"/>
                <a:cs typeface="Times New Roman"/>
              </a:rPr>
              <a:t>structure </a:t>
            </a:r>
            <a:r>
              <a:rPr sz="5400" b="1" dirty="0">
                <a:solidFill>
                  <a:srgbClr val="0070C0"/>
                </a:solidFill>
                <a:latin typeface="Times New Roman"/>
                <a:cs typeface="Times New Roman"/>
              </a:rPr>
              <a:t>de</a:t>
            </a:r>
            <a:r>
              <a:rPr sz="5400" b="1" spc="-6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5400" b="1" dirty="0">
                <a:solidFill>
                  <a:srgbClr val="0070C0"/>
                </a:solidFill>
                <a:latin typeface="Times New Roman"/>
                <a:cs typeface="Times New Roman"/>
              </a:rPr>
              <a:t>données</a:t>
            </a:r>
            <a:endParaRPr sz="54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3240"/>
              </a:spcBef>
            </a:pPr>
            <a:r>
              <a:rPr sz="5400" b="1" dirty="0">
                <a:solidFill>
                  <a:srgbClr val="0070C0"/>
                </a:solidFill>
                <a:latin typeface="Times New Roman"/>
                <a:cs typeface="Times New Roman"/>
              </a:rPr>
              <a:t>« </a:t>
            </a:r>
            <a:r>
              <a:rPr sz="5400" b="1" spc="-75" dirty="0">
                <a:solidFill>
                  <a:srgbClr val="0070C0"/>
                </a:solidFill>
                <a:latin typeface="Times New Roman"/>
                <a:cs typeface="Times New Roman"/>
              </a:rPr>
              <a:t>Tableau</a:t>
            </a:r>
            <a:r>
              <a:rPr sz="5400" b="1" spc="-1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5400" b="1" dirty="0">
                <a:solidFill>
                  <a:srgbClr val="0070C0"/>
                </a:solidFill>
                <a:latin typeface="Times New Roman"/>
                <a:cs typeface="Times New Roman"/>
              </a:rPr>
              <a:t>»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4939" y="99208"/>
            <a:ext cx="209740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</a:t>
            </a:r>
            <a:endParaRPr sz="26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de donnée « tableau</a:t>
            </a:r>
            <a:r>
              <a:rPr sz="26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»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89095" y="727985"/>
            <a:ext cx="46012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C00000"/>
                </a:solidFill>
              </a:rPr>
              <a:t>Pourquoi </a:t>
            </a:r>
            <a:r>
              <a:rPr sz="3600" spc="-5" dirty="0">
                <a:solidFill>
                  <a:srgbClr val="C00000"/>
                </a:solidFill>
              </a:rPr>
              <a:t>les tableaux</a:t>
            </a:r>
            <a:r>
              <a:rPr sz="3600" spc="-65" dirty="0">
                <a:solidFill>
                  <a:srgbClr val="C00000"/>
                </a:solidFill>
              </a:rPr>
              <a:t> </a:t>
            </a:r>
            <a:r>
              <a:rPr sz="3600" dirty="0">
                <a:solidFill>
                  <a:srgbClr val="C00000"/>
                </a:solidFill>
              </a:rPr>
              <a:t>?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07446" y="1801435"/>
            <a:ext cx="3629025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just">
              <a:lnSpc>
                <a:spcPct val="15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Imaginons qu’on veut  </a:t>
            </a:r>
            <a:r>
              <a:rPr sz="2800" spc="-10" dirty="0">
                <a:latin typeface="Times New Roman"/>
                <a:cs typeface="Times New Roman"/>
              </a:rPr>
              <a:t>calculer </a:t>
            </a:r>
            <a:r>
              <a:rPr sz="2800" spc="-5" dirty="0">
                <a:latin typeface="Times New Roman"/>
                <a:cs typeface="Times New Roman"/>
              </a:rPr>
              <a:t>la moyenne </a:t>
            </a:r>
            <a:r>
              <a:rPr sz="2800" spc="-10" dirty="0">
                <a:latin typeface="Times New Roman"/>
                <a:cs typeface="Times New Roman"/>
              </a:rPr>
              <a:t>des  </a:t>
            </a:r>
            <a:r>
              <a:rPr sz="2800" spc="-5" dirty="0">
                <a:latin typeface="Times New Roman"/>
                <a:cs typeface="Times New Roman"/>
              </a:rPr>
              <a:t>notes d’une promotion,  quel </a:t>
            </a:r>
            <a:r>
              <a:rPr sz="2800" spc="-5" dirty="0" err="1">
                <a:latin typeface="Times New Roman"/>
                <a:cs typeface="Times New Roman"/>
              </a:rPr>
              <a:t>algorithme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allons  </a:t>
            </a:r>
            <a:r>
              <a:rPr sz="2800" dirty="0">
                <a:latin typeface="Times New Roman"/>
                <a:cs typeface="Times New Roman"/>
              </a:rPr>
              <a:t>nous </a:t>
            </a:r>
            <a:r>
              <a:rPr sz="2800" spc="-5" dirty="0">
                <a:latin typeface="Times New Roman"/>
                <a:cs typeface="Times New Roman"/>
              </a:rPr>
              <a:t>utiliser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?</a:t>
            </a:r>
          </a:p>
        </p:txBody>
      </p:sp>
      <p:sp>
        <p:nvSpPr>
          <p:cNvPr id="8" name="object 8"/>
          <p:cNvSpPr/>
          <p:nvPr/>
        </p:nvSpPr>
        <p:spPr>
          <a:xfrm>
            <a:off x="4966715" y="3189732"/>
            <a:ext cx="883920" cy="594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</a:t>
            </a:fld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369" y="1875451"/>
            <a:ext cx="5706787" cy="442906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78155" y="1219200"/>
            <a:ext cx="5510880" cy="1507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Moyenne_Note</a:t>
            </a:r>
          </a:p>
          <a:p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Réel</a:t>
            </a:r>
          </a:p>
          <a:p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nbEleves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Entier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Début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25587" y="1308036"/>
            <a:ext cx="5837606" cy="503733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078155" y="5491268"/>
            <a:ext cx="5760013" cy="753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écrire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(“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notes:”,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nbEleves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</a:t>
            </a:r>
            <a:r>
              <a:rPr sz="2600" spc="-10" dirty="0">
                <a:solidFill>
                  <a:srgbClr val="FFFFFF"/>
                </a:solidFill>
              </a:rPr>
              <a:t>Structure </a:t>
            </a:r>
            <a:r>
              <a:rPr sz="2600" spc="-5" dirty="0">
                <a:solidFill>
                  <a:srgbClr val="FFFFFF"/>
                </a:solidFill>
              </a:rPr>
              <a:t>de donnée « tableau</a:t>
            </a:r>
            <a:r>
              <a:rPr sz="2600" spc="4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»</a:t>
            </a:r>
            <a:endParaRPr sz="2600"/>
          </a:p>
        </p:txBody>
      </p:sp>
      <p:sp>
        <p:nvSpPr>
          <p:cNvPr id="5" name="object 5"/>
          <p:cNvSpPr/>
          <p:nvPr/>
        </p:nvSpPr>
        <p:spPr>
          <a:xfrm>
            <a:off x="5447983" y="2932851"/>
            <a:ext cx="6357929" cy="27240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6719" y="531793"/>
            <a:ext cx="11414760" cy="4426853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3155950">
              <a:lnSpc>
                <a:spcPct val="100000"/>
              </a:lnSpc>
              <a:spcBef>
                <a:spcPts val="1660"/>
              </a:spcBef>
            </a:pPr>
            <a:r>
              <a:rPr sz="32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Pourquoi 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les tableaux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?</a:t>
            </a:r>
            <a:endParaRPr sz="3200" dirty="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1265"/>
              </a:spcBef>
              <a:tabLst>
                <a:tab pos="439420" algn="l"/>
              </a:tabLst>
            </a:pPr>
            <a:r>
              <a:rPr sz="2600" spc="-5" dirty="0">
                <a:latin typeface="Times New Roman"/>
                <a:cs typeface="Times New Roman"/>
              </a:rPr>
              <a:t>Imaginons qu’on veut toujours calculer la moyenne des notes d’une promotion  </a:t>
            </a:r>
            <a:r>
              <a:rPr sz="2600" b="1" spc="-5" dirty="0">
                <a:latin typeface="Times New Roman"/>
                <a:cs typeface="Times New Roman"/>
              </a:rPr>
              <a:t>mais en gardant en </a:t>
            </a:r>
            <a:r>
              <a:rPr sz="2600" b="1" spc="-15" dirty="0">
                <a:latin typeface="Times New Roman"/>
                <a:cs typeface="Times New Roman"/>
              </a:rPr>
              <a:t>mémoire </a:t>
            </a:r>
            <a:r>
              <a:rPr sz="2600" b="1" spc="-5" dirty="0">
                <a:latin typeface="Times New Roman"/>
                <a:cs typeface="Times New Roman"/>
              </a:rPr>
              <a:t>toutes les notes des étudiants </a:t>
            </a:r>
            <a:r>
              <a:rPr sz="2600" spc="-5" dirty="0">
                <a:latin typeface="Times New Roman"/>
                <a:cs typeface="Times New Roman"/>
              </a:rPr>
              <a:t>(pour par exemple </a:t>
            </a:r>
            <a:r>
              <a:rPr sz="2600" spc="-10" dirty="0">
                <a:latin typeface="Times New Roman"/>
                <a:cs typeface="Times New Roman"/>
              </a:rPr>
              <a:t>faire  </a:t>
            </a:r>
            <a:r>
              <a:rPr sz="2600" spc="-5" dirty="0" err="1">
                <a:latin typeface="Times New Roman"/>
                <a:cs typeface="Times New Roman"/>
              </a:rPr>
              <a:t>d’autres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5" dirty="0" err="1">
                <a:latin typeface="Times New Roman"/>
                <a:cs typeface="Times New Roman"/>
              </a:rPr>
              <a:t>calculs</a:t>
            </a:r>
            <a:r>
              <a:rPr lang="fr-FR" sz="2600" spc="-5" dirty="0">
                <a:latin typeface="Times New Roman"/>
                <a:cs typeface="Times New Roman"/>
              </a:rPr>
              <a:t>,</a:t>
            </a:r>
            <a:r>
              <a:rPr sz="2600" spc="-5" dirty="0">
                <a:latin typeface="Times New Roman"/>
                <a:cs typeface="Times New Roman"/>
              </a:rPr>
              <a:t> tels que la recherche de la note minimale, la note maximale,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etc.)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 marL="83820" marR="7898130">
              <a:lnSpc>
                <a:spcPct val="100000"/>
              </a:lnSpc>
              <a:spcBef>
                <a:spcPts val="1930"/>
              </a:spcBef>
            </a:pPr>
            <a:r>
              <a:rPr sz="2600" spc="-5" dirty="0">
                <a:latin typeface="Times New Roman"/>
                <a:cs typeface="Times New Roman"/>
              </a:rPr>
              <a:t>Il faudrait </a:t>
            </a:r>
            <a:r>
              <a:rPr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alors </a:t>
            </a:r>
            <a:r>
              <a:rPr sz="2600" spc="-5" dirty="0">
                <a:latin typeface="Times New Roman"/>
                <a:cs typeface="Times New Roman"/>
              </a:rPr>
              <a:t>déclarer  autant de variables qu’il y  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d’étudiants.</a:t>
            </a:r>
            <a:endParaRPr sz="2600" dirty="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484"/>
              </a:spcBef>
            </a:pPr>
            <a:r>
              <a:rPr sz="2600" b="1" spc="-5" dirty="0">
                <a:latin typeface="Times New Roman"/>
                <a:cs typeface="Times New Roman"/>
              </a:rPr>
              <a:t>Ex: </a:t>
            </a:r>
            <a:r>
              <a:rPr sz="2600" spc="-5" dirty="0">
                <a:latin typeface="Times New Roman"/>
                <a:cs typeface="Times New Roman"/>
              </a:rPr>
              <a:t>3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étudiants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10100" y="4119371"/>
            <a:ext cx="737616" cy="5943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51165" y="5950920"/>
            <a:ext cx="818070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Problème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: </a:t>
            </a:r>
            <a:r>
              <a:rPr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cet </a:t>
            </a:r>
            <a:r>
              <a:rPr sz="26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algorithme</a:t>
            </a:r>
            <a:r>
              <a:rPr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 ne fonctionne que pour 3</a:t>
            </a:r>
            <a:r>
              <a:rPr sz="2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étudiants.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4</a:t>
            </a:fld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42600" y="2932851"/>
            <a:ext cx="915159" cy="343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Réel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0" y="2928538"/>
            <a:ext cx="5867400" cy="343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: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somme, note1, note2, note3 : Réel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1000" y="2553407"/>
            <a:ext cx="3505200" cy="343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Moyenne_Note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7734" y="5638800"/>
            <a:ext cx="6428178" cy="343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61000" y="2590801"/>
            <a:ext cx="5867400" cy="339174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490181" y="5638801"/>
            <a:ext cx="5609619" cy="2035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de donnée « tableau</a:t>
            </a:r>
            <a:r>
              <a:rPr sz="26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»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5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51429" y="805097"/>
            <a:ext cx="409130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5" dirty="0">
                <a:solidFill>
                  <a:srgbClr val="C00000"/>
                </a:solidFill>
              </a:rPr>
              <a:t>Pourquoi </a:t>
            </a:r>
            <a:r>
              <a:rPr sz="3200" spc="-5" dirty="0">
                <a:solidFill>
                  <a:srgbClr val="C00000"/>
                </a:solidFill>
              </a:rPr>
              <a:t>les tableaux</a:t>
            </a:r>
            <a:r>
              <a:rPr sz="3200" spc="-25" dirty="0">
                <a:solidFill>
                  <a:srgbClr val="C00000"/>
                </a:solidFill>
              </a:rPr>
              <a:t> </a:t>
            </a:r>
            <a:r>
              <a:rPr sz="3200" spc="-5" dirty="0">
                <a:solidFill>
                  <a:srgbClr val="C00000"/>
                </a:solidFill>
              </a:rPr>
              <a:t>?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1165346" y="1618273"/>
            <a:ext cx="10414635" cy="3992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88315" algn="l"/>
                <a:tab pos="488950" algn="l"/>
              </a:tabLst>
            </a:pPr>
            <a:r>
              <a:rPr lang="fr-FR" sz="2900" spc="-10" dirty="0">
                <a:latin typeface="Times New Roman"/>
                <a:cs typeface="Times New Roman"/>
              </a:rPr>
              <a:t>  </a:t>
            </a:r>
            <a:r>
              <a:rPr sz="2900" spc="-10" dirty="0">
                <a:latin typeface="Times New Roman"/>
                <a:cs typeface="Times New Roman"/>
              </a:rPr>
              <a:t>Il faudrait </a:t>
            </a:r>
            <a:r>
              <a:rPr sz="2900" spc="-5" dirty="0">
                <a:latin typeface="Times New Roman"/>
                <a:cs typeface="Times New Roman"/>
              </a:rPr>
              <a:t>alors déclarer autant de variables qu’il y a d’étudiants,  par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exemple:</a:t>
            </a:r>
            <a:endParaRPr sz="2900" dirty="0">
              <a:latin typeface="Times New Roman"/>
              <a:cs typeface="Times New Roman"/>
            </a:endParaRPr>
          </a:p>
          <a:p>
            <a:pPr marL="1324610" lvl="1" indent="-398145">
              <a:lnSpc>
                <a:spcPct val="100000"/>
              </a:lnSpc>
              <a:spcBef>
                <a:spcPts val="600"/>
              </a:spcBef>
              <a:buChar char="-"/>
              <a:tabLst>
                <a:tab pos="1324610" algn="l"/>
                <a:tab pos="1325245" algn="l"/>
              </a:tabLst>
            </a:pPr>
            <a:r>
              <a:rPr sz="2900" spc="-5" dirty="0">
                <a:latin typeface="Times New Roman"/>
                <a:cs typeface="Times New Roman"/>
              </a:rPr>
              <a:t>Si on en a 10, il faut déclarer 10 variables</a:t>
            </a:r>
            <a:r>
              <a:rPr lang="en-US" sz="2900" spc="-5" dirty="0">
                <a:latin typeface="Times New Roman"/>
                <a:cs typeface="Times New Roman"/>
              </a:rPr>
              <a:t>.</a:t>
            </a:r>
            <a:endParaRPr sz="2900" dirty="0">
              <a:latin typeface="Times New Roman"/>
              <a:cs typeface="Times New Roman"/>
            </a:endParaRPr>
          </a:p>
          <a:p>
            <a:pPr marL="1324610" lvl="1" indent="-398145">
              <a:lnSpc>
                <a:spcPct val="100000"/>
              </a:lnSpc>
              <a:buChar char="-"/>
              <a:tabLst>
                <a:tab pos="1324610" algn="l"/>
                <a:tab pos="1325245" algn="l"/>
              </a:tabLst>
            </a:pPr>
            <a:r>
              <a:rPr sz="2900" spc="-5" dirty="0">
                <a:latin typeface="Times New Roman"/>
                <a:cs typeface="Times New Roman"/>
              </a:rPr>
              <a:t>Si on en a n, il faut déclarer n</a:t>
            </a:r>
            <a:r>
              <a:rPr sz="290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variables</a:t>
            </a:r>
            <a:r>
              <a:rPr lang="en-US" sz="2900" spc="-5" dirty="0">
                <a:latin typeface="Times New Roman"/>
                <a:cs typeface="Times New Roman"/>
              </a:rPr>
              <a:t>.</a:t>
            </a:r>
            <a:endParaRPr sz="2900" dirty="0">
              <a:latin typeface="Times New Roman"/>
              <a:cs typeface="Times New Roman"/>
            </a:endParaRPr>
          </a:p>
          <a:p>
            <a:pPr marL="1478915">
              <a:lnSpc>
                <a:spcPct val="100000"/>
              </a:lnSpc>
              <a:spcBef>
                <a:spcPts val="600"/>
              </a:spcBef>
            </a:pPr>
            <a:r>
              <a:rPr sz="2900" spc="-5" dirty="0">
                <a:solidFill>
                  <a:srgbClr val="FF0000"/>
                </a:solidFill>
                <a:latin typeface="Times New Roman"/>
                <a:cs typeface="Times New Roman"/>
              </a:rPr>
              <a:t>=&gt; ce n’est pas</a:t>
            </a:r>
            <a:r>
              <a:rPr sz="29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00" spc="-5" dirty="0">
                <a:solidFill>
                  <a:srgbClr val="FF0000"/>
                </a:solidFill>
                <a:latin typeface="Times New Roman"/>
                <a:cs typeface="Times New Roman"/>
              </a:rPr>
              <a:t>réaliste</a:t>
            </a:r>
            <a:endParaRPr sz="29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445"/>
              </a:spcBef>
              <a:buFont typeface="Wingdings"/>
              <a:buChar char=""/>
              <a:tabLst>
                <a:tab pos="488950" algn="l"/>
                <a:tab pos="489584" algn="l"/>
              </a:tabLst>
            </a:pPr>
            <a:r>
              <a:rPr lang="fr-FR" sz="2900" spc="-10" dirty="0">
                <a:latin typeface="Times New Roman"/>
                <a:cs typeface="Times New Roman"/>
              </a:rPr>
              <a:t>  D’où la nécessité </a:t>
            </a:r>
            <a:r>
              <a:rPr sz="2900" spc="-5" dirty="0" err="1">
                <a:latin typeface="Times New Roman"/>
                <a:cs typeface="Times New Roman"/>
              </a:rPr>
              <a:t>d’une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lang="fr-FR" sz="2900" spc="-5" dirty="0">
                <a:latin typeface="Times New Roman"/>
                <a:cs typeface="Times New Roman"/>
              </a:rPr>
              <a:t> </a:t>
            </a:r>
            <a:r>
              <a:rPr sz="2900" spc="-5" dirty="0" err="1">
                <a:latin typeface="Times New Roman"/>
                <a:cs typeface="Times New Roman"/>
              </a:rPr>
              <a:t>seule</a:t>
            </a:r>
            <a:r>
              <a:rPr sz="2900" spc="-5" dirty="0">
                <a:latin typeface="Times New Roman"/>
                <a:cs typeface="Times New Roman"/>
              </a:rPr>
              <a:t> variable</a:t>
            </a:r>
            <a:r>
              <a:rPr lang="fr-FR" sz="2900" spc="-5" dirty="0">
                <a:latin typeface="Times New Roman"/>
                <a:cs typeface="Times New Roman"/>
              </a:rPr>
              <a:t>, pour pouvoir</a:t>
            </a:r>
            <a:r>
              <a:rPr sz="2900" spc="-5" dirty="0">
                <a:latin typeface="Times New Roman"/>
                <a:cs typeface="Times New Roman"/>
              </a:rPr>
              <a:t> stocker  plusieurs valeurs de même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type.</a:t>
            </a:r>
            <a:endParaRPr sz="2900" dirty="0">
              <a:latin typeface="Times New Roman"/>
              <a:cs typeface="Times New Roman"/>
            </a:endParaRPr>
          </a:p>
          <a:p>
            <a:pPr marL="1384935">
              <a:lnSpc>
                <a:spcPct val="100000"/>
              </a:lnSpc>
              <a:spcBef>
                <a:spcPts val="600"/>
              </a:spcBef>
            </a:pPr>
            <a:r>
              <a:rPr sz="29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=&gt; c’est le rôle des</a:t>
            </a:r>
            <a:r>
              <a:rPr sz="2900" b="1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9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tableaux</a:t>
            </a:r>
            <a:endParaRPr sz="29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de donnée « tableau</a:t>
            </a:r>
            <a:r>
              <a:rPr sz="26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»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6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41875" y="774745"/>
            <a:ext cx="229552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300" spc="-5" dirty="0"/>
              <a:t>T</a:t>
            </a:r>
            <a:r>
              <a:rPr sz="3300" dirty="0"/>
              <a:t>ableaux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17600" y="1528962"/>
            <a:ext cx="10415270" cy="29668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marR="5080" indent="-514984" algn="just">
              <a:spcBef>
                <a:spcPts val="95"/>
              </a:spcBef>
              <a:buFont typeface="Wingdings"/>
              <a:buChar char=""/>
              <a:tabLst>
                <a:tab pos="527685" algn="l"/>
              </a:tabLst>
            </a:pPr>
            <a:r>
              <a:rPr sz="27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Définition: </a:t>
            </a:r>
            <a:r>
              <a:rPr sz="2700" spc="-5" dirty="0">
                <a:latin typeface="Times New Roman"/>
                <a:cs typeface="Times New Roman"/>
              </a:rPr>
              <a:t>Un tableau est une </a:t>
            </a:r>
            <a:r>
              <a:rPr sz="2700" b="1" spc="-5" dirty="0">
                <a:latin typeface="Times New Roman"/>
                <a:cs typeface="Times New Roman"/>
              </a:rPr>
              <a:t>structure de </a:t>
            </a:r>
            <a:r>
              <a:rPr sz="2700" b="1" spc="-5" dirty="0" err="1">
                <a:latin typeface="Times New Roman"/>
                <a:cs typeface="Times New Roman"/>
              </a:rPr>
              <a:t>donnée</a:t>
            </a:r>
            <a:r>
              <a:rPr sz="2700" b="1" spc="-5" dirty="0">
                <a:latin typeface="Times New Roman"/>
                <a:cs typeface="Times New Roman"/>
              </a:rPr>
              <a:t> </a:t>
            </a:r>
            <a:r>
              <a:rPr sz="2700" b="1" spc="-5" dirty="0" err="1">
                <a:latin typeface="Times New Roman"/>
                <a:cs typeface="Times New Roman"/>
              </a:rPr>
              <a:t>complexe</a:t>
            </a:r>
            <a:r>
              <a:rPr lang="fr-FR" sz="2700" spc="-5" dirty="0">
                <a:latin typeface="Times New Roman"/>
                <a:cs typeface="Times New Roman"/>
              </a:rPr>
              <a:t>,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sous  </a:t>
            </a:r>
            <a:r>
              <a:rPr sz="2700" spc="-5" dirty="0">
                <a:latin typeface="Times New Roman"/>
                <a:cs typeface="Times New Roman"/>
              </a:rPr>
              <a:t>forme </a:t>
            </a:r>
            <a:r>
              <a:rPr sz="2700" spc="-5" dirty="0" err="1">
                <a:latin typeface="Times New Roman"/>
                <a:cs typeface="Times New Roman"/>
              </a:rPr>
              <a:t>d’une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b="1" spc="-5" dirty="0">
                <a:latin typeface="Times New Roman"/>
                <a:cs typeface="Times New Roman"/>
              </a:rPr>
              <a:t>collection</a:t>
            </a:r>
            <a:r>
              <a:rPr lang="fr-FR" sz="2700" spc="-5" dirty="0">
                <a:latin typeface="Times New Roman"/>
                <a:cs typeface="Times New Roman"/>
              </a:rPr>
              <a:t>,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regroupant un ensemble de variables </a:t>
            </a:r>
            <a:r>
              <a:rPr sz="2700" spc="-10" dirty="0">
                <a:solidFill>
                  <a:srgbClr val="C00000"/>
                </a:solidFill>
                <a:latin typeface="Times New Roman"/>
                <a:cs typeface="Times New Roman"/>
              </a:rPr>
              <a:t>de 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même type</a:t>
            </a:r>
            <a:r>
              <a:rPr sz="2700" spc="-5" dirty="0">
                <a:latin typeface="Times New Roman"/>
                <a:cs typeface="Times New Roman"/>
              </a:rPr>
              <a:t>,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accessibles par un indice </a:t>
            </a:r>
            <a:r>
              <a:rPr sz="2700" spc="-30" dirty="0">
                <a:solidFill>
                  <a:srgbClr val="C00000"/>
                </a:solidFill>
                <a:latin typeface="Times New Roman"/>
                <a:cs typeface="Times New Roman"/>
              </a:rPr>
              <a:t>entier</a:t>
            </a:r>
            <a:r>
              <a:rPr sz="2700" spc="-30" dirty="0">
                <a:latin typeface="Times New Roman"/>
                <a:cs typeface="Times New Roman"/>
              </a:rPr>
              <a:t>.</a:t>
            </a:r>
            <a:endParaRPr sz="2700" dirty="0">
              <a:latin typeface="Times New Roman"/>
              <a:cs typeface="Times New Roman"/>
            </a:endParaRPr>
          </a:p>
          <a:p>
            <a:pPr marL="619125" indent="-60642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619760" algn="l"/>
              </a:tabLst>
            </a:pPr>
            <a:r>
              <a:rPr sz="27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Il existe 2 type</a:t>
            </a:r>
            <a:r>
              <a:rPr lang="fr-FR" sz="27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s</a:t>
            </a:r>
            <a:r>
              <a:rPr sz="27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 de</a:t>
            </a:r>
            <a:r>
              <a:rPr sz="27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7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tableaux</a:t>
            </a:r>
            <a:r>
              <a:rPr lang="fr-FR" sz="27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 (selon la taille)</a:t>
            </a:r>
            <a:r>
              <a:rPr sz="27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:</a:t>
            </a:r>
            <a:endParaRPr sz="2700" b="1" dirty="0">
              <a:solidFill>
                <a:srgbClr val="006600"/>
              </a:solidFill>
              <a:latin typeface="Times New Roman"/>
              <a:cs typeface="Times New Roman"/>
            </a:endParaRPr>
          </a:p>
          <a:p>
            <a:pPr marL="1983739" lvl="1" indent="-599440" algn="just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1984375" algn="l"/>
              </a:tabLst>
            </a:pPr>
            <a:r>
              <a:rPr sz="2700" spc="-30" dirty="0">
                <a:latin typeface="Times New Roman"/>
                <a:cs typeface="Times New Roman"/>
              </a:rPr>
              <a:t>Tableaux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lang="fr-FR" sz="2700" b="1" i="1" spc="-5" dirty="0">
                <a:latin typeface="Times New Roman"/>
                <a:cs typeface="Times New Roman"/>
              </a:rPr>
              <a:t>U</a:t>
            </a:r>
            <a:r>
              <a:rPr sz="2700" b="1" i="1" spc="-5" dirty="0" err="1">
                <a:latin typeface="Times New Roman"/>
                <a:cs typeface="Times New Roman"/>
              </a:rPr>
              <a:t>nidimensionnels</a:t>
            </a:r>
            <a:endParaRPr sz="2700" b="1" i="1" dirty="0">
              <a:latin typeface="Times New Roman"/>
              <a:cs typeface="Times New Roman"/>
            </a:endParaRPr>
          </a:p>
          <a:p>
            <a:pPr marL="1983739" lvl="1" indent="-599440" algn="just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1984375" algn="l"/>
              </a:tabLst>
            </a:pPr>
            <a:r>
              <a:rPr sz="2700" spc="-30" dirty="0">
                <a:latin typeface="Times New Roman"/>
                <a:cs typeface="Times New Roman"/>
              </a:rPr>
              <a:t>Tableaux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lang="fr-FR" sz="2700" b="1" i="1" spc="-5" dirty="0">
                <a:latin typeface="Times New Roman"/>
                <a:cs typeface="Times New Roman"/>
              </a:rPr>
              <a:t>M</a:t>
            </a:r>
            <a:r>
              <a:rPr sz="2700" b="1" i="1" spc="-5" dirty="0" err="1">
                <a:latin typeface="Times New Roman"/>
                <a:cs typeface="Times New Roman"/>
              </a:rPr>
              <a:t>ultidimensionnels</a:t>
            </a:r>
            <a:endParaRPr lang="fr-FR" sz="2700" b="1" i="1" spc="-5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13337" y="4648200"/>
            <a:ext cx="8106706" cy="16466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19125" indent="-60642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619760" algn="l"/>
              </a:tabLst>
            </a:pPr>
            <a:r>
              <a:rPr lang="fr-FR" sz="27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Deux types de</a:t>
            </a:r>
            <a:r>
              <a:rPr lang="fr-FR" sz="27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lang="fr-FR" sz="27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tableaux (selon le fonctionnement):</a:t>
            </a:r>
          </a:p>
          <a:p>
            <a:pPr marL="1983739" lvl="1" indent="-599440" algn="just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1984375" algn="l"/>
              </a:tabLst>
            </a:pPr>
            <a:r>
              <a:rPr lang="fr-FR" sz="2700" spc="-30" dirty="0">
                <a:latin typeface="Times New Roman"/>
                <a:cs typeface="Times New Roman"/>
              </a:rPr>
              <a:t>Tableaux</a:t>
            </a:r>
            <a:r>
              <a:rPr lang="fr-FR" sz="2700" spc="5" dirty="0">
                <a:latin typeface="Times New Roman"/>
                <a:cs typeface="Times New Roman"/>
              </a:rPr>
              <a:t> </a:t>
            </a:r>
            <a:r>
              <a:rPr lang="fr-FR" sz="2700" b="1" i="1" spc="-5" dirty="0">
                <a:latin typeface="Times New Roman"/>
                <a:cs typeface="Times New Roman"/>
              </a:rPr>
              <a:t>Statique</a:t>
            </a:r>
            <a:endParaRPr lang="fr-FR" sz="2700" b="1" i="1" dirty="0">
              <a:latin typeface="Times New Roman"/>
              <a:cs typeface="Times New Roman"/>
            </a:endParaRPr>
          </a:p>
          <a:p>
            <a:pPr marL="1983739" lvl="1" indent="-599440" algn="just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1984375" algn="l"/>
              </a:tabLst>
            </a:pPr>
            <a:r>
              <a:rPr lang="fr-FR" sz="2700" spc="-30" dirty="0">
                <a:latin typeface="Times New Roman"/>
                <a:cs typeface="Times New Roman"/>
              </a:rPr>
              <a:t>Tableaux </a:t>
            </a:r>
            <a:r>
              <a:rPr lang="fr-FR" sz="2700" b="1" i="1" spc="-30" dirty="0">
                <a:latin typeface="Times New Roman"/>
                <a:cs typeface="Times New Roman"/>
              </a:rPr>
              <a:t>Dynamique</a:t>
            </a:r>
            <a:endParaRPr lang="fr-FR" sz="2700" b="1" i="1" dirty="0">
              <a:solidFill>
                <a:srgbClr val="0066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de donnée « tableau</a:t>
            </a:r>
            <a:r>
              <a:rPr sz="26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»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7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65324" y="805860"/>
            <a:ext cx="724387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T</a:t>
            </a:r>
            <a:r>
              <a:rPr dirty="0"/>
              <a:t>ableaux </a:t>
            </a:r>
            <a:r>
              <a:rPr spc="-5" dirty="0" err="1"/>
              <a:t>unidimensionnels</a:t>
            </a:r>
            <a:r>
              <a:rPr spc="-15" dirty="0"/>
              <a:t> </a:t>
            </a:r>
            <a:r>
              <a:rPr spc="-5" dirty="0" err="1"/>
              <a:t>statique</a:t>
            </a:r>
            <a:r>
              <a:rPr lang="fr-FR" spc="-5" dirty="0"/>
              <a:t>s</a:t>
            </a:r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1022471" y="1297614"/>
            <a:ext cx="10839329" cy="464312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526415" indent="-514350" algn="just">
              <a:lnSpc>
                <a:spcPct val="100000"/>
              </a:lnSpc>
              <a:spcBef>
                <a:spcPts val="1295"/>
              </a:spcBef>
              <a:buAutoNum type="arabicPeriod"/>
              <a:tabLst>
                <a:tab pos="52705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Caractéristique:</a:t>
            </a:r>
            <a:endParaRPr sz="2800" dirty="0">
              <a:latin typeface="Times New Roman"/>
              <a:cs typeface="Times New Roman"/>
            </a:endParaRPr>
          </a:p>
          <a:p>
            <a:pPr marL="983615" lvl="1" indent="-51435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984250" algn="l"/>
              </a:tabLst>
            </a:pPr>
            <a:r>
              <a:rPr sz="2800" spc="-5" dirty="0">
                <a:latin typeface="Times New Roman"/>
                <a:cs typeface="Times New Roman"/>
              </a:rPr>
              <a:t>La taille </a:t>
            </a:r>
            <a:r>
              <a:rPr sz="2800" dirty="0">
                <a:latin typeface="Times New Roman"/>
                <a:cs typeface="Times New Roman"/>
              </a:rPr>
              <a:t>du </a:t>
            </a:r>
            <a:r>
              <a:rPr sz="2800" spc="-5" dirty="0">
                <a:latin typeface="Times New Roman"/>
                <a:cs typeface="Times New Roman"/>
              </a:rPr>
              <a:t>tableau est 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constante</a:t>
            </a:r>
            <a:r>
              <a:rPr sz="2800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;</a:t>
            </a:r>
          </a:p>
          <a:p>
            <a:pPr marL="982980" marR="5080" lvl="1" indent="-51371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984250" algn="l"/>
              </a:tabLst>
            </a:pPr>
            <a:r>
              <a:rPr sz="2800" spc="-5" dirty="0">
                <a:latin typeface="Times New Roman"/>
                <a:cs typeface="Times New Roman"/>
              </a:rPr>
              <a:t>Elle est spécifiée une fois pour toute lors de la </a:t>
            </a:r>
            <a:r>
              <a:rPr sz="2800" spc="-10" dirty="0">
                <a:latin typeface="Times New Roman"/>
                <a:cs typeface="Times New Roman"/>
              </a:rPr>
              <a:t>déclaration </a:t>
            </a:r>
            <a:r>
              <a:rPr sz="2800" dirty="0">
                <a:latin typeface="Times New Roman"/>
                <a:cs typeface="Times New Roman"/>
              </a:rPr>
              <a:t>du </a:t>
            </a:r>
            <a:r>
              <a:rPr sz="2800" spc="-10" dirty="0">
                <a:latin typeface="Times New Roman"/>
                <a:cs typeface="Times New Roman"/>
              </a:rPr>
              <a:t>tableau,  </a:t>
            </a:r>
            <a:r>
              <a:rPr sz="2800" spc="-5" dirty="0">
                <a:latin typeface="Times New Roman"/>
                <a:cs typeface="Times New Roman"/>
              </a:rPr>
              <a:t>le premier indice d’un </a:t>
            </a:r>
            <a:r>
              <a:rPr sz="2800" spc="-10" dirty="0">
                <a:latin typeface="Times New Roman"/>
                <a:cs typeface="Times New Roman"/>
              </a:rPr>
              <a:t>tableau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N </a:t>
            </a:r>
            <a:r>
              <a:rPr sz="2800" spc="-10" dirty="0">
                <a:latin typeface="Times New Roman"/>
                <a:cs typeface="Times New Roman"/>
              </a:rPr>
              <a:t>éléments </a:t>
            </a:r>
            <a:r>
              <a:rPr sz="2800" spc="-5" dirty="0">
                <a:latin typeface="Times New Roman"/>
                <a:cs typeface="Times New Roman"/>
              </a:rPr>
              <a:t>est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0 </a:t>
            </a:r>
            <a:r>
              <a:rPr sz="2800" spc="-5" dirty="0">
                <a:latin typeface="Times New Roman"/>
                <a:cs typeface="Times New Roman"/>
              </a:rPr>
              <a:t>et le dernier indice  </a:t>
            </a:r>
            <a:r>
              <a:rPr sz="2800" spc="-5" dirty="0" err="1">
                <a:latin typeface="Times New Roman"/>
                <a:cs typeface="Times New Roman"/>
              </a:rPr>
              <a:t>est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lang="en-US"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618490" indent="-605790" algn="just">
              <a:lnSpc>
                <a:spcPct val="100000"/>
              </a:lnSpc>
              <a:spcBef>
                <a:spcPts val="1200"/>
              </a:spcBef>
              <a:buSzPct val="103571"/>
              <a:buAutoNum type="arabicPeriod"/>
              <a:tabLst>
                <a:tab pos="61849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Déclaration:</a:t>
            </a:r>
            <a:endParaRPr sz="2800" dirty="0">
              <a:latin typeface="Times New Roman"/>
              <a:cs typeface="Times New Roman"/>
            </a:endParaRPr>
          </a:p>
          <a:p>
            <a:pPr marL="926465" algn="just">
              <a:lnSpc>
                <a:spcPct val="100000"/>
              </a:lnSpc>
              <a:spcBef>
                <a:spcPts val="5"/>
              </a:spcBef>
            </a:pPr>
            <a:r>
              <a:rPr sz="2800" b="1" i="1" spc="-30" dirty="0">
                <a:solidFill>
                  <a:srgbClr val="0070C0"/>
                </a:solidFill>
                <a:latin typeface="Times New Roman"/>
                <a:cs typeface="Times New Roman"/>
              </a:rPr>
              <a:t>Tableau</a:t>
            </a:r>
            <a:r>
              <a:rPr sz="2800" spc="-3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800" spc="-5" dirty="0" err="1">
                <a:solidFill>
                  <a:srgbClr val="0070C0"/>
                </a:solidFill>
                <a:latin typeface="Times New Roman"/>
                <a:cs typeface="Times New Roman"/>
              </a:rPr>
              <a:t>nom_du_tableau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[</a:t>
            </a:r>
            <a:r>
              <a:rPr sz="2800" spc="-5" dirty="0" err="1">
                <a:solidFill>
                  <a:srgbClr val="0070C0"/>
                </a:solidFill>
                <a:latin typeface="Times New Roman"/>
                <a:cs typeface="Times New Roman"/>
              </a:rPr>
              <a:t>taille_du_tableau</a:t>
            </a:r>
            <a:r>
              <a:rPr sz="2800" spc="-5" dirty="0">
                <a:solidFill>
                  <a:srgbClr val="0070C0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:</a:t>
            </a:r>
            <a:r>
              <a:rPr sz="2800" spc="-3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0070C0"/>
                </a:solidFill>
                <a:latin typeface="Times New Roman"/>
                <a:cs typeface="Times New Roman"/>
              </a:rPr>
              <a:t>Type_de_valeurs</a:t>
            </a:r>
            <a:endParaRPr sz="28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526415" indent="-514350" algn="just">
              <a:lnSpc>
                <a:spcPct val="100000"/>
              </a:lnSpc>
              <a:spcBef>
                <a:spcPts val="1195"/>
              </a:spcBef>
              <a:buAutoNum type="arabicPeriod" startAt="3"/>
              <a:tabLst>
                <a:tab pos="52705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Accès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  <a:p>
            <a:pPr marL="1192530" algn="just">
              <a:lnSpc>
                <a:spcPct val="100000"/>
              </a:lnSpc>
            </a:pPr>
            <a:r>
              <a:rPr lang="fr-FR" sz="2800" spc="-5" dirty="0" err="1">
                <a:solidFill>
                  <a:srgbClr val="0070C0"/>
                </a:solidFill>
                <a:latin typeface="Times New Roman"/>
                <a:cs typeface="Times New Roman"/>
              </a:rPr>
              <a:t>nom_du_tableau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[</a:t>
            </a:r>
            <a:r>
              <a:rPr sz="2800" dirty="0" err="1">
                <a:solidFill>
                  <a:srgbClr val="0070C0"/>
                </a:solidFill>
                <a:latin typeface="Times New Roman"/>
                <a:cs typeface="Times New Roman"/>
              </a:rPr>
              <a:t>indice</a:t>
            </a:r>
            <a:r>
              <a:rPr sz="2800" dirty="0">
                <a:solidFill>
                  <a:srgbClr val="0070C0"/>
                </a:solidFill>
                <a:latin typeface="Times New Roman"/>
                <a:cs typeface="Times New Roman"/>
              </a:rPr>
              <a:t>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de donnée « tableau</a:t>
            </a:r>
            <a:r>
              <a:rPr sz="26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»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8</a:t>
            </a:fld>
            <a:endParaRPr spc="-5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07933" y="4159848"/>
            <a:ext cx="8736965" cy="102784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695"/>
              </a:spcBef>
              <a:buFont typeface="Wingdings"/>
              <a:buChar char=""/>
              <a:tabLst>
                <a:tab pos="473075" algn="l"/>
                <a:tab pos="473709" algn="l"/>
              </a:tabLst>
            </a:pPr>
            <a:r>
              <a:rPr sz="2800" spc="-5" dirty="0">
                <a:latin typeface="Times New Roman"/>
                <a:cs typeface="Times New Roman"/>
              </a:rPr>
              <a:t>La variable </a:t>
            </a:r>
            <a:r>
              <a:rPr sz="2800" dirty="0">
                <a:latin typeface="Times New Roman"/>
                <a:cs typeface="Times New Roman"/>
              </a:rPr>
              <a:t>T </a:t>
            </a:r>
            <a:r>
              <a:rPr sz="2800" spc="-5" dirty="0">
                <a:latin typeface="Times New Roman"/>
                <a:cs typeface="Times New Roman"/>
              </a:rPr>
              <a:t>est </a:t>
            </a:r>
            <a:r>
              <a:rPr sz="2800" dirty="0">
                <a:latin typeface="Times New Roman"/>
                <a:cs typeface="Times New Roman"/>
              </a:rPr>
              <a:t>de type </a:t>
            </a:r>
            <a:r>
              <a:rPr sz="2800" spc="-5" dirty="0">
                <a:latin typeface="Times New Roman"/>
                <a:cs typeface="Times New Roman"/>
              </a:rPr>
              <a:t>tableau </a:t>
            </a:r>
            <a:r>
              <a:rPr sz="2800" spc="-5" dirty="0" err="1">
                <a:latin typeface="Times New Roman"/>
                <a:cs typeface="Times New Roman"/>
              </a:rPr>
              <a:t>d’entiers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 err="1">
                <a:latin typeface="Times New Roman"/>
                <a:cs typeface="Times New Roman"/>
              </a:rPr>
              <a:t>ind</a:t>
            </a:r>
            <a:r>
              <a:rPr lang="fr-FR" sz="2800" dirty="0">
                <a:latin typeface="Times New Roman"/>
                <a:cs typeface="Times New Roman"/>
              </a:rPr>
              <a:t>ex</a:t>
            </a:r>
            <a:r>
              <a:rPr sz="2800" dirty="0">
                <a:latin typeface="Times New Roman"/>
                <a:cs typeface="Times New Roman"/>
              </a:rPr>
              <a:t>é de 0 à</a:t>
            </a:r>
            <a:r>
              <a:rPr sz="2800" spc="-22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5.</a:t>
            </a:r>
          </a:p>
          <a:p>
            <a:pPr marL="472440" indent="-46037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72440" algn="l"/>
                <a:tab pos="473075" algn="l"/>
              </a:tabLst>
            </a:pP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accède aux valeurs </a:t>
            </a:r>
            <a:r>
              <a:rPr sz="2800" dirty="0">
                <a:latin typeface="Times New Roman"/>
                <a:cs typeface="Times New Roman"/>
              </a:rPr>
              <a:t>du </a:t>
            </a:r>
            <a:r>
              <a:rPr sz="2800" spc="-5" dirty="0">
                <a:latin typeface="Times New Roman"/>
                <a:cs typeface="Times New Roman"/>
              </a:rPr>
              <a:t>tableau par T[0], T[1], </a:t>
            </a:r>
            <a:r>
              <a:rPr sz="2800" dirty="0">
                <a:latin typeface="Times New Roman"/>
                <a:cs typeface="Times New Roman"/>
              </a:rPr>
              <a:t>…,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T[5].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5347" y="1521002"/>
            <a:ext cx="151765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b="1" spc="-5" dirty="0">
                <a:latin typeface="Times New Roman"/>
                <a:cs typeface="Times New Roman"/>
              </a:rPr>
              <a:t>Ex</a:t>
            </a:r>
            <a:r>
              <a:rPr sz="2900" b="1" spc="-10" dirty="0">
                <a:latin typeface="Times New Roman"/>
                <a:cs typeface="Times New Roman"/>
              </a:rPr>
              <a:t>em</a:t>
            </a:r>
            <a:r>
              <a:rPr sz="2900" b="1" spc="-5" dirty="0">
                <a:latin typeface="Times New Roman"/>
                <a:cs typeface="Times New Roman"/>
              </a:rPr>
              <a:t>p</a:t>
            </a:r>
            <a:r>
              <a:rPr sz="2900" b="1" spc="-10" dirty="0">
                <a:latin typeface="Times New Roman"/>
                <a:cs typeface="Times New Roman"/>
              </a:rPr>
              <a:t>le</a:t>
            </a:r>
            <a:r>
              <a:rPr sz="2900" b="1" spc="-5" dirty="0">
                <a:latin typeface="Times New Roman"/>
                <a:cs typeface="Times New Roman"/>
              </a:rPr>
              <a:t>: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7463" y="1521002"/>
            <a:ext cx="310896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35" dirty="0">
                <a:latin typeface="Times New Roman"/>
                <a:cs typeface="Times New Roman"/>
              </a:rPr>
              <a:t>Tableau </a:t>
            </a:r>
            <a:r>
              <a:rPr sz="2900" spc="-5" dirty="0">
                <a:latin typeface="Times New Roman"/>
                <a:cs typeface="Times New Roman"/>
              </a:rPr>
              <a:t>T[6] :</a:t>
            </a:r>
            <a:r>
              <a:rPr sz="2900" spc="-8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Entier</a:t>
            </a:r>
            <a:endParaRPr sz="29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937646" y="2636836"/>
          <a:ext cx="5139684" cy="58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6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6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00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955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955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094173" y="3294048"/>
            <a:ext cx="4318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[0]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2975" y="3306164"/>
            <a:ext cx="4318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[1]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6679" y="3306164"/>
            <a:ext cx="4318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[2]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13930" y="3294048"/>
            <a:ext cx="4318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[3]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94726" y="3306164"/>
            <a:ext cx="4318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[4]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51976" y="3306164"/>
            <a:ext cx="4318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[5]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865324" y="805860"/>
            <a:ext cx="747247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T</a:t>
            </a:r>
            <a:r>
              <a:rPr dirty="0"/>
              <a:t>ableaux </a:t>
            </a:r>
            <a:r>
              <a:rPr spc="-5" dirty="0" err="1"/>
              <a:t>unidimensionnels</a:t>
            </a:r>
            <a:r>
              <a:rPr spc="-15" dirty="0"/>
              <a:t> </a:t>
            </a:r>
            <a:r>
              <a:rPr spc="-5" dirty="0" err="1"/>
              <a:t>statique</a:t>
            </a:r>
            <a:r>
              <a:rPr lang="fr-FR" spc="-5" dirty="0"/>
              <a:t>s</a:t>
            </a:r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</a:t>
            </a:r>
            <a:r>
              <a:rPr sz="2600" spc="-10" dirty="0">
                <a:solidFill>
                  <a:srgbClr val="FFFFFF"/>
                </a:solidFill>
              </a:rPr>
              <a:t>Structure </a:t>
            </a:r>
            <a:r>
              <a:rPr sz="2600" spc="-5" dirty="0">
                <a:solidFill>
                  <a:srgbClr val="FFFFFF"/>
                </a:solidFill>
              </a:rPr>
              <a:t>de donnée « tableau</a:t>
            </a:r>
            <a:r>
              <a:rPr sz="2600" spc="4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»</a:t>
            </a:r>
            <a:endParaRPr sz="26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9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8000" y="609600"/>
            <a:ext cx="11871205" cy="59683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1755">
              <a:lnSpc>
                <a:spcPct val="100000"/>
              </a:lnSpc>
              <a:spcBef>
                <a:spcPts val="100"/>
              </a:spcBef>
            </a:pPr>
            <a:r>
              <a:rPr lang="en-US" sz="30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T</a:t>
            </a:r>
            <a:r>
              <a:rPr sz="3000" b="1" dirty="0">
                <a:solidFill>
                  <a:srgbClr val="0070C0"/>
                </a:solidFill>
                <a:latin typeface="Times New Roman"/>
                <a:cs typeface="Times New Roman"/>
              </a:rPr>
              <a:t>ableaux </a:t>
            </a:r>
            <a:r>
              <a:rPr sz="3000" b="1" spc="-5" dirty="0" err="1">
                <a:solidFill>
                  <a:srgbClr val="0070C0"/>
                </a:solidFill>
                <a:latin typeface="Times New Roman"/>
                <a:cs typeface="Times New Roman"/>
              </a:rPr>
              <a:t>unidimensionnels</a:t>
            </a:r>
            <a:r>
              <a:rPr sz="3000" b="1" spc="-3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00" b="1" spc="-5" dirty="0" err="1">
                <a:solidFill>
                  <a:srgbClr val="0070C0"/>
                </a:solidFill>
                <a:latin typeface="Times New Roman"/>
                <a:cs typeface="Times New Roman"/>
              </a:rPr>
              <a:t>statique</a:t>
            </a:r>
            <a:r>
              <a:rPr lang="fr-FR" sz="30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s</a:t>
            </a:r>
            <a:endParaRPr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25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Exemple: </a:t>
            </a:r>
            <a:r>
              <a:rPr sz="2400" spc="-5" dirty="0">
                <a:latin typeface="Times New Roman"/>
                <a:cs typeface="Times New Roman"/>
              </a:rPr>
              <a:t>Affichage </a:t>
            </a:r>
            <a:r>
              <a:rPr sz="2400" dirty="0">
                <a:latin typeface="Times New Roman"/>
                <a:cs typeface="Times New Roman"/>
              </a:rPr>
              <a:t>de la moyenne des </a:t>
            </a:r>
            <a:r>
              <a:rPr sz="2400" spc="-5" dirty="0">
                <a:latin typeface="Times New Roman"/>
                <a:cs typeface="Times New Roman"/>
              </a:rPr>
              <a:t>notes d’une </a:t>
            </a:r>
            <a:r>
              <a:rPr sz="2400" spc="-10" dirty="0">
                <a:latin typeface="Times New Roman"/>
                <a:cs typeface="Times New Roman"/>
              </a:rPr>
              <a:t>filière </a:t>
            </a:r>
            <a:r>
              <a:rPr sz="2400" dirty="0">
                <a:latin typeface="Times New Roman"/>
                <a:cs typeface="Times New Roman"/>
              </a:rPr>
              <a:t>de 60 </a:t>
            </a:r>
            <a:r>
              <a:rPr sz="2400" spc="-5" dirty="0">
                <a:latin typeface="Times New Roman"/>
                <a:cs typeface="Times New Roman"/>
              </a:rPr>
              <a:t>étudiants </a:t>
            </a:r>
            <a:r>
              <a:rPr sz="2400" dirty="0">
                <a:latin typeface="Times New Roman"/>
                <a:cs typeface="Times New Roman"/>
              </a:rPr>
              <a:t>saisies par le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prof.</a:t>
            </a:r>
            <a:endParaRPr sz="2400" dirty="0">
              <a:latin typeface="Times New Roman"/>
              <a:cs typeface="Times New Roman"/>
            </a:endParaRPr>
          </a:p>
          <a:p>
            <a:pPr marL="1441450">
              <a:lnSpc>
                <a:spcPct val="100000"/>
              </a:lnSpc>
              <a:spcBef>
                <a:spcPts val="1495"/>
              </a:spcBef>
            </a:pPr>
            <a:r>
              <a:rPr lang="en-US" sz="2400" b="1" spc="-25" dirty="0">
                <a:latin typeface="Times New Roman"/>
                <a:cs typeface="Times New Roman"/>
              </a:rPr>
              <a:t>Algorithme </a:t>
            </a:r>
            <a:r>
              <a:rPr lang="en-US" sz="2400" spc="-25" dirty="0" err="1">
                <a:latin typeface="Times New Roman"/>
                <a:cs typeface="Times New Roman"/>
              </a:rPr>
              <a:t>Affichage_Moyenne_Notes</a:t>
            </a:r>
            <a:endParaRPr lang="en-US" sz="2400" spc="-25" dirty="0">
              <a:latin typeface="Times New Roman"/>
              <a:cs typeface="Times New Roman"/>
            </a:endParaRPr>
          </a:p>
          <a:p>
            <a:pPr marL="1441450">
              <a:lnSpc>
                <a:spcPct val="100000"/>
              </a:lnSpc>
              <a:spcBef>
                <a:spcPts val="1495"/>
              </a:spcBef>
            </a:pPr>
            <a:r>
              <a:rPr sz="2400" b="1" spc="-25" dirty="0">
                <a:latin typeface="Times New Roman"/>
                <a:cs typeface="Times New Roman"/>
              </a:rPr>
              <a:t>Variables: </a:t>
            </a:r>
            <a:r>
              <a:rPr sz="2400" spc="-5" dirty="0">
                <a:latin typeface="Times New Roman"/>
                <a:cs typeface="Times New Roman"/>
              </a:rPr>
              <a:t>somme, i 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Entier</a:t>
            </a:r>
            <a:endParaRPr sz="2400" dirty="0">
              <a:latin typeface="Times New Roman"/>
              <a:cs typeface="Times New Roman"/>
            </a:endParaRPr>
          </a:p>
          <a:p>
            <a:pPr marL="2578735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Tableau </a:t>
            </a:r>
            <a:r>
              <a:rPr sz="2400" spc="-5" dirty="0">
                <a:latin typeface="Times New Roman"/>
                <a:cs typeface="Times New Roman"/>
              </a:rPr>
              <a:t>notes[60] : Entier</a:t>
            </a:r>
            <a:endParaRPr sz="2400" dirty="0">
              <a:latin typeface="Times New Roman"/>
              <a:cs typeface="Times New Roman"/>
            </a:endParaRPr>
          </a:p>
          <a:p>
            <a:pPr marL="144145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Début</a:t>
            </a:r>
            <a:endParaRPr sz="2400" dirty="0">
              <a:latin typeface="Times New Roman"/>
              <a:cs typeface="Times New Roman"/>
            </a:endParaRPr>
          </a:p>
          <a:p>
            <a:pPr marL="189865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somme ←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0</a:t>
            </a:r>
            <a:endParaRPr sz="2400" dirty="0">
              <a:latin typeface="Times New Roman"/>
              <a:cs typeface="Times New Roman"/>
            </a:endParaRPr>
          </a:p>
          <a:p>
            <a:pPr marL="189865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Pour </a:t>
            </a:r>
            <a:r>
              <a:rPr sz="2400" spc="-5" dirty="0">
                <a:latin typeface="Times New Roman"/>
                <a:cs typeface="Times New Roman"/>
              </a:rPr>
              <a:t>i ←0 à 59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faire</a:t>
            </a:r>
            <a:endParaRPr sz="2400" dirty="0">
              <a:latin typeface="Times New Roman"/>
              <a:cs typeface="Times New Roman"/>
            </a:endParaRPr>
          </a:p>
          <a:p>
            <a:pPr marL="2355215" marR="382587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écrire("Note de </a:t>
            </a:r>
            <a:r>
              <a:rPr sz="2400" spc="-5" dirty="0" err="1">
                <a:latin typeface="Times New Roman"/>
                <a:cs typeface="Times New Roman"/>
              </a:rPr>
              <a:t>l’étudiant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" dirty="0" err="1">
                <a:latin typeface="Times New Roman"/>
                <a:cs typeface="Times New Roman"/>
              </a:rPr>
              <a:t>num</a:t>
            </a:r>
            <a:r>
              <a:rPr lang="fr-FR" sz="2400" spc="-5" dirty="0">
                <a:latin typeface="Times New Roman"/>
                <a:cs typeface="Times New Roman"/>
              </a:rPr>
              <a:t>é</a:t>
            </a:r>
            <a:r>
              <a:rPr sz="2400" spc="-5" dirty="0" err="1">
                <a:latin typeface="Times New Roman"/>
                <a:cs typeface="Times New Roman"/>
              </a:rPr>
              <a:t>ro</a:t>
            </a:r>
            <a:r>
              <a:rPr lang="fr-FR" sz="2400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",i+1,"est:")  lire(notes[i])</a:t>
            </a:r>
            <a:endParaRPr lang="fr-FR" sz="2400" spc="-5" dirty="0">
              <a:latin typeface="Times New Roman"/>
              <a:cs typeface="Times New Roman"/>
            </a:endParaRPr>
          </a:p>
          <a:p>
            <a:pPr marL="2355215" marR="3825875"/>
            <a:r>
              <a:rPr lang="fr-FR" sz="2400" spc="-5" dirty="0">
                <a:latin typeface="Times New Roman"/>
                <a:cs typeface="Times New Roman"/>
              </a:rPr>
              <a:t>somme ← somme +</a:t>
            </a:r>
            <a:r>
              <a:rPr lang="fr-FR" sz="2400" spc="-35" dirty="0">
                <a:latin typeface="Times New Roman"/>
                <a:cs typeface="Times New Roman"/>
              </a:rPr>
              <a:t> </a:t>
            </a:r>
            <a:r>
              <a:rPr lang="fr-FR" sz="2400" spc="-5" dirty="0">
                <a:latin typeface="Times New Roman"/>
                <a:cs typeface="Times New Roman"/>
              </a:rPr>
              <a:t>notes[i]</a:t>
            </a:r>
            <a:endParaRPr sz="2400" dirty="0">
              <a:latin typeface="Times New Roman"/>
              <a:cs typeface="Times New Roman"/>
            </a:endParaRPr>
          </a:p>
          <a:p>
            <a:pPr marL="1898014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FinPour</a:t>
            </a:r>
            <a:endParaRPr sz="2400" dirty="0">
              <a:latin typeface="Times New Roman"/>
              <a:cs typeface="Times New Roman"/>
            </a:endParaRPr>
          </a:p>
          <a:p>
            <a:pPr marL="1898650">
              <a:lnSpc>
                <a:spcPct val="100000"/>
              </a:lnSpc>
            </a:pPr>
            <a:r>
              <a:rPr sz="2400" spc="-5" dirty="0" err="1">
                <a:latin typeface="Times New Roman"/>
                <a:cs typeface="Times New Roman"/>
              </a:rPr>
              <a:t>écrire</a:t>
            </a:r>
            <a:r>
              <a:rPr sz="2400" spc="-5" dirty="0">
                <a:latin typeface="Times New Roman"/>
                <a:cs typeface="Times New Roman"/>
              </a:rPr>
              <a:t>("La moyenne des notes :",</a:t>
            </a:r>
            <a:r>
              <a:rPr lang="fr-FR" sz="2400" spc="-5" dirty="0">
                <a:latin typeface="Times New Roman"/>
                <a:cs typeface="Times New Roman"/>
              </a:rPr>
              <a:t> </a:t>
            </a:r>
            <a:r>
              <a:rPr sz="2400" spc="-5" dirty="0" err="1">
                <a:latin typeface="Times New Roman"/>
                <a:cs typeface="Times New Roman"/>
              </a:rPr>
              <a:t>somme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lang="fr-FR" sz="2400" spc="-45" dirty="0">
                <a:latin typeface="Times New Roman"/>
                <a:cs typeface="Times New Roman"/>
              </a:rPr>
              <a:t>60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marL="144145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Fin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de donnée « tableau</a:t>
            </a:r>
            <a:r>
              <a:rPr sz="26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»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10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5347" y="1317828"/>
            <a:ext cx="9211310" cy="1912703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Exercice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d’application</a:t>
            </a:r>
            <a:r>
              <a:rPr sz="2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  <a:p>
            <a:pPr marL="4841875">
              <a:lnSpc>
                <a:spcPct val="100000"/>
              </a:lnSpc>
              <a:spcBef>
                <a:spcPts val="765"/>
              </a:spcBef>
            </a:pPr>
            <a:r>
              <a:rPr lang="en-US" sz="2500" b="1" spc="-25" dirty="0">
                <a:latin typeface="Times New Roman"/>
                <a:cs typeface="Times New Roman"/>
              </a:rPr>
              <a:t>Algorithme </a:t>
            </a:r>
            <a:r>
              <a:rPr lang="en-US" sz="2500" spc="-25" dirty="0" err="1">
                <a:latin typeface="Times New Roman"/>
                <a:cs typeface="Times New Roman"/>
              </a:rPr>
              <a:t>Algo</a:t>
            </a:r>
            <a:endParaRPr lang="en-US" sz="2500" spc="-25" dirty="0">
              <a:latin typeface="Times New Roman"/>
              <a:cs typeface="Times New Roman"/>
            </a:endParaRPr>
          </a:p>
          <a:p>
            <a:pPr marL="4841875">
              <a:lnSpc>
                <a:spcPct val="100000"/>
              </a:lnSpc>
              <a:spcBef>
                <a:spcPts val="765"/>
              </a:spcBef>
            </a:pPr>
            <a:r>
              <a:rPr sz="2500" b="1" spc="-25" dirty="0">
                <a:latin typeface="Times New Roman"/>
                <a:cs typeface="Times New Roman"/>
              </a:rPr>
              <a:t>Variables </a:t>
            </a:r>
            <a:r>
              <a:rPr sz="2500" spc="-25" dirty="0">
                <a:latin typeface="Times New Roman"/>
                <a:cs typeface="Times New Roman"/>
              </a:rPr>
              <a:t>Tableau </a:t>
            </a:r>
            <a:r>
              <a:rPr sz="2500" dirty="0">
                <a:latin typeface="Times New Roman"/>
                <a:cs typeface="Times New Roman"/>
              </a:rPr>
              <a:t>F[10], i :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lang="en-US" sz="2500" dirty="0" err="1">
                <a:latin typeface="Times New Roman"/>
                <a:cs typeface="Times New Roman"/>
              </a:rPr>
              <a:t>E</a:t>
            </a:r>
            <a:r>
              <a:rPr sz="2500" dirty="0" err="1">
                <a:latin typeface="Times New Roman"/>
                <a:cs typeface="Times New Roman"/>
              </a:rPr>
              <a:t>ntier</a:t>
            </a:r>
            <a:endParaRPr sz="2500" dirty="0">
              <a:latin typeface="Times New Roman"/>
              <a:cs typeface="Times New Roman"/>
            </a:endParaRPr>
          </a:p>
          <a:p>
            <a:pPr marL="4841875">
              <a:lnSpc>
                <a:spcPct val="100000"/>
              </a:lnSpc>
            </a:pPr>
            <a:r>
              <a:rPr sz="2500" b="1" dirty="0">
                <a:latin typeface="Times New Roman"/>
                <a:cs typeface="Times New Roman"/>
              </a:rPr>
              <a:t>Début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8200" y="3099951"/>
            <a:ext cx="4061460" cy="34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Times New Roman"/>
                <a:cs typeface="Times New Roman"/>
              </a:rPr>
              <a:t>F[0]</a:t>
            </a:r>
            <a:r>
              <a:rPr sz="2500" dirty="0">
                <a:latin typeface="Wingdings"/>
                <a:cs typeface="Wingdings"/>
              </a:rPr>
              <a:t></a:t>
            </a:r>
            <a:r>
              <a:rPr sz="2500" dirty="0">
                <a:latin typeface="Times New Roman"/>
                <a:cs typeface="Times New Roman"/>
              </a:rPr>
              <a:t>1</a:t>
            </a:r>
          </a:p>
          <a:p>
            <a:pPr marL="469900">
              <a:lnSpc>
                <a:spcPts val="2995"/>
              </a:lnSpc>
            </a:pPr>
            <a:r>
              <a:rPr sz="2500" dirty="0">
                <a:latin typeface="Times New Roman"/>
                <a:cs typeface="Times New Roman"/>
              </a:rPr>
              <a:t>F[1]</a:t>
            </a:r>
            <a:r>
              <a:rPr sz="2500" dirty="0">
                <a:latin typeface="Wingdings"/>
                <a:cs typeface="Wingdings"/>
              </a:rPr>
              <a:t></a:t>
            </a:r>
            <a:r>
              <a:rPr sz="2500" dirty="0">
                <a:latin typeface="Times New Roman"/>
                <a:cs typeface="Times New Roman"/>
              </a:rPr>
              <a:t>1</a:t>
            </a:r>
          </a:p>
          <a:p>
            <a:pPr marL="469900">
              <a:lnSpc>
                <a:spcPts val="2995"/>
              </a:lnSpc>
            </a:pPr>
            <a:r>
              <a:rPr sz="2500" dirty="0">
                <a:latin typeface="Times New Roman"/>
                <a:cs typeface="Times New Roman"/>
              </a:rPr>
              <a:t>Ecrire(‘F[0] = ’,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F[0])</a:t>
            </a:r>
          </a:p>
          <a:p>
            <a:pPr marL="469900">
              <a:lnSpc>
                <a:spcPct val="100000"/>
              </a:lnSpc>
            </a:pPr>
            <a:r>
              <a:rPr sz="2500" dirty="0">
                <a:latin typeface="Times New Roman"/>
                <a:cs typeface="Times New Roman"/>
              </a:rPr>
              <a:t>Ecrire(‘F[1] = ’,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F[1])</a:t>
            </a:r>
          </a:p>
          <a:p>
            <a:pPr marL="866140" marR="5080" indent="-396240">
              <a:lnSpc>
                <a:spcPct val="100000"/>
              </a:lnSpc>
            </a:pPr>
            <a:r>
              <a:rPr sz="2500" b="1" dirty="0">
                <a:latin typeface="Times New Roman"/>
                <a:cs typeface="Times New Roman"/>
              </a:rPr>
              <a:t>Pour </a:t>
            </a:r>
            <a:r>
              <a:rPr sz="2500" dirty="0">
                <a:latin typeface="Times New Roman"/>
                <a:cs typeface="Times New Roman"/>
              </a:rPr>
              <a:t>i allant de 2 à 9 faire  F[i] </a:t>
            </a:r>
            <a:r>
              <a:rPr sz="2500" dirty="0">
                <a:latin typeface="Wingdings"/>
                <a:cs typeface="Wingdings"/>
              </a:rPr>
              <a:t></a:t>
            </a:r>
            <a:r>
              <a:rPr sz="2500" dirty="0">
                <a:latin typeface="Times New Roman"/>
                <a:cs typeface="Times New Roman"/>
              </a:rPr>
              <a:t> F[i-1]+F[i-2]  Ecrire (‘F[’,i, ‘] = ’,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F[i])</a:t>
            </a:r>
          </a:p>
          <a:p>
            <a:pPr marL="12700" marR="2470785" indent="457200">
              <a:lnSpc>
                <a:spcPct val="100000"/>
              </a:lnSpc>
            </a:pPr>
            <a:r>
              <a:rPr sz="2500" b="1" dirty="0">
                <a:latin typeface="Times New Roman"/>
                <a:cs typeface="Times New Roman"/>
              </a:rPr>
              <a:t>Finpour  Fin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8223" y="2401042"/>
            <a:ext cx="3373754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3000" spc="-5" dirty="0">
                <a:latin typeface="Times New Roman"/>
                <a:cs typeface="Times New Roman"/>
              </a:rPr>
              <a:t>Que </a:t>
            </a:r>
            <a:r>
              <a:rPr sz="3000" dirty="0">
                <a:latin typeface="Times New Roman"/>
                <a:cs typeface="Times New Roman"/>
              </a:rPr>
              <a:t>produit  l’algorithme </a:t>
            </a:r>
            <a:r>
              <a:rPr sz="3000" spc="-5" dirty="0">
                <a:latin typeface="Times New Roman"/>
                <a:cs typeface="Times New Roman"/>
              </a:rPr>
              <a:t>suivant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78781" y="805794"/>
            <a:ext cx="689787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T</a:t>
            </a:r>
            <a:r>
              <a:rPr dirty="0"/>
              <a:t>ableaux </a:t>
            </a:r>
            <a:r>
              <a:rPr spc="-5" dirty="0" err="1"/>
              <a:t>unidimensionnels</a:t>
            </a:r>
            <a:r>
              <a:rPr spc="-15" dirty="0"/>
              <a:t> </a:t>
            </a:r>
            <a:r>
              <a:rPr spc="-5" dirty="0" err="1"/>
              <a:t>statique</a:t>
            </a:r>
            <a:r>
              <a:rPr lang="fr-FR" spc="-5" dirty="0"/>
              <a:t>s</a:t>
            </a:r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de donnée « tableau</a:t>
            </a:r>
            <a:r>
              <a:rPr sz="26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»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553" y="1360935"/>
            <a:ext cx="36302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Exercice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d’application</a:t>
            </a:r>
            <a:r>
              <a:rPr sz="28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553" y="1815071"/>
            <a:ext cx="11144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orrigé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1200" y="1582790"/>
            <a:ext cx="4382135" cy="46422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500" b="1" spc="-25" dirty="0">
                <a:latin typeface="Times New Roman"/>
                <a:cs typeface="Times New Roman"/>
              </a:rPr>
              <a:t>Algorithme </a:t>
            </a:r>
            <a:r>
              <a:rPr lang="en-US" sz="2500" spc="-25" dirty="0" err="1">
                <a:latin typeface="Times New Roman"/>
                <a:cs typeface="Times New Roman"/>
              </a:rPr>
              <a:t>Algo</a:t>
            </a:r>
            <a:endParaRPr lang="en-US" sz="2500" b="1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latin typeface="Times New Roman"/>
                <a:cs typeface="Times New Roman"/>
              </a:rPr>
              <a:t>Variables </a:t>
            </a:r>
            <a:r>
              <a:rPr sz="2500" spc="-25" dirty="0">
                <a:latin typeface="Times New Roman"/>
                <a:cs typeface="Times New Roman"/>
              </a:rPr>
              <a:t>Tableau </a:t>
            </a:r>
            <a:r>
              <a:rPr sz="2500" dirty="0">
                <a:latin typeface="Times New Roman"/>
                <a:cs typeface="Times New Roman"/>
              </a:rPr>
              <a:t>F[10], i :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lang="en-US" sz="2500" dirty="0" err="1">
                <a:latin typeface="Times New Roman"/>
                <a:cs typeface="Times New Roman"/>
              </a:rPr>
              <a:t>E</a:t>
            </a:r>
            <a:r>
              <a:rPr sz="2500" dirty="0" err="1">
                <a:latin typeface="Times New Roman"/>
                <a:cs typeface="Times New Roman"/>
              </a:rPr>
              <a:t>ntier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b="1" dirty="0">
                <a:latin typeface="Times New Roman"/>
                <a:cs typeface="Times New Roman"/>
              </a:rPr>
              <a:t>Début</a:t>
            </a:r>
            <a:endParaRPr sz="25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500" dirty="0">
                <a:latin typeface="Times New Roman"/>
                <a:cs typeface="Times New Roman"/>
              </a:rPr>
              <a:t>F[0]</a:t>
            </a:r>
            <a:r>
              <a:rPr sz="2500" dirty="0">
                <a:latin typeface="Wingdings"/>
                <a:cs typeface="Wingdings"/>
              </a:rPr>
              <a:t></a:t>
            </a:r>
            <a:r>
              <a:rPr sz="2500" dirty="0">
                <a:latin typeface="Times New Roman"/>
                <a:cs typeface="Times New Roman"/>
              </a:rPr>
              <a:t>1</a:t>
            </a:r>
          </a:p>
          <a:p>
            <a:pPr marL="469900">
              <a:lnSpc>
                <a:spcPts val="2995"/>
              </a:lnSpc>
            </a:pPr>
            <a:r>
              <a:rPr sz="2500" dirty="0">
                <a:latin typeface="Times New Roman"/>
                <a:cs typeface="Times New Roman"/>
              </a:rPr>
              <a:t>F[1]</a:t>
            </a:r>
            <a:r>
              <a:rPr sz="2500" dirty="0">
                <a:latin typeface="Wingdings"/>
                <a:cs typeface="Wingdings"/>
              </a:rPr>
              <a:t></a:t>
            </a:r>
            <a:r>
              <a:rPr sz="2500" dirty="0">
                <a:latin typeface="Times New Roman"/>
                <a:cs typeface="Times New Roman"/>
              </a:rPr>
              <a:t>1</a:t>
            </a:r>
          </a:p>
          <a:p>
            <a:pPr marL="469900">
              <a:lnSpc>
                <a:spcPts val="2995"/>
              </a:lnSpc>
            </a:pPr>
            <a:r>
              <a:rPr sz="2500" dirty="0">
                <a:latin typeface="Times New Roman"/>
                <a:cs typeface="Times New Roman"/>
              </a:rPr>
              <a:t>Ecrire(‘F[0] = ’,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F[0])</a:t>
            </a:r>
          </a:p>
          <a:p>
            <a:pPr marL="469900">
              <a:lnSpc>
                <a:spcPct val="100000"/>
              </a:lnSpc>
            </a:pPr>
            <a:r>
              <a:rPr sz="2500" dirty="0">
                <a:latin typeface="Times New Roman"/>
                <a:cs typeface="Times New Roman"/>
              </a:rPr>
              <a:t>Ecrire(‘F[1] = ’,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F[1])</a:t>
            </a:r>
          </a:p>
          <a:p>
            <a:pPr marL="866140" marR="325120" indent="-396240">
              <a:lnSpc>
                <a:spcPct val="100000"/>
              </a:lnSpc>
            </a:pPr>
            <a:r>
              <a:rPr sz="2500" b="1" dirty="0">
                <a:latin typeface="Times New Roman"/>
                <a:cs typeface="Times New Roman"/>
              </a:rPr>
              <a:t>Pour </a:t>
            </a:r>
            <a:r>
              <a:rPr sz="2500" dirty="0">
                <a:latin typeface="Times New Roman"/>
                <a:cs typeface="Times New Roman"/>
              </a:rPr>
              <a:t>i allant de 2 à 9 faire  F[i] </a:t>
            </a:r>
            <a:r>
              <a:rPr sz="2500" dirty="0">
                <a:latin typeface="Wingdings"/>
                <a:cs typeface="Wingdings"/>
              </a:rPr>
              <a:t></a:t>
            </a:r>
            <a:r>
              <a:rPr sz="2500" dirty="0">
                <a:latin typeface="Times New Roman"/>
                <a:cs typeface="Times New Roman"/>
              </a:rPr>
              <a:t> F[i-1]+F[i-2]  Ecrire (‘F[’,i, ‘] = ’,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F[i])</a:t>
            </a:r>
          </a:p>
          <a:p>
            <a:pPr marL="12700" marR="2791460" indent="457200">
              <a:lnSpc>
                <a:spcPct val="100000"/>
              </a:lnSpc>
            </a:pPr>
            <a:r>
              <a:rPr sz="2500" b="1" dirty="0">
                <a:latin typeface="Times New Roman"/>
                <a:cs typeface="Times New Roman"/>
              </a:rPr>
              <a:t>Finpour  Fin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1883" y="3051110"/>
            <a:ext cx="1194435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F[0] =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F[1] =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F[2] =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F[3] =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</a:t>
            </a: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F[4] =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33031" y="3051110"/>
            <a:ext cx="1373505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F[5] =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</a:t>
            </a: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F[6] =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13</a:t>
            </a: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F[7] =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21</a:t>
            </a: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F[8] =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34</a:t>
            </a: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F[9] =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55</a:t>
            </a:r>
          </a:p>
        </p:txBody>
      </p:sp>
      <p:sp>
        <p:nvSpPr>
          <p:cNvPr id="10" name="object 10"/>
          <p:cNvSpPr/>
          <p:nvPr/>
        </p:nvSpPr>
        <p:spPr>
          <a:xfrm>
            <a:off x="5435779" y="3675273"/>
            <a:ext cx="954010" cy="5973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65324" y="805860"/>
            <a:ext cx="792967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T</a:t>
            </a:r>
            <a:r>
              <a:rPr dirty="0"/>
              <a:t>ableaux </a:t>
            </a:r>
            <a:r>
              <a:rPr spc="-5" dirty="0" err="1"/>
              <a:t>unidimensionnels</a:t>
            </a:r>
            <a:r>
              <a:rPr spc="-15" dirty="0"/>
              <a:t> </a:t>
            </a:r>
            <a:r>
              <a:rPr spc="-5" dirty="0" err="1"/>
              <a:t>statique</a:t>
            </a:r>
            <a:r>
              <a:rPr lang="fr-FR" spc="-5" dirty="0"/>
              <a:t>s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11</a:t>
            </a:fld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de donnée « tableau</a:t>
            </a:r>
            <a:r>
              <a:rPr sz="26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»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12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56600" y="805860"/>
            <a:ext cx="750979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T</a:t>
            </a:r>
            <a:r>
              <a:rPr dirty="0"/>
              <a:t>ableaux </a:t>
            </a:r>
            <a:r>
              <a:rPr spc="-5" dirty="0" err="1"/>
              <a:t>unidimensionnels</a:t>
            </a:r>
            <a:r>
              <a:rPr spc="-10" dirty="0"/>
              <a:t> </a:t>
            </a:r>
            <a:r>
              <a:rPr spc="-5" dirty="0" err="1"/>
              <a:t>dynamique</a:t>
            </a:r>
            <a:r>
              <a:rPr lang="fr-FR" spc="-5" dirty="0"/>
              <a:t>s</a:t>
            </a:r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1022114" y="1618928"/>
            <a:ext cx="10773410" cy="4629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73709" algn="l"/>
                <a:tab pos="474345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 dirty="0">
                <a:latin typeface="Times New Roman"/>
                <a:cs typeface="Times New Roman"/>
              </a:rPr>
              <a:t>La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taille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du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tableau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est variable</a:t>
            </a:r>
            <a:r>
              <a:rPr sz="2800" spc="-5" dirty="0">
                <a:latin typeface="Times New Roman"/>
                <a:cs typeface="Times New Roman"/>
              </a:rPr>
              <a:t>: elle </a:t>
            </a:r>
            <a:r>
              <a:rPr sz="2800" spc="-5" dirty="0" err="1">
                <a:latin typeface="Times New Roman"/>
                <a:cs typeface="Times New Roman"/>
              </a:rPr>
              <a:t>est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fixé</a:t>
            </a:r>
            <a:r>
              <a:rPr lang="fr-FR" sz="2800" spc="-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 pendant </a:t>
            </a:r>
            <a:r>
              <a:rPr sz="2800" spc="-10" dirty="0">
                <a:latin typeface="Times New Roman"/>
                <a:cs typeface="Times New Roman"/>
              </a:rPr>
              <a:t>l'exécution avec  </a:t>
            </a:r>
            <a:r>
              <a:rPr sz="2800" spc="-5" dirty="0">
                <a:latin typeface="Times New Roman"/>
                <a:cs typeface="Times New Roman"/>
              </a:rPr>
              <a:t>des allocations dynamique dans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mémoire.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8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Allocation(nom_tab, </a:t>
            </a:r>
            <a:r>
              <a:rPr sz="2800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nombre_elt_tab,</a:t>
            </a:r>
            <a:r>
              <a:rPr sz="2800" i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type_des_elts)</a:t>
            </a:r>
            <a:endParaRPr sz="2800" dirty="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73709" algn="l"/>
                <a:tab pos="474345" algn="l"/>
                <a:tab pos="1529080" algn="l"/>
                <a:tab pos="2249805" algn="l"/>
                <a:tab pos="2990215" algn="l"/>
                <a:tab pos="4028440" algn="l"/>
                <a:tab pos="4690745" algn="l"/>
                <a:tab pos="5372100" algn="l"/>
                <a:tab pos="6584315" algn="l"/>
                <a:tab pos="7047865" algn="l"/>
                <a:tab pos="8341359" algn="l"/>
                <a:tab pos="10107295" algn="l"/>
              </a:tabLst>
            </a:pPr>
            <a:r>
              <a:rPr lang="fr-FR" sz="2800" dirty="0">
                <a:latin typeface="Times New Roman"/>
                <a:cs typeface="Times New Roman"/>
              </a:rPr>
              <a:t>  </a:t>
            </a:r>
            <a:r>
              <a:rPr sz="2800" dirty="0" err="1">
                <a:latin typeface="Times New Roman"/>
                <a:cs typeface="Times New Roman"/>
              </a:rPr>
              <a:t>N</a:t>
            </a:r>
            <a:r>
              <a:rPr sz="2800" spc="-5" dirty="0" err="1">
                <a:latin typeface="Times New Roman"/>
                <a:cs typeface="Times New Roman"/>
              </a:rPr>
              <a:t>o</a:t>
            </a:r>
            <a:r>
              <a:rPr sz="2800" spc="-10" dirty="0" err="1">
                <a:latin typeface="Times New Roman"/>
                <a:cs typeface="Times New Roman"/>
              </a:rPr>
              <a:t>t</a:t>
            </a:r>
            <a:r>
              <a:rPr sz="2800" spc="-5" dirty="0" err="1">
                <a:latin typeface="Times New Roman"/>
                <a:cs typeface="Times New Roman"/>
              </a:rPr>
              <a:t>e</a:t>
            </a:r>
            <a:r>
              <a:rPr lang="en-US" sz="2800" dirty="0" err="1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q</a:t>
            </a:r>
            <a:r>
              <a:rPr sz="2800" dirty="0">
                <a:latin typeface="Times New Roman"/>
                <a:cs typeface="Times New Roman"/>
              </a:rPr>
              <a:t>ue	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dirty="0">
                <a:latin typeface="Times New Roman"/>
                <a:cs typeface="Times New Roman"/>
              </a:rPr>
              <a:t>t	qu</a:t>
            </a:r>
            <a:r>
              <a:rPr sz="2800" spc="-5" dirty="0">
                <a:latin typeface="Times New Roman"/>
                <a:cs typeface="Times New Roman"/>
              </a:rPr>
              <a:t>’o</a:t>
            </a:r>
            <a:r>
              <a:rPr sz="2800" dirty="0">
                <a:latin typeface="Times New Roman"/>
                <a:cs typeface="Times New Roman"/>
              </a:rPr>
              <a:t>n	n</a:t>
            </a:r>
            <a:r>
              <a:rPr sz="2800" spc="-5" dirty="0">
                <a:latin typeface="Times New Roman"/>
                <a:cs typeface="Times New Roman"/>
              </a:rPr>
              <a:t>’</a:t>
            </a:r>
            <a:r>
              <a:rPr sz="2800" dirty="0">
                <a:latin typeface="Times New Roman"/>
                <a:cs typeface="Times New Roman"/>
              </a:rPr>
              <a:t>a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s	p</a:t>
            </a:r>
            <a:r>
              <a:rPr sz="2800" spc="-5" dirty="0">
                <a:latin typeface="Times New Roman"/>
                <a:cs typeface="Times New Roman"/>
              </a:rPr>
              <a:t>ré</a:t>
            </a:r>
            <a:r>
              <a:rPr sz="2800" spc="-10" dirty="0">
                <a:latin typeface="Times New Roman"/>
                <a:cs typeface="Times New Roman"/>
              </a:rPr>
              <a:t>ci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é	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e	n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spc="-10" dirty="0">
                <a:latin typeface="Times New Roman"/>
                <a:cs typeface="Times New Roman"/>
              </a:rPr>
              <a:t>m</a:t>
            </a:r>
            <a:r>
              <a:rPr sz="2800" dirty="0">
                <a:latin typeface="Times New Roman"/>
                <a:cs typeface="Times New Roman"/>
              </a:rPr>
              <a:t>bre	d’</a:t>
            </a:r>
            <a:r>
              <a:rPr sz="2800" spc="-10" dirty="0">
                <a:latin typeface="Times New Roman"/>
                <a:cs typeface="Times New Roman"/>
              </a:rPr>
              <a:t>élé</a:t>
            </a:r>
            <a:r>
              <a:rPr sz="2800" spc="-5" dirty="0">
                <a:latin typeface="Times New Roman"/>
                <a:cs typeface="Times New Roman"/>
              </a:rPr>
              <a:t>m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s	d</a:t>
            </a:r>
            <a:r>
              <a:rPr sz="2800" spc="-5" dirty="0">
                <a:latin typeface="Times New Roman"/>
                <a:cs typeface="Times New Roman"/>
              </a:rPr>
              <a:t>’</a:t>
            </a:r>
            <a:r>
              <a:rPr sz="2800" dirty="0">
                <a:latin typeface="Times New Roman"/>
                <a:cs typeface="Times New Roman"/>
              </a:rPr>
              <a:t>un  </a:t>
            </a:r>
            <a:r>
              <a:rPr sz="2800" spc="-5" dirty="0">
                <a:latin typeface="Times New Roman"/>
                <a:cs typeface="Times New Roman"/>
              </a:rPr>
              <a:t>tableau, </a:t>
            </a:r>
            <a:r>
              <a:rPr sz="2800" dirty="0">
                <a:latin typeface="Times New Roman"/>
                <a:cs typeface="Times New Roman"/>
              </a:rPr>
              <a:t>d’une </a:t>
            </a:r>
            <a:r>
              <a:rPr sz="2800" spc="-5" dirty="0">
                <a:latin typeface="Times New Roman"/>
                <a:cs typeface="Times New Roman"/>
              </a:rPr>
              <a:t>manière </a:t>
            </a:r>
            <a:r>
              <a:rPr sz="2800" dirty="0">
                <a:latin typeface="Times New Roman"/>
                <a:cs typeface="Times New Roman"/>
              </a:rPr>
              <a:t>ou d’une </a:t>
            </a:r>
            <a:r>
              <a:rPr sz="2800" spc="-5" dirty="0">
                <a:latin typeface="Times New Roman"/>
                <a:cs typeface="Times New Roman"/>
              </a:rPr>
              <a:t>autre, ce tableau est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inutilisable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13335" marR="6350" indent="-63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73709" algn="l"/>
                <a:tab pos="474345" algn="l"/>
              </a:tabLst>
            </a:pPr>
            <a:r>
              <a:rPr lang="fr-FR" sz="280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Il </a:t>
            </a:r>
            <a:r>
              <a:rPr sz="2800" spc="-5" dirty="0">
                <a:latin typeface="Times New Roman"/>
                <a:cs typeface="Times New Roman"/>
              </a:rPr>
              <a:t>ne faut pas oublier de libérer le </a:t>
            </a:r>
            <a:r>
              <a:rPr sz="2800" spc="-10" dirty="0">
                <a:latin typeface="Times New Roman"/>
                <a:cs typeface="Times New Roman"/>
              </a:rPr>
              <a:t>tableau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5" dirty="0">
                <a:latin typeface="Times New Roman"/>
                <a:cs typeface="Times New Roman"/>
              </a:rPr>
              <a:t>la fin de son </a:t>
            </a:r>
            <a:r>
              <a:rPr sz="2800" spc="-10" dirty="0">
                <a:latin typeface="Times New Roman"/>
                <a:cs typeface="Times New Roman"/>
              </a:rPr>
              <a:t>utilisation </a:t>
            </a:r>
            <a:r>
              <a:rPr sz="2800" spc="-5" dirty="0">
                <a:latin typeface="Times New Roman"/>
                <a:cs typeface="Times New Roman"/>
              </a:rPr>
              <a:t>avec  l’instruction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</a:p>
          <a:p>
            <a:pPr marL="901065">
              <a:lnSpc>
                <a:spcPct val="100000"/>
              </a:lnSpc>
            </a:pPr>
            <a:r>
              <a:rPr sz="2800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Libère(nom_tab)</a:t>
            </a:r>
            <a:endParaRPr sz="2800" dirty="0">
              <a:latin typeface="Times New Roman"/>
              <a:cs typeface="Times New Roman"/>
            </a:endParaRPr>
          </a:p>
          <a:p>
            <a:pPr marL="13335" marR="5080" indent="-1270" algn="just">
              <a:lnSpc>
                <a:spcPct val="100000"/>
              </a:lnSpc>
              <a:buFont typeface="Wingdings"/>
              <a:buChar char=""/>
              <a:tabLst>
                <a:tab pos="473709" algn="l"/>
                <a:tab pos="474345" algn="l"/>
                <a:tab pos="1021080" algn="l"/>
                <a:tab pos="1348105" algn="l"/>
                <a:tab pos="1654175" algn="l"/>
                <a:tab pos="2335530" algn="l"/>
                <a:tab pos="2819400" algn="l"/>
                <a:tab pos="4092575" algn="l"/>
                <a:tab pos="4577080" algn="l"/>
                <a:tab pos="5523865" algn="l"/>
                <a:tab pos="6028690" algn="l"/>
                <a:tab pos="6730365" algn="l"/>
                <a:tab pos="7806690" algn="l"/>
                <a:tab pos="9062085" algn="l"/>
                <a:tab pos="10167620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Si on souhaite changer la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 err="1">
                <a:latin typeface="Times New Roman"/>
                <a:cs typeface="Times New Roman"/>
              </a:rPr>
              <a:t>t</a:t>
            </a:r>
            <a:r>
              <a:rPr sz="2800" spc="-5" dirty="0" err="1">
                <a:latin typeface="Times New Roman"/>
                <a:cs typeface="Times New Roman"/>
              </a:rPr>
              <a:t>a</a:t>
            </a:r>
            <a:r>
              <a:rPr sz="2800" spc="-10" dirty="0" err="1">
                <a:latin typeface="Times New Roman"/>
                <a:cs typeface="Times New Roman"/>
              </a:rPr>
              <a:t>ille</a:t>
            </a:r>
            <a:r>
              <a:rPr lang="fr-FR" sz="2800" spc="-10" dirty="0">
                <a:latin typeface="Times New Roman"/>
                <a:cs typeface="Times New Roman"/>
              </a:rPr>
              <a:t> du tableau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dirty="0" err="1">
                <a:latin typeface="Times New Roman"/>
                <a:cs typeface="Times New Roman"/>
              </a:rPr>
              <a:t>d</a:t>
            </a:r>
            <a:r>
              <a:rPr sz="2800" spc="-5" dirty="0" err="1">
                <a:latin typeface="Times New Roman"/>
                <a:cs typeface="Times New Roman"/>
              </a:rPr>
              <a:t>o</a:t>
            </a:r>
            <a:r>
              <a:rPr sz="2800" spc="-10" dirty="0" err="1">
                <a:latin typeface="Times New Roman"/>
                <a:cs typeface="Times New Roman"/>
              </a:rPr>
              <a:t>i</a:t>
            </a:r>
            <a:r>
              <a:rPr sz="2800" dirty="0" err="1">
                <a:latin typeface="Times New Roman"/>
                <a:cs typeface="Times New Roman"/>
              </a:rPr>
              <a:t>t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10" dirty="0" err="1">
                <a:latin typeface="Times New Roman"/>
                <a:cs typeface="Times New Roman"/>
              </a:rPr>
              <a:t>l</a:t>
            </a:r>
            <a:r>
              <a:rPr sz="2800" dirty="0" err="1">
                <a:latin typeface="Times New Roman"/>
                <a:cs typeface="Times New Roman"/>
              </a:rPr>
              <a:t>i</a:t>
            </a:r>
            <a:r>
              <a:rPr sz="2800" spc="-5" dirty="0" err="1">
                <a:latin typeface="Times New Roman"/>
                <a:cs typeface="Times New Roman"/>
              </a:rPr>
              <a:t>bére</a:t>
            </a:r>
            <a:r>
              <a:rPr sz="2800" dirty="0" err="1">
                <a:latin typeface="Times New Roman"/>
                <a:cs typeface="Times New Roman"/>
              </a:rPr>
              <a:t>r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10" dirty="0" err="1">
                <a:latin typeface="Times New Roman"/>
                <a:cs typeface="Times New Roman"/>
              </a:rPr>
              <a:t>l</a:t>
            </a:r>
            <a:r>
              <a:rPr sz="2800" spc="-15" dirty="0" err="1">
                <a:latin typeface="Times New Roman"/>
                <a:cs typeface="Times New Roman"/>
              </a:rPr>
              <a:t>'</a:t>
            </a:r>
            <a:r>
              <a:rPr sz="2800" spc="-10" dirty="0" err="1">
                <a:latin typeface="Times New Roman"/>
                <a:cs typeface="Times New Roman"/>
              </a:rPr>
              <a:t>e</a:t>
            </a:r>
            <a:r>
              <a:rPr sz="2800" dirty="0" err="1">
                <a:latin typeface="Times New Roman"/>
                <a:cs typeface="Times New Roman"/>
              </a:rPr>
              <a:t>s</a:t>
            </a:r>
            <a:r>
              <a:rPr sz="2800" spc="-5" dirty="0" err="1">
                <a:latin typeface="Times New Roman"/>
                <a:cs typeface="Times New Roman"/>
              </a:rPr>
              <a:t>p</a:t>
            </a:r>
            <a:r>
              <a:rPr sz="2800" spc="-10" dirty="0" err="1">
                <a:latin typeface="Times New Roman"/>
                <a:cs typeface="Times New Roman"/>
              </a:rPr>
              <a:t>ac</a:t>
            </a:r>
            <a:r>
              <a:rPr sz="2800" dirty="0" err="1">
                <a:latin typeface="Times New Roman"/>
                <a:cs typeface="Times New Roman"/>
              </a:rPr>
              <a:t>e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a</a:t>
            </a:r>
            <a:r>
              <a:rPr sz="2800" spc="-10" dirty="0" err="1">
                <a:latin typeface="Times New Roman"/>
                <a:cs typeface="Times New Roman"/>
              </a:rPr>
              <a:t>ll</a:t>
            </a:r>
            <a:r>
              <a:rPr sz="2800" dirty="0" err="1">
                <a:latin typeface="Times New Roman"/>
                <a:cs typeface="Times New Roman"/>
              </a:rPr>
              <a:t>o</a:t>
            </a:r>
            <a:r>
              <a:rPr sz="2800" spc="-5" dirty="0" err="1">
                <a:latin typeface="Times New Roman"/>
                <a:cs typeface="Times New Roman"/>
              </a:rPr>
              <a:t>ué</a:t>
            </a:r>
            <a:r>
              <a:rPr sz="2800" dirty="0">
                <a:latin typeface="Times New Roman"/>
                <a:cs typeface="Times New Roman"/>
              </a:rPr>
              <a:t>,	p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spc="-10" dirty="0">
                <a:latin typeface="Times New Roman"/>
                <a:cs typeface="Times New Roman"/>
              </a:rPr>
              <a:t>is  </a:t>
            </a:r>
            <a:r>
              <a:rPr sz="2800" spc="-5" dirty="0">
                <a:latin typeface="Times New Roman"/>
                <a:cs typeface="Times New Roman"/>
              </a:rPr>
              <a:t>réallouer l'espace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souhaité.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</a:t>
            </a:r>
            <a:r>
              <a:rPr sz="2600" spc="-10" dirty="0">
                <a:solidFill>
                  <a:srgbClr val="FFFFFF"/>
                </a:solidFill>
              </a:rPr>
              <a:t>Structure </a:t>
            </a:r>
            <a:r>
              <a:rPr sz="2600" spc="-5" dirty="0">
                <a:solidFill>
                  <a:srgbClr val="FFFFFF"/>
                </a:solidFill>
              </a:rPr>
              <a:t>de donnée « tableau</a:t>
            </a:r>
            <a:r>
              <a:rPr sz="2600" spc="4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»</a:t>
            </a:r>
            <a:endParaRPr sz="26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13</a:t>
            </a:fld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2471" y="1663878"/>
            <a:ext cx="1923929" cy="14721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</a:pPr>
            <a:r>
              <a:rPr sz="2800" b="1" spc="-5">
                <a:solidFill>
                  <a:srgbClr val="C00000"/>
                </a:solidFill>
                <a:latin typeface="Times New Roman"/>
                <a:cs typeface="Times New Roman"/>
              </a:rPr>
              <a:t>Exemple:</a:t>
            </a:r>
            <a:endParaRPr lang="fr-FR" sz="2800" b="1" spc="-5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</a:pPr>
            <a:r>
              <a:rPr lang="fr-FR"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 Dynamique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7114" y="609600"/>
            <a:ext cx="5762486" cy="17177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200" b="1" spc="-25" dirty="0">
                <a:latin typeface="Times New Roman"/>
                <a:cs typeface="Times New Roman"/>
              </a:rPr>
              <a:t>Algorithme </a:t>
            </a:r>
            <a:r>
              <a:rPr lang="fr-FR" sz="2200" i="1" spc="-25" dirty="0" err="1">
                <a:latin typeface="Times New Roman"/>
                <a:cs typeface="Times New Roman"/>
              </a:rPr>
              <a:t>moyenneNotes</a:t>
            </a:r>
            <a:endParaRPr lang="fr-FR" sz="2200" i="1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5" dirty="0">
                <a:latin typeface="Times New Roman"/>
                <a:cs typeface="Times New Roman"/>
              </a:rPr>
              <a:t>Variables: </a:t>
            </a:r>
            <a:r>
              <a:rPr sz="2200" spc="-5" dirty="0">
                <a:latin typeface="Times New Roman"/>
                <a:cs typeface="Times New Roman"/>
              </a:rPr>
              <a:t>nbEtds, i :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Entier</a:t>
            </a:r>
            <a:endParaRPr sz="2200" dirty="0">
              <a:latin typeface="Times New Roman"/>
              <a:cs typeface="Times New Roman"/>
            </a:endParaRPr>
          </a:p>
          <a:p>
            <a:pPr marL="1149985">
              <a:lnSpc>
                <a:spcPct val="100000"/>
              </a:lnSpc>
            </a:pPr>
            <a:r>
              <a:rPr sz="2200" spc="-25" dirty="0">
                <a:latin typeface="Times New Roman"/>
                <a:cs typeface="Times New Roman"/>
              </a:rPr>
              <a:t>Tableau </a:t>
            </a:r>
            <a:r>
              <a:rPr sz="2200" spc="-5" dirty="0">
                <a:latin typeface="Times New Roman"/>
                <a:cs typeface="Times New Roman"/>
              </a:rPr>
              <a:t>notes[], somme :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Réel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Times New Roman"/>
                <a:cs typeface="Times New Roman"/>
              </a:rPr>
              <a:t>Début</a:t>
            </a:r>
            <a:endParaRPr sz="22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somme ←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0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4365" y="2286000"/>
            <a:ext cx="7667435" cy="40876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4861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Ecrire(" </a:t>
            </a:r>
            <a:r>
              <a:rPr sz="2200" spc="-30" dirty="0">
                <a:latin typeface="Times New Roman"/>
                <a:cs typeface="Times New Roman"/>
              </a:rPr>
              <a:t>Veuillez </a:t>
            </a:r>
            <a:r>
              <a:rPr sz="2200" spc="-5" dirty="0">
                <a:latin typeface="Times New Roman"/>
                <a:cs typeface="Times New Roman"/>
              </a:rPr>
              <a:t>saisir le nombre d’étudiants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:")  </a:t>
            </a:r>
            <a:endParaRPr lang="fr-FR" sz="2200" spc="-5" dirty="0">
              <a:latin typeface="Times New Roman"/>
              <a:cs typeface="Times New Roman"/>
            </a:endParaRPr>
          </a:p>
          <a:p>
            <a:pPr marL="12700" marR="34861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Lire(</a:t>
            </a:r>
            <a:r>
              <a:rPr sz="2200" spc="-5" dirty="0" err="1">
                <a:latin typeface="Times New Roman"/>
                <a:cs typeface="Times New Roman"/>
              </a:rPr>
              <a:t>nbEtds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endParaRPr sz="2200" dirty="0">
              <a:latin typeface="Times New Roman"/>
              <a:cs typeface="Times New Roman"/>
            </a:endParaRPr>
          </a:p>
          <a:p>
            <a:pPr marL="12700" marR="862965">
              <a:lnSpc>
                <a:spcPct val="100000"/>
              </a:lnSpc>
            </a:pPr>
            <a:r>
              <a:rPr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/</a:t>
            </a:r>
            <a:r>
              <a:rPr lang="fr-FR"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/</a:t>
            </a:r>
            <a:r>
              <a:rPr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200" spc="-5" dirty="0" err="1">
                <a:solidFill>
                  <a:srgbClr val="00B050"/>
                </a:solidFill>
                <a:latin typeface="Times New Roman"/>
                <a:cs typeface="Times New Roman"/>
              </a:rPr>
              <a:t>allouer</a:t>
            </a:r>
            <a:r>
              <a:rPr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200" spc="-5" dirty="0" err="1">
                <a:solidFill>
                  <a:srgbClr val="00B050"/>
                </a:solidFill>
                <a:latin typeface="Times New Roman"/>
                <a:cs typeface="Times New Roman"/>
              </a:rPr>
              <a:t>nbEtds</a:t>
            </a:r>
            <a:r>
              <a:rPr lang="en-US"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lang="fr-FR"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:</a:t>
            </a:r>
            <a:r>
              <a:rPr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200" spc="-5" dirty="0" err="1">
                <a:solidFill>
                  <a:srgbClr val="00B050"/>
                </a:solidFill>
                <a:latin typeface="Times New Roman"/>
                <a:cs typeface="Times New Roman"/>
              </a:rPr>
              <a:t>nombre</a:t>
            </a:r>
            <a:r>
              <a:rPr lang="en-US"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lang="en-US" sz="2200" spc="-5" dirty="0" err="1">
                <a:solidFill>
                  <a:srgbClr val="00B050"/>
                </a:solidFill>
                <a:latin typeface="Times New Roman"/>
                <a:cs typeface="Times New Roman"/>
              </a:rPr>
              <a:t>d’élémnents</a:t>
            </a:r>
            <a:r>
              <a:rPr lang="en-US"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lang="en-US" sz="2200" spc="-5">
                <a:solidFill>
                  <a:srgbClr val="00B050"/>
                </a:solidFill>
                <a:latin typeface="Times New Roman"/>
                <a:cs typeface="Times New Roman"/>
              </a:rPr>
              <a:t>du tableau</a:t>
            </a:r>
            <a:endParaRPr lang="fr-FR" sz="2200" spc="-5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2700" marR="862965">
              <a:lnSpc>
                <a:spcPct val="100000"/>
              </a:lnSpc>
            </a:pPr>
            <a:r>
              <a:rPr sz="2200" spc="-5" dirty="0">
                <a:solidFill>
                  <a:srgbClr val="0070C0"/>
                </a:solidFill>
                <a:latin typeface="Times New Roman"/>
                <a:cs typeface="Times New Roman"/>
              </a:rPr>
              <a:t>Allocation(notes,</a:t>
            </a:r>
            <a:r>
              <a:rPr sz="2200" spc="-2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200" spc="-5" dirty="0" err="1">
                <a:solidFill>
                  <a:srgbClr val="0070C0"/>
                </a:solidFill>
                <a:latin typeface="Times New Roman"/>
                <a:cs typeface="Times New Roman"/>
              </a:rPr>
              <a:t>nbEtds</a:t>
            </a:r>
            <a:r>
              <a:rPr sz="2200" spc="-5" dirty="0">
                <a:solidFill>
                  <a:srgbClr val="0070C0"/>
                </a:solidFill>
                <a:latin typeface="Times New Roman"/>
                <a:cs typeface="Times New Roman"/>
              </a:rPr>
              <a:t>,</a:t>
            </a:r>
            <a:r>
              <a:rPr lang="fr-FR" sz="2200" spc="-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200" spc="-5" dirty="0" err="1">
                <a:solidFill>
                  <a:srgbClr val="0070C0"/>
                </a:solidFill>
                <a:latin typeface="Times New Roman"/>
                <a:cs typeface="Times New Roman"/>
              </a:rPr>
              <a:t>réel</a:t>
            </a:r>
            <a:r>
              <a:rPr sz="2200" spc="-5" dirty="0">
                <a:solidFill>
                  <a:srgbClr val="0070C0"/>
                </a:solidFill>
                <a:latin typeface="Times New Roman"/>
                <a:cs typeface="Times New Roman"/>
              </a:rPr>
              <a:t>)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Times New Roman"/>
                <a:cs typeface="Times New Roman"/>
              </a:rPr>
              <a:t>Pour </a:t>
            </a:r>
            <a:r>
              <a:rPr sz="2200" spc="-5" dirty="0">
                <a:latin typeface="Times New Roman"/>
                <a:cs typeface="Times New Roman"/>
              </a:rPr>
              <a:t>i ←0 à nbEtds-1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faire</a:t>
            </a:r>
            <a:endParaRPr sz="2200" dirty="0">
              <a:latin typeface="Times New Roman"/>
              <a:cs typeface="Times New Roman"/>
            </a:endParaRPr>
          </a:p>
          <a:p>
            <a:pPr marL="469900" marR="508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écrire("Note de l’étudiant numero ",i+1,"est :")  </a:t>
            </a:r>
            <a:endParaRPr lang="fr-FR" sz="2200" spc="-5" dirty="0">
              <a:latin typeface="Times New Roman"/>
              <a:cs typeface="Times New Roman"/>
            </a:endParaRPr>
          </a:p>
          <a:p>
            <a:pPr marL="469900" marR="508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lire(notes[i])</a:t>
            </a:r>
            <a:endParaRPr lang="fr-FR" sz="2200" spc="-5" dirty="0">
              <a:latin typeface="Times New Roman"/>
              <a:cs typeface="Times New Roman"/>
            </a:endParaRPr>
          </a:p>
          <a:p>
            <a:pPr marL="469900" marR="5080">
              <a:lnSpc>
                <a:spcPct val="100000"/>
              </a:lnSpc>
            </a:pPr>
            <a:r>
              <a:rPr lang="fr-FR" sz="2200" spc="-5" dirty="0">
                <a:latin typeface="Times New Roman"/>
                <a:cs typeface="Times New Roman"/>
              </a:rPr>
              <a:t>somme ← somme +</a:t>
            </a:r>
            <a:r>
              <a:rPr lang="fr-FR" sz="2200" spc="-70" dirty="0">
                <a:latin typeface="Times New Roman"/>
                <a:cs typeface="Times New Roman"/>
              </a:rPr>
              <a:t> </a:t>
            </a:r>
            <a:r>
              <a:rPr lang="fr-FR" sz="2200" spc="-5" dirty="0">
                <a:latin typeface="Times New Roman"/>
                <a:cs typeface="Times New Roman"/>
              </a:rPr>
              <a:t>notes[i]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Times New Roman"/>
                <a:cs typeface="Times New Roman"/>
              </a:rPr>
              <a:t>FinPour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 err="1">
                <a:latin typeface="Times New Roman"/>
                <a:cs typeface="Times New Roman"/>
              </a:rPr>
              <a:t>écrire</a:t>
            </a:r>
            <a:r>
              <a:rPr sz="2200" spc="-5" dirty="0">
                <a:latin typeface="Times New Roman"/>
                <a:cs typeface="Times New Roman"/>
              </a:rPr>
              <a:t>("La moyenne des notes :",</a:t>
            </a:r>
            <a:r>
              <a:rPr lang="en-US" sz="2200" spc="-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somme/</a:t>
            </a:r>
            <a:r>
              <a:rPr sz="2200" spc="-5" dirty="0" err="1">
                <a:latin typeface="Times New Roman"/>
                <a:cs typeface="Times New Roman"/>
              </a:rPr>
              <a:t>nbEtds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endParaRPr sz="2200" dirty="0">
              <a:latin typeface="Times New Roman"/>
              <a:cs typeface="Times New Roman"/>
            </a:endParaRPr>
          </a:p>
          <a:p>
            <a:pPr marL="12700" marR="2413635">
              <a:lnSpc>
                <a:spcPct val="100000"/>
              </a:lnSpc>
            </a:pPr>
            <a:r>
              <a:rPr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/</a:t>
            </a:r>
            <a:r>
              <a:rPr lang="fr-FR"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/</a:t>
            </a:r>
            <a:r>
              <a:rPr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200" spc="-5" dirty="0" err="1">
                <a:solidFill>
                  <a:srgbClr val="00B050"/>
                </a:solidFill>
                <a:latin typeface="Times New Roman"/>
                <a:cs typeface="Times New Roman"/>
              </a:rPr>
              <a:t>libérer</a:t>
            </a:r>
            <a:r>
              <a:rPr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lang="fr-FR"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la mémoire allouée au</a:t>
            </a:r>
            <a:r>
              <a:rPr sz="2200" spc="-5" dirty="0">
                <a:solidFill>
                  <a:srgbClr val="00B050"/>
                </a:solidFill>
                <a:latin typeface="Times New Roman"/>
                <a:cs typeface="Times New Roman"/>
              </a:rPr>
              <a:t> tableau notes</a:t>
            </a:r>
            <a:r>
              <a:rPr lang="fr-FR" sz="2200" spc="-7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lang="fr-FR" sz="2200" spc="-5" dirty="0">
                <a:solidFill>
                  <a:srgbClr val="0070C0"/>
                </a:solidFill>
                <a:latin typeface="Times New Roman"/>
                <a:cs typeface="Times New Roman"/>
              </a:rPr>
              <a:t>L</a:t>
            </a:r>
            <a:r>
              <a:rPr sz="2200" spc="-5" dirty="0" err="1">
                <a:solidFill>
                  <a:srgbClr val="0070C0"/>
                </a:solidFill>
                <a:latin typeface="Times New Roman"/>
                <a:cs typeface="Times New Roman"/>
              </a:rPr>
              <a:t>ibère</a:t>
            </a:r>
            <a:r>
              <a:rPr sz="2200" spc="-5" dirty="0">
                <a:solidFill>
                  <a:srgbClr val="0070C0"/>
                </a:solidFill>
                <a:latin typeface="Times New Roman"/>
                <a:cs typeface="Times New Roman"/>
              </a:rPr>
              <a:t>(notes)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84600" y="6248400"/>
            <a:ext cx="39243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Times New Roman"/>
                <a:cs typeface="Times New Roman"/>
              </a:rPr>
              <a:t>F</a:t>
            </a:r>
            <a:r>
              <a:rPr sz="2000" b="1" spc="-5" dirty="0">
                <a:latin typeface="Times New Roman"/>
                <a:cs typeface="Times New Roman"/>
              </a:rPr>
              <a:t>in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de donnée « tableau</a:t>
            </a:r>
            <a:r>
              <a:rPr sz="26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»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14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65347" y="1640722"/>
            <a:ext cx="10200005" cy="3529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Exercice </a:t>
            </a:r>
            <a:r>
              <a:rPr sz="2800" b="1" dirty="0" err="1">
                <a:solidFill>
                  <a:srgbClr val="C00000"/>
                </a:solidFill>
                <a:latin typeface="Times New Roman"/>
                <a:cs typeface="Times New Roman"/>
              </a:rPr>
              <a:t>d’application</a:t>
            </a:r>
            <a:r>
              <a:rPr sz="2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fr-FR" sz="2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2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  <a:p>
            <a:pPr marL="655320" marR="5080">
              <a:lnSpc>
                <a:spcPct val="150000"/>
              </a:lnSpc>
              <a:spcBef>
                <a:spcPts val="2675"/>
              </a:spcBef>
              <a:spcAft>
                <a:spcPts val="1200"/>
              </a:spcAft>
              <a:buAutoNum type="arabicPeriod"/>
              <a:tabLst>
                <a:tab pos="1083945" algn="l"/>
                <a:tab pos="1084580" algn="l"/>
                <a:tab pos="2328545" algn="l"/>
                <a:tab pos="2846070" algn="l"/>
                <a:tab pos="4545330" algn="l"/>
                <a:tab pos="5160645" algn="l"/>
                <a:tab pos="6308725" algn="l"/>
                <a:tab pos="6626859" algn="l"/>
                <a:tab pos="8425180" algn="l"/>
                <a:tab pos="8922385" algn="l"/>
                <a:tab pos="9831705" algn="l"/>
              </a:tabLst>
            </a:pPr>
            <a:r>
              <a:rPr lang="fr-FR" sz="2800" spc="-10" dirty="0">
                <a:latin typeface="Times New Roman"/>
                <a:cs typeface="Times New Roman"/>
              </a:rPr>
              <a:t>  </a:t>
            </a:r>
            <a:r>
              <a:rPr sz="2800" spc="-10" dirty="0" err="1">
                <a:latin typeface="Times New Roman"/>
                <a:cs typeface="Times New Roman"/>
              </a:rPr>
              <a:t>E</a:t>
            </a:r>
            <a:r>
              <a:rPr sz="2800" spc="-5" dirty="0" err="1">
                <a:latin typeface="Times New Roman"/>
                <a:cs typeface="Times New Roman"/>
              </a:rPr>
              <a:t>c</a:t>
            </a:r>
            <a:r>
              <a:rPr sz="2800" dirty="0" err="1">
                <a:latin typeface="Times New Roman"/>
                <a:cs typeface="Times New Roman"/>
              </a:rPr>
              <a:t>r</a:t>
            </a:r>
            <a:r>
              <a:rPr sz="2800" spc="-10" dirty="0" err="1">
                <a:latin typeface="Times New Roman"/>
                <a:cs typeface="Times New Roman"/>
              </a:rPr>
              <a:t>i</a:t>
            </a:r>
            <a:r>
              <a:rPr lang="en-US" sz="2800" spc="-5" dirty="0" err="1">
                <a:latin typeface="Times New Roman"/>
                <a:cs typeface="Times New Roman"/>
              </a:rPr>
              <a:t>re</a:t>
            </a:r>
            <a:r>
              <a:rPr sz="2800" dirty="0">
                <a:latin typeface="Times New Roman"/>
                <a:cs typeface="Times New Roman"/>
              </a:rPr>
              <a:t>	un	</a:t>
            </a:r>
            <a:r>
              <a:rPr sz="2800" spc="-10" dirty="0" err="1">
                <a:latin typeface="Times New Roman"/>
                <a:cs typeface="Times New Roman"/>
              </a:rPr>
              <a:t>al</a:t>
            </a:r>
            <a:r>
              <a:rPr sz="2800" dirty="0" err="1">
                <a:latin typeface="Times New Roman"/>
                <a:cs typeface="Times New Roman"/>
              </a:rPr>
              <a:t>g</a:t>
            </a:r>
            <a:r>
              <a:rPr sz="2800" spc="-5" dirty="0" err="1">
                <a:latin typeface="Times New Roman"/>
                <a:cs typeface="Times New Roman"/>
              </a:rPr>
              <a:t>o</a:t>
            </a:r>
            <a:r>
              <a:rPr sz="2800" dirty="0" err="1">
                <a:latin typeface="Times New Roman"/>
                <a:cs typeface="Times New Roman"/>
              </a:rPr>
              <a:t>ri</a:t>
            </a:r>
            <a:r>
              <a:rPr sz="2800" spc="-10" dirty="0" err="1">
                <a:latin typeface="Times New Roman"/>
                <a:cs typeface="Times New Roman"/>
              </a:rPr>
              <a:t>t</a:t>
            </a:r>
            <a:r>
              <a:rPr sz="2800" spc="-5" dirty="0" err="1">
                <a:latin typeface="Times New Roman"/>
                <a:cs typeface="Times New Roman"/>
              </a:rPr>
              <a:t>h</a:t>
            </a:r>
            <a:r>
              <a:rPr sz="2800" spc="-10" dirty="0" err="1">
                <a:latin typeface="Times New Roman"/>
                <a:cs typeface="Times New Roman"/>
              </a:rPr>
              <a:t>m</a:t>
            </a:r>
            <a:r>
              <a:rPr sz="2800" dirty="0" err="1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q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i	</a:t>
            </a:r>
            <a:r>
              <a:rPr sz="2800" spc="-5" dirty="0">
                <a:latin typeface="Times New Roman"/>
                <a:cs typeface="Times New Roman"/>
              </a:rPr>
              <a:t>pe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m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t	à	l’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10" dirty="0">
                <a:latin typeface="Times New Roman"/>
                <a:cs typeface="Times New Roman"/>
              </a:rPr>
              <a:t>li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-10" dirty="0">
                <a:latin typeface="Times New Roman"/>
                <a:cs typeface="Times New Roman"/>
              </a:rPr>
              <a:t>at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ur	de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10" dirty="0">
                <a:latin typeface="Times New Roman"/>
                <a:cs typeface="Times New Roman"/>
              </a:rPr>
              <a:t>si</a:t>
            </a:r>
            <a:r>
              <a:rPr sz="2800" dirty="0">
                <a:latin typeface="Times New Roman"/>
                <a:cs typeface="Times New Roman"/>
              </a:rPr>
              <a:t>r	</a:t>
            </a:r>
            <a:r>
              <a:rPr sz="2800" spc="-5" dirty="0">
                <a:latin typeface="Times New Roman"/>
                <a:cs typeface="Times New Roman"/>
              </a:rPr>
              <a:t>un  tableau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>
                <a:latin typeface="Times New Roman"/>
                <a:cs typeface="Times New Roman"/>
              </a:rPr>
              <a:t>taille </a:t>
            </a:r>
            <a:r>
              <a:rPr sz="2800" dirty="0">
                <a:latin typeface="Times New Roman"/>
                <a:cs typeface="Times New Roman"/>
              </a:rPr>
              <a:t>n </a:t>
            </a:r>
            <a:r>
              <a:rPr sz="2800" spc="-5" dirty="0">
                <a:latin typeface="Times New Roman"/>
                <a:cs typeface="Times New Roman"/>
              </a:rPr>
              <a:t>et </a:t>
            </a:r>
            <a:r>
              <a:rPr sz="2800" spc="-10" dirty="0">
                <a:latin typeface="Times New Roman"/>
                <a:cs typeface="Times New Roman"/>
              </a:rPr>
              <a:t>d’afficher </a:t>
            </a:r>
            <a:r>
              <a:rPr sz="2800" dirty="0">
                <a:latin typeface="Times New Roman"/>
                <a:cs typeface="Times New Roman"/>
              </a:rPr>
              <a:t>le plus </a:t>
            </a:r>
            <a:r>
              <a:rPr sz="2800" spc="-5" dirty="0">
                <a:latin typeface="Times New Roman"/>
                <a:cs typeface="Times New Roman"/>
              </a:rPr>
              <a:t>grand élément </a:t>
            </a:r>
            <a:r>
              <a:rPr sz="2800" dirty="0">
                <a:latin typeface="Times New Roman"/>
                <a:cs typeface="Times New Roman"/>
              </a:rPr>
              <a:t>du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tableau.</a:t>
            </a:r>
            <a:endParaRPr sz="2800" dirty="0">
              <a:latin typeface="Times New Roman"/>
              <a:cs typeface="Times New Roman"/>
            </a:endParaRPr>
          </a:p>
          <a:p>
            <a:pPr marL="655320" marR="5715">
              <a:lnSpc>
                <a:spcPct val="150000"/>
              </a:lnSpc>
              <a:buAutoNum type="arabicPeriod"/>
              <a:tabLst>
                <a:tab pos="1029969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 dirty="0">
                <a:latin typeface="Times New Roman"/>
                <a:cs typeface="Times New Roman"/>
              </a:rPr>
              <a:t>Modifier l’algorithme précédent pour qu’il cherche le plus petit  élément </a:t>
            </a:r>
            <a:r>
              <a:rPr sz="2800" dirty="0">
                <a:latin typeface="Times New Roman"/>
                <a:cs typeface="Times New Roman"/>
              </a:rPr>
              <a:t>du </a:t>
            </a:r>
            <a:r>
              <a:rPr sz="2800" spc="-5" dirty="0">
                <a:latin typeface="Times New Roman"/>
                <a:cs typeface="Times New Roman"/>
              </a:rPr>
              <a:t>tableau et </a:t>
            </a:r>
            <a:r>
              <a:rPr sz="2800" spc="-10" dirty="0">
                <a:latin typeface="Times New Roman"/>
                <a:cs typeface="Times New Roman"/>
              </a:rPr>
              <a:t>affiche </a:t>
            </a:r>
            <a:r>
              <a:rPr sz="2800" dirty="0">
                <a:latin typeface="Times New Roman"/>
                <a:cs typeface="Times New Roman"/>
              </a:rPr>
              <a:t>son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indice.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56601" y="805860"/>
            <a:ext cx="693547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T</a:t>
            </a:r>
            <a:r>
              <a:rPr dirty="0"/>
              <a:t>ableaux </a:t>
            </a:r>
            <a:r>
              <a:rPr spc="-5" dirty="0"/>
              <a:t>unidimensionnels</a:t>
            </a:r>
            <a:r>
              <a:rPr spc="-10" dirty="0"/>
              <a:t> </a:t>
            </a:r>
            <a:r>
              <a:rPr spc="-5" dirty="0"/>
              <a:t>dynamique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</a:t>
            </a:r>
            <a:r>
              <a:rPr sz="2600" spc="-10" dirty="0">
                <a:solidFill>
                  <a:srgbClr val="FFFFFF"/>
                </a:solidFill>
              </a:rPr>
              <a:t>Structure </a:t>
            </a:r>
            <a:r>
              <a:rPr sz="2600" spc="-5" dirty="0">
                <a:solidFill>
                  <a:srgbClr val="FFFFFF"/>
                </a:solidFill>
              </a:rPr>
              <a:t>de donnée « tableau</a:t>
            </a:r>
            <a:r>
              <a:rPr sz="2600" spc="4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»</a:t>
            </a:r>
            <a:endParaRPr sz="26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15</a:t>
            </a:fld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3909" y="1163812"/>
            <a:ext cx="230949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Exercice 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d’application</a:t>
            </a:r>
            <a:r>
              <a:rPr sz="2800" b="1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3909" y="2443819"/>
            <a:ext cx="23050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Correction</a:t>
            </a:r>
            <a:r>
              <a:rPr sz="2800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(Q1)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5744" y="738994"/>
            <a:ext cx="4419456" cy="64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000" b="1" spc="-25" dirty="0">
                <a:latin typeface="Times New Roman"/>
                <a:cs typeface="Times New Roman"/>
              </a:rPr>
              <a:t>Algorithme </a:t>
            </a:r>
            <a:r>
              <a:rPr lang="fr-FR" sz="2000" spc="-25" dirty="0" err="1">
                <a:latin typeface="Times New Roman"/>
                <a:cs typeface="Times New Roman"/>
              </a:rPr>
              <a:t>Max_tableau</a:t>
            </a:r>
            <a:endParaRPr lang="fr-FR" sz="2000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>
                <a:latin typeface="Times New Roman"/>
                <a:cs typeface="Times New Roman"/>
              </a:rPr>
              <a:t>Variables</a:t>
            </a:r>
            <a:r>
              <a:rPr sz="2000" b="1" spc="-25" dirty="0">
                <a:latin typeface="Times New Roman"/>
                <a:cs typeface="Times New Roman"/>
              </a:rPr>
              <a:t>: </a:t>
            </a:r>
            <a:r>
              <a:rPr sz="2000" spc="-5" dirty="0">
                <a:latin typeface="Times New Roman"/>
                <a:cs typeface="Times New Roman"/>
              </a:rPr>
              <a:t>Max, nb</a:t>
            </a:r>
            <a:r>
              <a:rPr sz="2000" spc="-5">
                <a:latin typeface="Times New Roman"/>
                <a:cs typeface="Times New Roman"/>
              </a:rPr>
              <a:t>, i</a:t>
            </a:r>
            <a:r>
              <a:rPr lang="fr-FR" sz="2000" spc="-5" dirty="0">
                <a:latin typeface="Times New Roman"/>
                <a:cs typeface="Times New Roman"/>
              </a:rPr>
              <a:t>,</a:t>
            </a:r>
            <a:r>
              <a:rPr sz="2000" spc="-5">
                <a:latin typeface="Times New Roman"/>
                <a:cs typeface="Times New Roman"/>
              </a:rPr>
              <a:t> </a:t>
            </a:r>
            <a:r>
              <a:rPr lang="fr-FR" sz="2000" spc="-25" dirty="0">
                <a:latin typeface="Times New Roman"/>
                <a:cs typeface="Times New Roman"/>
              </a:rPr>
              <a:t>Tableau </a:t>
            </a:r>
            <a:r>
              <a:rPr lang="fr-FR" sz="2000" spc="-5" dirty="0">
                <a:latin typeface="Times New Roman"/>
                <a:cs typeface="Times New Roman"/>
              </a:rPr>
              <a:t>T[] </a:t>
            </a:r>
            <a:r>
              <a:rPr sz="2000" spc="-5">
                <a:latin typeface="Times New Roman"/>
                <a:cs typeface="Times New Roman"/>
              </a:rPr>
              <a:t>: Entier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5489" y="1348491"/>
            <a:ext cx="6878320" cy="5244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Début</a:t>
            </a:r>
            <a:endParaRPr sz="2000" dirty="0">
              <a:latin typeface="Times New Roman"/>
              <a:cs typeface="Times New Roman"/>
            </a:endParaRPr>
          </a:p>
          <a:p>
            <a:pPr marL="469900" marR="508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Ecrire("Veuillez </a:t>
            </a:r>
            <a:r>
              <a:rPr sz="2000" spc="-5" dirty="0">
                <a:latin typeface="Times New Roman"/>
                <a:cs typeface="Times New Roman"/>
              </a:rPr>
              <a:t>saisir le nombre d’élément de votre tableau: ")  Lire(nb)</a:t>
            </a:r>
            <a:endParaRPr sz="2000" dirty="0">
              <a:latin typeface="Times New Roman"/>
              <a:cs typeface="Times New Roman"/>
            </a:endParaRPr>
          </a:p>
          <a:p>
            <a:pPr marL="442595">
              <a:lnSpc>
                <a:spcPct val="100000"/>
              </a:lnSpc>
            </a:pPr>
            <a:r>
              <a:rPr sz="2000" b="1" spc="-15" dirty="0">
                <a:latin typeface="Times New Roman"/>
                <a:cs typeface="Times New Roman"/>
              </a:rPr>
              <a:t>Allocation</a:t>
            </a:r>
            <a:r>
              <a:rPr sz="2000" spc="-15" dirty="0">
                <a:latin typeface="Times New Roman"/>
                <a:cs typeface="Times New Roman"/>
              </a:rPr>
              <a:t>(T,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 err="1">
                <a:latin typeface="Times New Roman"/>
                <a:cs typeface="Times New Roman"/>
              </a:rPr>
              <a:t>nb</a:t>
            </a:r>
            <a:r>
              <a:rPr sz="2000" spc="-5" dirty="0">
                <a:latin typeface="Times New Roman"/>
                <a:cs typeface="Times New Roman"/>
              </a:rPr>
              <a:t>,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spc="-5" dirty="0" err="1">
                <a:latin typeface="Times New Roman"/>
                <a:cs typeface="Times New Roman"/>
              </a:rPr>
              <a:t>E</a:t>
            </a:r>
            <a:r>
              <a:rPr sz="2000" spc="-5" dirty="0" err="1">
                <a:latin typeface="Times New Roman"/>
                <a:cs typeface="Times New Roman"/>
              </a:rPr>
              <a:t>ntier</a:t>
            </a:r>
            <a:r>
              <a:rPr sz="2000" spc="-5" dirty="0"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Pour </a:t>
            </a:r>
            <a:r>
              <a:rPr sz="2000" spc="-5" dirty="0">
                <a:latin typeface="Times New Roman"/>
                <a:cs typeface="Times New Roman"/>
              </a:rPr>
              <a:t>i ←0 à </a:t>
            </a:r>
            <a:r>
              <a:rPr sz="2000" dirty="0">
                <a:latin typeface="Times New Roman"/>
                <a:cs typeface="Times New Roman"/>
              </a:rPr>
              <a:t>nb-1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faire</a:t>
            </a:r>
            <a:endParaRPr sz="2000" dirty="0">
              <a:latin typeface="Times New Roman"/>
              <a:cs typeface="Times New Roman"/>
            </a:endParaRPr>
          </a:p>
          <a:p>
            <a:pPr marL="927100" marR="1633855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Ecrire("Veuillez </a:t>
            </a:r>
            <a:r>
              <a:rPr sz="2000" spc="-5" dirty="0">
                <a:latin typeface="Times New Roman"/>
                <a:cs typeface="Times New Roman"/>
              </a:rPr>
              <a:t>saisir l’élément ",i+1, ":")  Lire(T[i])</a:t>
            </a:r>
            <a:endParaRPr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FinPour</a:t>
            </a:r>
            <a:endParaRPr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Max ←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T[0]</a:t>
            </a:r>
            <a:endParaRPr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Pour </a:t>
            </a:r>
            <a:r>
              <a:rPr sz="2000" spc="-5" dirty="0">
                <a:latin typeface="Times New Roman"/>
                <a:cs typeface="Times New Roman"/>
              </a:rPr>
              <a:t>i ←1 à </a:t>
            </a:r>
            <a:r>
              <a:rPr sz="2000" dirty="0">
                <a:latin typeface="Times New Roman"/>
                <a:cs typeface="Times New Roman"/>
              </a:rPr>
              <a:t>nb-1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faire</a:t>
            </a:r>
            <a:endParaRPr sz="20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Si </a:t>
            </a:r>
            <a:r>
              <a:rPr sz="2000" spc="-5" dirty="0">
                <a:latin typeface="Times New Roman"/>
                <a:cs typeface="Times New Roman"/>
              </a:rPr>
              <a:t>(T[i] &gt; Max)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Alors</a:t>
            </a:r>
            <a:endParaRPr sz="2000" dirty="0">
              <a:latin typeface="Times New Roman"/>
              <a:cs typeface="Times New Roman"/>
            </a:endParaRPr>
          </a:p>
          <a:p>
            <a:pPr marL="124396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Max ←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T[i]</a:t>
            </a:r>
            <a:endParaRPr sz="2000" dirty="0">
              <a:latin typeface="Times New Roman"/>
              <a:cs typeface="Times New Roman"/>
            </a:endParaRPr>
          </a:p>
          <a:p>
            <a:pPr marL="469900" marR="5365115" indent="457200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F</a:t>
            </a:r>
            <a:r>
              <a:rPr sz="2000" b="1" spc="-5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Si  </a:t>
            </a:r>
            <a:r>
              <a:rPr sz="2000" b="1" spc="-5" dirty="0">
                <a:latin typeface="Times New Roman"/>
                <a:cs typeface="Times New Roman"/>
              </a:rPr>
              <a:t>FinPour</a:t>
            </a:r>
            <a:endParaRPr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spc="-15" dirty="0">
                <a:latin typeface="Times New Roman"/>
                <a:cs typeface="Times New Roman"/>
              </a:rPr>
              <a:t>Ecrire("L’élément </a:t>
            </a:r>
            <a:r>
              <a:rPr sz="2000" spc="-5" dirty="0">
                <a:latin typeface="Times New Roman"/>
                <a:cs typeface="Times New Roman"/>
              </a:rPr>
              <a:t>maximal du tableau est : ",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Max)</a:t>
            </a:r>
            <a:endParaRPr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Libérer</a:t>
            </a:r>
            <a:r>
              <a:rPr sz="2000" spc="-10" dirty="0">
                <a:latin typeface="Times New Roman"/>
                <a:cs typeface="Times New Roman"/>
              </a:rPr>
              <a:t>(T)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Fin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</a:t>
            </a:r>
            <a:r>
              <a:rPr sz="2600" spc="-10" dirty="0">
                <a:solidFill>
                  <a:srgbClr val="FFFFFF"/>
                </a:solidFill>
              </a:rPr>
              <a:t>Structure </a:t>
            </a:r>
            <a:r>
              <a:rPr sz="2600" spc="-5" dirty="0">
                <a:solidFill>
                  <a:srgbClr val="FFFFFF"/>
                </a:solidFill>
              </a:rPr>
              <a:t>de donnée « tableau</a:t>
            </a:r>
            <a:r>
              <a:rPr sz="2600" spc="4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»</a:t>
            </a:r>
            <a:endParaRPr sz="26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16</a:t>
            </a:fld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3909" y="1163812"/>
            <a:ext cx="230949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Exercice 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d’application</a:t>
            </a:r>
            <a:r>
              <a:rPr sz="2800" b="1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3909" y="2443819"/>
            <a:ext cx="23050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Correction</a:t>
            </a:r>
            <a:r>
              <a:rPr sz="2800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(Q2)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9924" y="728260"/>
            <a:ext cx="548957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latin typeface="Times New Roman"/>
                <a:cs typeface="Times New Roman"/>
              </a:rPr>
              <a:t>Variables: </a:t>
            </a:r>
            <a:r>
              <a:rPr sz="2000" spc="-25" dirty="0">
                <a:latin typeface="Times New Roman"/>
                <a:cs typeface="Times New Roman"/>
              </a:rPr>
              <a:t>Tableau </a:t>
            </a:r>
            <a:r>
              <a:rPr sz="2000" spc="-5" dirty="0">
                <a:latin typeface="Times New Roman"/>
                <a:cs typeface="Times New Roman"/>
              </a:rPr>
              <a:t>T[], nb, Min, i , indiceMin: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Entier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Début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09771" y="1337759"/>
            <a:ext cx="8551545" cy="49366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005" marR="21082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Times New Roman"/>
                <a:cs typeface="Times New Roman"/>
              </a:rPr>
              <a:t>Ecrire("Veuillez </a:t>
            </a:r>
            <a:r>
              <a:rPr sz="2000" spc="-5" dirty="0">
                <a:latin typeface="Times New Roman"/>
                <a:cs typeface="Times New Roman"/>
              </a:rPr>
              <a:t>saisir le nombre d’élément de votre tableau: ")  Lire(nb)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15" dirty="0">
                <a:latin typeface="Times New Roman"/>
                <a:cs typeface="Times New Roman"/>
              </a:rPr>
              <a:t>Allocation</a:t>
            </a:r>
            <a:r>
              <a:rPr sz="2000" spc="-15" dirty="0">
                <a:latin typeface="Times New Roman"/>
                <a:cs typeface="Times New Roman"/>
              </a:rPr>
              <a:t>(T,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 err="1">
                <a:latin typeface="Times New Roman"/>
                <a:cs typeface="Times New Roman"/>
              </a:rPr>
              <a:t>nb</a:t>
            </a:r>
            <a:r>
              <a:rPr sz="2000" spc="-5" dirty="0">
                <a:latin typeface="Times New Roman"/>
                <a:cs typeface="Times New Roman"/>
              </a:rPr>
              <a:t>,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spc="-5" dirty="0" err="1">
                <a:latin typeface="Times New Roman"/>
                <a:cs typeface="Times New Roman"/>
              </a:rPr>
              <a:t>E</a:t>
            </a:r>
            <a:r>
              <a:rPr sz="2000" spc="-5" dirty="0" err="1">
                <a:latin typeface="Times New Roman"/>
                <a:cs typeface="Times New Roman"/>
              </a:rPr>
              <a:t>ntier</a:t>
            </a:r>
            <a:r>
              <a:rPr sz="2000" spc="-5" dirty="0"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Pour </a:t>
            </a:r>
            <a:r>
              <a:rPr sz="2000" spc="-5" dirty="0">
                <a:latin typeface="Times New Roman"/>
                <a:cs typeface="Times New Roman"/>
              </a:rPr>
              <a:t>i ← 0 à </a:t>
            </a:r>
            <a:r>
              <a:rPr sz="2000" dirty="0">
                <a:latin typeface="Times New Roman"/>
                <a:cs typeface="Times New Roman"/>
              </a:rPr>
              <a:t>nb-1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faire</a:t>
            </a:r>
            <a:endParaRPr sz="2000" dirty="0">
              <a:latin typeface="Times New Roman"/>
              <a:cs typeface="Times New Roman"/>
            </a:endParaRPr>
          </a:p>
          <a:p>
            <a:pPr marL="496570" marR="373761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Ecrire("Veuillez </a:t>
            </a:r>
            <a:r>
              <a:rPr sz="2000" spc="-5" dirty="0">
                <a:latin typeface="Times New Roman"/>
                <a:cs typeface="Times New Roman"/>
              </a:rPr>
              <a:t>saisir l’élément ",i+1, ":")  Lire(T[i])</a:t>
            </a:r>
            <a:endParaRPr sz="2000" dirty="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FinPour</a:t>
            </a:r>
            <a:endParaRPr sz="2000" dirty="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Min ←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T[0]</a:t>
            </a:r>
            <a:endParaRPr sz="2000" dirty="0">
              <a:latin typeface="Times New Roman"/>
              <a:cs typeface="Times New Roman"/>
            </a:endParaRPr>
          </a:p>
          <a:p>
            <a:pPr marL="496570" marR="5862320" indent="-4572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Pour </a:t>
            </a:r>
            <a:r>
              <a:rPr sz="2000" spc="-5" dirty="0">
                <a:latin typeface="Times New Roman"/>
                <a:cs typeface="Times New Roman"/>
              </a:rPr>
              <a:t>i ←1 à </a:t>
            </a:r>
            <a:r>
              <a:rPr sz="2000" dirty="0">
                <a:latin typeface="Times New Roman"/>
                <a:cs typeface="Times New Roman"/>
              </a:rPr>
              <a:t>nb-1 </a:t>
            </a:r>
            <a:r>
              <a:rPr sz="2000" b="1" spc="-10" dirty="0">
                <a:latin typeface="Times New Roman"/>
                <a:cs typeface="Times New Roman"/>
              </a:rPr>
              <a:t>faire  </a:t>
            </a:r>
            <a:r>
              <a:rPr sz="2000" b="1" spc="-5" dirty="0">
                <a:latin typeface="Times New Roman"/>
                <a:cs typeface="Times New Roman"/>
              </a:rPr>
              <a:t>Si </a:t>
            </a:r>
            <a:r>
              <a:rPr sz="2000" spc="-5" dirty="0">
                <a:latin typeface="Times New Roman"/>
                <a:cs typeface="Times New Roman"/>
              </a:rPr>
              <a:t>(T[i] &lt; Min)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Alors</a:t>
            </a:r>
            <a:endParaRPr sz="2000" dirty="0">
              <a:latin typeface="Times New Roman"/>
              <a:cs typeface="Times New Roman"/>
            </a:endParaRPr>
          </a:p>
          <a:p>
            <a:pPr marL="813435" marR="623760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Min ← T[i]  indiceMin ←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</a:t>
            </a:r>
            <a:endParaRPr sz="2000" dirty="0">
              <a:latin typeface="Times New Roman"/>
              <a:cs typeface="Times New Roman"/>
            </a:endParaRPr>
          </a:p>
          <a:p>
            <a:pPr marL="38735" marR="7468870" indent="457200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F</a:t>
            </a:r>
            <a:r>
              <a:rPr sz="2000" b="1" spc="-5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Si  </a:t>
            </a:r>
            <a:r>
              <a:rPr sz="2000" b="1" spc="-5" dirty="0">
                <a:latin typeface="Times New Roman"/>
                <a:cs typeface="Times New Roman"/>
              </a:rPr>
              <a:t>FinPour</a:t>
            </a:r>
            <a:endParaRPr sz="2000" dirty="0">
              <a:latin typeface="Times New Roman"/>
              <a:cs typeface="Times New Roman"/>
            </a:endParaRPr>
          </a:p>
          <a:p>
            <a:pPr marL="38735">
              <a:lnSpc>
                <a:spcPct val="100000"/>
              </a:lnSpc>
            </a:pPr>
            <a:r>
              <a:rPr sz="2000" spc="-15" dirty="0">
                <a:latin typeface="Times New Roman"/>
                <a:cs typeface="Times New Roman"/>
              </a:rPr>
              <a:t>Ecrire("</a:t>
            </a:r>
            <a:r>
              <a:rPr sz="2000" spc="-15" dirty="0" err="1">
                <a:latin typeface="Times New Roman"/>
                <a:cs typeface="Times New Roman"/>
              </a:rPr>
              <a:t>L’élément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</a:t>
            </a:r>
            <a:r>
              <a:rPr lang="fr-FR" sz="2000" spc="-5" dirty="0" err="1">
                <a:latin typeface="Times New Roman"/>
                <a:cs typeface="Times New Roman"/>
              </a:rPr>
              <a:t>inimal</a:t>
            </a:r>
            <a:r>
              <a:rPr sz="2000" spc="-5" dirty="0">
                <a:latin typeface="Times New Roman"/>
                <a:cs typeface="Times New Roman"/>
              </a:rPr>
              <a:t> du tableau est : ", M</a:t>
            </a:r>
            <a:r>
              <a:rPr lang="fr-FR" sz="2000" spc="-5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, " trouvé à l’indice ",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indiceMin)</a:t>
            </a:r>
            <a:endParaRPr sz="2000" dirty="0">
              <a:latin typeface="Times New Roman"/>
              <a:cs typeface="Times New Roman"/>
            </a:endParaRPr>
          </a:p>
          <a:p>
            <a:pPr marL="38735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Libérer</a:t>
            </a:r>
            <a:r>
              <a:rPr sz="2000" spc="-10" dirty="0">
                <a:latin typeface="Times New Roman"/>
                <a:cs typeface="Times New Roman"/>
              </a:rPr>
              <a:t>(T)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9164" y="6213740"/>
            <a:ext cx="39243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Times New Roman"/>
                <a:cs typeface="Times New Roman"/>
              </a:rPr>
              <a:t>F</a:t>
            </a:r>
            <a:r>
              <a:rPr sz="2000" b="1" spc="-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de donnée « tableau</a:t>
            </a:r>
            <a:r>
              <a:rPr sz="26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»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17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63727" y="800660"/>
            <a:ext cx="536067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T</a:t>
            </a:r>
            <a:r>
              <a:rPr dirty="0"/>
              <a:t>ableaux</a:t>
            </a:r>
            <a:r>
              <a:rPr spc="-15" dirty="0"/>
              <a:t> </a:t>
            </a:r>
            <a:r>
              <a:rPr spc="-5" dirty="0"/>
              <a:t>multidimensionnels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2115" y="1592440"/>
            <a:ext cx="10843895" cy="3805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74345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 dirty="0">
                <a:latin typeface="Times New Roman"/>
                <a:cs typeface="Times New Roman"/>
              </a:rPr>
              <a:t>Les </a:t>
            </a:r>
            <a:r>
              <a:rPr sz="2800" spc="-10" dirty="0">
                <a:latin typeface="Times New Roman"/>
                <a:cs typeface="Times New Roman"/>
              </a:rPr>
              <a:t>tableaux multidimensionnels </a:t>
            </a:r>
            <a:r>
              <a:rPr sz="2800" spc="-5" dirty="0">
                <a:latin typeface="Times New Roman"/>
                <a:cs typeface="Times New Roman"/>
              </a:rPr>
              <a:t>sont des </a:t>
            </a:r>
            <a:r>
              <a:rPr sz="2800" spc="-10" dirty="0">
                <a:latin typeface="Times New Roman"/>
                <a:cs typeface="Times New Roman"/>
              </a:rPr>
              <a:t>tableaux </a:t>
            </a:r>
            <a:r>
              <a:rPr sz="2800" spc="-5" dirty="0">
                <a:latin typeface="Times New Roman"/>
                <a:cs typeface="Times New Roman"/>
              </a:rPr>
              <a:t>dans lesquels </a:t>
            </a:r>
            <a:r>
              <a:rPr sz="2800" spc="-10" dirty="0">
                <a:latin typeface="Times New Roman"/>
                <a:cs typeface="Times New Roman"/>
              </a:rPr>
              <a:t>les  </a:t>
            </a:r>
            <a:r>
              <a:rPr sz="2800" spc="-5" dirty="0">
                <a:latin typeface="Times New Roman"/>
                <a:cs typeface="Times New Roman"/>
              </a:rPr>
              <a:t>valeurs </a:t>
            </a:r>
            <a:r>
              <a:rPr sz="2800" dirty="0">
                <a:latin typeface="Times New Roman"/>
                <a:cs typeface="Times New Roman"/>
              </a:rPr>
              <a:t>ne sont </a:t>
            </a:r>
            <a:r>
              <a:rPr sz="2800" spc="-5" dirty="0">
                <a:latin typeface="Times New Roman"/>
                <a:cs typeface="Times New Roman"/>
              </a:rPr>
              <a:t>pas repérées par </a:t>
            </a:r>
            <a:r>
              <a:rPr sz="2800" dirty="0">
                <a:latin typeface="Times New Roman"/>
                <a:cs typeface="Times New Roman"/>
              </a:rPr>
              <a:t>une </a:t>
            </a:r>
            <a:r>
              <a:rPr sz="2800" b="1" spc="-5" dirty="0">
                <a:latin typeface="Times New Roman"/>
                <a:cs typeface="Times New Roman"/>
              </a:rPr>
              <a:t>seule</a:t>
            </a:r>
            <a:r>
              <a:rPr sz="2800" spc="-5" dirty="0">
                <a:latin typeface="Times New Roman"/>
                <a:cs typeface="Times New Roman"/>
              </a:rPr>
              <a:t>, mais par </a:t>
            </a:r>
            <a:r>
              <a:rPr sz="2800" b="1" dirty="0">
                <a:latin typeface="Times New Roman"/>
                <a:cs typeface="Times New Roman"/>
              </a:rPr>
              <a:t>n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coordonnées.</a:t>
            </a:r>
            <a:endParaRPr sz="2800" dirty="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474345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 dirty="0" err="1">
                <a:latin typeface="Times New Roman"/>
                <a:cs typeface="Times New Roman"/>
              </a:rPr>
              <a:t>Ils</a:t>
            </a:r>
            <a:r>
              <a:rPr sz="2800" spc="-5" dirty="0">
                <a:latin typeface="Times New Roman"/>
                <a:cs typeface="Times New Roman"/>
              </a:rPr>
              <a:t> peuvent être représentés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>
                <a:latin typeface="Times New Roman"/>
                <a:cs typeface="Times New Roman"/>
              </a:rPr>
              <a:t>manière statique </a:t>
            </a:r>
            <a:r>
              <a:rPr sz="2800" dirty="0">
                <a:latin typeface="Times New Roman"/>
                <a:cs typeface="Times New Roman"/>
              </a:rPr>
              <a:t>ou </a:t>
            </a:r>
            <a:r>
              <a:rPr sz="2800" spc="-5" dirty="0">
                <a:latin typeface="Times New Roman"/>
                <a:cs typeface="Times New Roman"/>
              </a:rPr>
              <a:t>dynamique en faisant  étendre simplement les définitions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précédentes.</a:t>
            </a:r>
            <a:endParaRPr sz="28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474345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 dirty="0" err="1">
                <a:latin typeface="Times New Roman"/>
                <a:cs typeface="Times New Roman"/>
              </a:rPr>
              <a:t>En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particulier, </a:t>
            </a:r>
            <a:r>
              <a:rPr sz="2800" spc="-5" dirty="0">
                <a:latin typeface="Times New Roman"/>
                <a:cs typeface="Times New Roman"/>
              </a:rPr>
              <a:t>une matrice est un </a:t>
            </a:r>
            <a:r>
              <a:rPr sz="2800" spc="-10" dirty="0">
                <a:latin typeface="Times New Roman"/>
                <a:cs typeface="Times New Roman"/>
              </a:rPr>
              <a:t>tableau </a:t>
            </a:r>
            <a:r>
              <a:rPr sz="2800" dirty="0">
                <a:latin typeface="Times New Roman"/>
                <a:cs typeface="Times New Roman"/>
              </a:rPr>
              <a:t>de </a:t>
            </a:r>
            <a:r>
              <a:rPr sz="2800" spc="-5" dirty="0">
                <a:latin typeface="Times New Roman"/>
                <a:cs typeface="Times New Roman"/>
              </a:rPr>
              <a:t>dimension 2. </a:t>
            </a:r>
            <a:r>
              <a:rPr sz="2800" dirty="0">
                <a:latin typeface="Times New Roman"/>
                <a:cs typeface="Times New Roman"/>
              </a:rPr>
              <a:t>Il </a:t>
            </a:r>
            <a:r>
              <a:rPr sz="2800" spc="-5" dirty="0">
                <a:latin typeface="Times New Roman"/>
                <a:cs typeface="Times New Roman"/>
              </a:rPr>
              <a:t>est </a:t>
            </a:r>
            <a:r>
              <a:rPr sz="2800" spc="-10" dirty="0">
                <a:latin typeface="Times New Roman"/>
                <a:cs typeface="Times New Roman"/>
              </a:rPr>
              <a:t>possible  </a:t>
            </a:r>
            <a:r>
              <a:rPr sz="2800" spc="-5" dirty="0">
                <a:latin typeface="Times New Roman"/>
                <a:cs typeface="Times New Roman"/>
              </a:rPr>
              <a:t>d’accéder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5" dirty="0">
                <a:latin typeface="Times New Roman"/>
                <a:cs typeface="Times New Roman"/>
              </a:rPr>
              <a:t>chaque </a:t>
            </a:r>
            <a:r>
              <a:rPr sz="2800" spc="-10" dirty="0">
                <a:latin typeface="Times New Roman"/>
                <a:cs typeface="Times New Roman"/>
              </a:rPr>
              <a:t>élément </a:t>
            </a:r>
            <a:r>
              <a:rPr sz="2800" spc="-5" dirty="0">
                <a:latin typeface="Times New Roman"/>
                <a:cs typeface="Times New Roman"/>
              </a:rPr>
              <a:t>du vecteur par l’indice de </a:t>
            </a:r>
            <a:r>
              <a:rPr sz="2800" dirty="0">
                <a:latin typeface="Times New Roman"/>
                <a:cs typeface="Times New Roman"/>
              </a:rPr>
              <a:t>sa </a:t>
            </a:r>
            <a:r>
              <a:rPr sz="2800" spc="-5" dirty="0">
                <a:latin typeface="Times New Roman"/>
                <a:cs typeface="Times New Roman"/>
              </a:rPr>
              <a:t>ligne et </a:t>
            </a:r>
            <a:r>
              <a:rPr sz="2800" dirty="0">
                <a:latin typeface="Times New Roman"/>
                <a:cs typeface="Times New Roman"/>
              </a:rPr>
              <a:t>sa  </a:t>
            </a:r>
            <a:r>
              <a:rPr sz="2800" spc="-5" dirty="0">
                <a:latin typeface="Times New Roman"/>
                <a:cs typeface="Times New Roman"/>
              </a:rPr>
              <a:t>colonne.</a:t>
            </a:r>
            <a:endParaRPr sz="2800" dirty="0">
              <a:latin typeface="Times New Roman"/>
              <a:cs typeface="Times New Roman"/>
            </a:endParaRPr>
          </a:p>
          <a:p>
            <a:pPr marL="901065" algn="just">
              <a:lnSpc>
                <a:spcPts val="3360"/>
              </a:lnSpc>
            </a:pPr>
            <a:r>
              <a:rPr sz="2800" b="1" spc="-5" dirty="0">
                <a:latin typeface="Times New Roman"/>
                <a:cs typeface="Times New Roman"/>
              </a:rPr>
              <a:t>Ex: </a:t>
            </a:r>
            <a:r>
              <a:rPr sz="2800" spc="-30" dirty="0">
                <a:latin typeface="Times New Roman"/>
                <a:cs typeface="Times New Roman"/>
              </a:rPr>
              <a:t>Tableau </a:t>
            </a:r>
            <a:r>
              <a:rPr sz="2800" spc="-5" dirty="0">
                <a:latin typeface="Times New Roman"/>
                <a:cs typeface="Times New Roman"/>
              </a:rPr>
              <a:t>matrice </a:t>
            </a:r>
            <a:r>
              <a:rPr sz="2800" dirty="0">
                <a:latin typeface="Times New Roman"/>
                <a:cs typeface="Times New Roman"/>
              </a:rPr>
              <a:t>[5,8] :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Réel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939" y="0"/>
            <a:ext cx="9533890" cy="598241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R="2755900" algn="ctr">
              <a:lnSpc>
                <a:spcPct val="100000"/>
              </a:lnSpc>
              <a:spcBef>
                <a:spcPts val="154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de donnée « tableau</a:t>
            </a:r>
            <a:r>
              <a:rPr sz="26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»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18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75200" y="830343"/>
            <a:ext cx="6681327" cy="5468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b="1" spc="-90" dirty="0">
                <a:latin typeface="Times New Roman"/>
                <a:cs typeface="Times New Roman"/>
              </a:rPr>
              <a:t>Algorithme </a:t>
            </a:r>
            <a:r>
              <a:rPr lang="en-US" sz="2200" spc="-90" dirty="0" err="1">
                <a:latin typeface="Times New Roman"/>
                <a:cs typeface="Times New Roman"/>
              </a:rPr>
              <a:t>Exemple</a:t>
            </a:r>
            <a:endParaRPr lang="en-US" sz="2200" spc="-9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b="1" spc="-90" dirty="0">
                <a:latin typeface="Times New Roman"/>
                <a:cs typeface="Times New Roman"/>
              </a:rPr>
              <a:t>Variables</a:t>
            </a:r>
            <a:r>
              <a:rPr lang="en-US" sz="2200" spc="-90" dirty="0">
                <a:latin typeface="Times New Roman"/>
                <a:cs typeface="Times New Roman"/>
              </a:rPr>
              <a:t> :  Tableau X[2,3], </a:t>
            </a:r>
            <a:r>
              <a:rPr lang="en-US" sz="2200" spc="-90" dirty="0" err="1">
                <a:latin typeface="Times New Roman"/>
                <a:cs typeface="Times New Roman"/>
              </a:rPr>
              <a:t>i</a:t>
            </a:r>
            <a:r>
              <a:rPr lang="en-US" sz="2200" spc="-90" dirty="0">
                <a:latin typeface="Times New Roman"/>
                <a:cs typeface="Times New Roman"/>
              </a:rPr>
              <a:t>, j, </a:t>
            </a:r>
            <a:r>
              <a:rPr lang="en-US" sz="2200" spc="-90" dirty="0" err="1">
                <a:latin typeface="Times New Roman"/>
                <a:cs typeface="Times New Roman"/>
              </a:rPr>
              <a:t>val</a:t>
            </a:r>
            <a:r>
              <a:rPr lang="en-US" sz="2200" spc="-90" dirty="0">
                <a:latin typeface="Times New Roman"/>
                <a:cs typeface="Times New Roman"/>
              </a:rPr>
              <a:t> : </a:t>
            </a:r>
            <a:r>
              <a:rPr lang="en-US" sz="2200" spc="-90" dirty="0" err="1">
                <a:latin typeface="Times New Roman"/>
                <a:cs typeface="Times New Roman"/>
              </a:rPr>
              <a:t>Entier</a:t>
            </a:r>
            <a:endParaRPr lang="en-US" sz="2200" spc="-90" dirty="0"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r>
              <a:rPr lang="en-US" sz="2200" b="1" spc="-90" dirty="0">
                <a:latin typeface="Times New Roman"/>
                <a:cs typeface="Times New Roman"/>
              </a:rPr>
              <a:t>Début</a:t>
            </a:r>
            <a:endParaRPr lang="en-US" sz="2200" spc="-9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spc="-90" dirty="0">
                <a:latin typeface="Times New Roman"/>
                <a:cs typeface="Times New Roman"/>
              </a:rPr>
              <a:t>	</a:t>
            </a:r>
            <a:r>
              <a:rPr sz="2200" spc="-90" dirty="0">
                <a:latin typeface="Times New Roman"/>
                <a:cs typeface="Times New Roman"/>
              </a:rPr>
              <a:t>Val </a:t>
            </a:r>
            <a:r>
              <a:rPr sz="2200" dirty="0">
                <a:latin typeface="Times New Roman"/>
                <a:cs typeface="Times New Roman"/>
              </a:rPr>
              <a:t>←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</a:p>
          <a:p>
            <a:pPr marL="12700">
              <a:lnSpc>
                <a:spcPct val="100000"/>
              </a:lnSpc>
            </a:pPr>
            <a:r>
              <a:rPr lang="fr-FR" sz="2200" b="1" spc="-5" dirty="0">
                <a:latin typeface="Times New Roman"/>
                <a:cs typeface="Times New Roman"/>
              </a:rPr>
              <a:t>  	</a:t>
            </a:r>
            <a:r>
              <a:rPr sz="2200" b="1" spc="-5" dirty="0">
                <a:latin typeface="Times New Roman"/>
                <a:cs typeface="Times New Roman"/>
              </a:rPr>
              <a:t>Pour </a:t>
            </a:r>
            <a:r>
              <a:rPr sz="2200" dirty="0">
                <a:latin typeface="Times New Roman"/>
                <a:cs typeface="Times New Roman"/>
              </a:rPr>
              <a:t>i ← 0 à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lang="fr-FR" sz="2200" dirty="0">
                <a:latin typeface="Times New Roman"/>
                <a:cs typeface="Times New Roman"/>
              </a:rPr>
              <a:t> </a:t>
            </a:r>
            <a:r>
              <a:rPr lang="fr-FR" sz="2200" b="1" dirty="0">
                <a:latin typeface="Times New Roman"/>
                <a:cs typeface="Times New Roman"/>
              </a:rPr>
              <a:t>Faire</a:t>
            </a:r>
            <a:endParaRPr sz="2200" b="1" dirty="0">
              <a:latin typeface="Times New Roman"/>
              <a:cs typeface="Times New Roman"/>
            </a:endParaRPr>
          </a:p>
          <a:p>
            <a:pPr marL="87630" marR="2058670" indent="76200">
              <a:lnSpc>
                <a:spcPct val="100000"/>
              </a:lnSpc>
            </a:pPr>
            <a:r>
              <a:rPr lang="fr-FR" sz="2200" b="1" spc="-5" dirty="0">
                <a:latin typeface="Times New Roman"/>
                <a:cs typeface="Times New Roman"/>
              </a:rPr>
              <a:t>    		</a:t>
            </a:r>
            <a:r>
              <a:rPr sz="2200" b="1" spc="-5" dirty="0">
                <a:latin typeface="Times New Roman"/>
                <a:cs typeface="Times New Roman"/>
              </a:rPr>
              <a:t>Pour </a:t>
            </a:r>
            <a:r>
              <a:rPr sz="2200" dirty="0">
                <a:latin typeface="Times New Roman"/>
                <a:cs typeface="Times New Roman"/>
              </a:rPr>
              <a:t>j ← 0 à 2  </a:t>
            </a:r>
            <a:r>
              <a:rPr lang="fr-FR" sz="2200" b="1" dirty="0">
                <a:latin typeface="Times New Roman"/>
                <a:cs typeface="Times New Roman"/>
              </a:rPr>
              <a:t>Faire</a:t>
            </a:r>
          </a:p>
          <a:p>
            <a:pPr marL="87630" marR="2058670" indent="76200">
              <a:lnSpc>
                <a:spcPct val="100000"/>
              </a:lnSpc>
            </a:pPr>
            <a:r>
              <a:rPr lang="fr-FR" sz="2200" spc="-5" dirty="0">
                <a:latin typeface="Times New Roman"/>
                <a:cs typeface="Times New Roman"/>
              </a:rPr>
              <a:t>          		</a:t>
            </a:r>
            <a:r>
              <a:rPr sz="2200" spc="-5" dirty="0">
                <a:latin typeface="Times New Roman"/>
                <a:cs typeface="Times New Roman"/>
              </a:rPr>
              <a:t>X[</a:t>
            </a:r>
            <a:r>
              <a:rPr sz="2200" spc="-5" dirty="0" err="1">
                <a:latin typeface="Times New Roman"/>
                <a:cs typeface="Times New Roman"/>
              </a:rPr>
              <a:t>i</a:t>
            </a:r>
            <a:r>
              <a:rPr sz="2200" spc="-5" dirty="0">
                <a:latin typeface="Times New Roman"/>
                <a:cs typeface="Times New Roman"/>
              </a:rPr>
              <a:t>, j] </a:t>
            </a:r>
            <a:r>
              <a:rPr sz="2200" dirty="0">
                <a:latin typeface="Times New Roman"/>
                <a:cs typeface="Times New Roman"/>
              </a:rPr>
              <a:t>← </a:t>
            </a:r>
            <a:r>
              <a:rPr sz="2200" spc="-90" dirty="0">
                <a:latin typeface="Times New Roman"/>
                <a:cs typeface="Times New Roman"/>
              </a:rPr>
              <a:t>Val  </a:t>
            </a:r>
            <a:endParaRPr lang="fr-FR" sz="2200" spc="-90" dirty="0">
              <a:latin typeface="Times New Roman"/>
              <a:cs typeface="Times New Roman"/>
            </a:endParaRPr>
          </a:p>
          <a:p>
            <a:pPr marL="544830" marR="2058670" lvl="1" indent="76200"/>
            <a:r>
              <a:rPr lang="fr-FR" sz="2200" spc="-90" dirty="0">
                <a:latin typeface="Times New Roman"/>
                <a:cs typeface="Times New Roman"/>
              </a:rPr>
              <a:t>     		</a:t>
            </a:r>
            <a:r>
              <a:rPr sz="2200" spc="-90" dirty="0">
                <a:latin typeface="Times New Roman"/>
                <a:cs typeface="Times New Roman"/>
              </a:rPr>
              <a:t>Val </a:t>
            </a:r>
            <a:r>
              <a:rPr sz="2200" dirty="0">
                <a:latin typeface="Times New Roman"/>
                <a:cs typeface="Times New Roman"/>
              </a:rPr>
              <a:t>← </a:t>
            </a:r>
            <a:r>
              <a:rPr sz="2200" spc="-90" dirty="0">
                <a:latin typeface="Times New Roman"/>
                <a:cs typeface="Times New Roman"/>
              </a:rPr>
              <a:t>Val </a:t>
            </a:r>
            <a:r>
              <a:rPr sz="2200" dirty="0">
                <a:latin typeface="Times New Roman"/>
                <a:cs typeface="Times New Roman"/>
              </a:rPr>
              <a:t>+ 1  </a:t>
            </a:r>
            <a:r>
              <a:rPr lang="fr-FR" sz="2200" dirty="0">
                <a:latin typeface="Times New Roman"/>
                <a:cs typeface="Times New Roman"/>
              </a:rPr>
              <a:t>             			</a:t>
            </a:r>
            <a:r>
              <a:rPr sz="2200" b="1" spc="-5" dirty="0" err="1">
                <a:latin typeface="Times New Roman"/>
                <a:cs typeface="Times New Roman"/>
              </a:rPr>
              <a:t>FinPour</a:t>
            </a:r>
            <a:r>
              <a:rPr sz="2200" b="1" spc="-5" dirty="0">
                <a:latin typeface="Times New Roman"/>
                <a:cs typeface="Times New Roman"/>
              </a:rPr>
              <a:t>  </a:t>
            </a:r>
            <a:endParaRPr lang="fr-FR" sz="2200" b="1" spc="-5" dirty="0">
              <a:latin typeface="Times New Roman"/>
              <a:cs typeface="Times New Roman"/>
            </a:endParaRPr>
          </a:p>
          <a:p>
            <a:pPr marL="87630" marR="2058670" indent="76200"/>
            <a:r>
              <a:rPr lang="en-US" sz="2200" b="1" spc="-5" dirty="0">
                <a:latin typeface="Times New Roman"/>
                <a:cs typeface="Times New Roman"/>
              </a:rPr>
              <a:t>	</a:t>
            </a:r>
            <a:r>
              <a:rPr sz="2200" b="1" spc="-5" dirty="0" err="1">
                <a:latin typeface="Times New Roman"/>
                <a:cs typeface="Times New Roman"/>
              </a:rPr>
              <a:t>FinPour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200" b="1" spc="-5" dirty="0">
                <a:latin typeface="Times New Roman"/>
                <a:cs typeface="Times New Roman"/>
              </a:rPr>
              <a:t>  	</a:t>
            </a:r>
            <a:r>
              <a:rPr sz="2200" b="1" spc="-5" dirty="0">
                <a:latin typeface="Times New Roman"/>
                <a:cs typeface="Times New Roman"/>
              </a:rPr>
              <a:t>Pour </a:t>
            </a:r>
            <a:r>
              <a:rPr sz="2200" dirty="0">
                <a:latin typeface="Times New Roman"/>
                <a:cs typeface="Times New Roman"/>
              </a:rPr>
              <a:t>i ← 0 à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lang="fr-FR" sz="2200" dirty="0">
                <a:latin typeface="Times New Roman"/>
                <a:cs typeface="Times New Roman"/>
              </a:rPr>
              <a:t> </a:t>
            </a:r>
            <a:r>
              <a:rPr lang="fr-FR" sz="2200" b="1" dirty="0">
                <a:latin typeface="Times New Roman"/>
                <a:cs typeface="Times New Roman"/>
              </a:rPr>
              <a:t>Faire</a:t>
            </a:r>
            <a:endParaRPr sz="2200" b="1" dirty="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lang="en-US" sz="2200" b="1" spc="-5" dirty="0">
                <a:latin typeface="Times New Roman"/>
                <a:cs typeface="Times New Roman"/>
              </a:rPr>
              <a:t>    		</a:t>
            </a:r>
            <a:r>
              <a:rPr sz="2200" b="1" spc="-5" dirty="0">
                <a:latin typeface="Times New Roman"/>
                <a:cs typeface="Times New Roman"/>
              </a:rPr>
              <a:t>Pour </a:t>
            </a:r>
            <a:r>
              <a:rPr sz="2200" dirty="0">
                <a:latin typeface="Times New Roman"/>
                <a:cs typeface="Times New Roman"/>
              </a:rPr>
              <a:t>j ← 0 à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</a:t>
            </a:r>
            <a:r>
              <a:rPr lang="fr-FR" sz="2200" dirty="0">
                <a:latin typeface="Times New Roman"/>
                <a:cs typeface="Times New Roman"/>
              </a:rPr>
              <a:t> </a:t>
            </a:r>
            <a:r>
              <a:rPr lang="fr-FR" sz="2200" b="1" dirty="0">
                <a:latin typeface="Times New Roman"/>
                <a:cs typeface="Times New Roman"/>
              </a:rPr>
              <a:t>Faire</a:t>
            </a:r>
            <a:endParaRPr sz="2200" b="1" dirty="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</a:pPr>
            <a:r>
              <a:rPr lang="en-US" sz="2200" spc="-5" dirty="0">
                <a:latin typeface="Times New Roman"/>
                <a:cs typeface="Times New Roman"/>
              </a:rPr>
              <a:t>   		</a:t>
            </a:r>
            <a:r>
              <a:rPr sz="2200" spc="-5" dirty="0" err="1">
                <a:latin typeface="Times New Roman"/>
                <a:cs typeface="Times New Roman"/>
              </a:rPr>
              <a:t>Ecrire</a:t>
            </a:r>
            <a:r>
              <a:rPr sz="2200" spc="-5" dirty="0">
                <a:latin typeface="Times New Roman"/>
                <a:cs typeface="Times New Roman"/>
              </a:rPr>
              <a:t>(" X</a:t>
            </a:r>
            <a:r>
              <a:rPr lang="en-US" sz="2200" spc="-5" dirty="0">
                <a:latin typeface="Times New Roman"/>
                <a:cs typeface="Times New Roman"/>
              </a:rPr>
              <a:t>(</a:t>
            </a:r>
            <a:r>
              <a:rPr sz="2200" spc="-5" dirty="0">
                <a:latin typeface="Times New Roman"/>
                <a:cs typeface="Times New Roman"/>
              </a:rPr>
              <a:t>",i,",", j, "</a:t>
            </a:r>
            <a:r>
              <a:rPr lang="en-US" sz="2200" spc="-5" dirty="0">
                <a:latin typeface="Times New Roman"/>
                <a:cs typeface="Times New Roman"/>
              </a:rPr>
              <a:t>)=</a:t>
            </a:r>
            <a:r>
              <a:rPr sz="2200" spc="-5" dirty="0">
                <a:latin typeface="Times New Roman"/>
                <a:cs typeface="Times New Roman"/>
              </a:rPr>
              <a:t>", X[i,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j])</a:t>
            </a:r>
            <a:endParaRPr sz="2200" dirty="0">
              <a:latin typeface="Times New Roman"/>
              <a:cs typeface="Times New Roman"/>
            </a:endParaRPr>
          </a:p>
          <a:p>
            <a:pPr marL="12700" marR="2786380" indent="227329">
              <a:lnSpc>
                <a:spcPct val="100000"/>
              </a:lnSpc>
            </a:pPr>
            <a:r>
              <a:rPr lang="en-US" sz="2200" b="1" spc="-10" dirty="0">
                <a:latin typeface="Times New Roman"/>
                <a:cs typeface="Times New Roman"/>
              </a:rPr>
              <a:t>   		</a:t>
            </a:r>
            <a:r>
              <a:rPr sz="2200" b="1" spc="-10" dirty="0" err="1">
                <a:latin typeface="Times New Roman"/>
                <a:cs typeface="Times New Roman"/>
              </a:rPr>
              <a:t>FinP</a:t>
            </a:r>
            <a:r>
              <a:rPr sz="2200" b="1" spc="-5" dirty="0" err="1">
                <a:latin typeface="Times New Roman"/>
                <a:cs typeface="Times New Roman"/>
              </a:rPr>
              <a:t>o</a:t>
            </a:r>
            <a:r>
              <a:rPr sz="2200" b="1" spc="-10" dirty="0" err="1">
                <a:latin typeface="Times New Roman"/>
                <a:cs typeface="Times New Roman"/>
              </a:rPr>
              <a:t>ur</a:t>
            </a:r>
            <a:endParaRPr lang="en-US" sz="2200" b="1" spc="-10" dirty="0">
              <a:latin typeface="Times New Roman"/>
              <a:cs typeface="Times New Roman"/>
            </a:endParaRPr>
          </a:p>
          <a:p>
            <a:pPr marL="12700" marR="2786380" indent="227329">
              <a:lnSpc>
                <a:spcPct val="100000"/>
              </a:lnSpc>
            </a:pPr>
            <a:r>
              <a:rPr lang="en-US" sz="2200" b="1" spc="-5" dirty="0">
                <a:latin typeface="Times New Roman"/>
                <a:cs typeface="Times New Roman"/>
              </a:rPr>
              <a:t>	</a:t>
            </a:r>
            <a:r>
              <a:rPr sz="2200" b="1" spc="-5" dirty="0" err="1">
                <a:latin typeface="Times New Roman"/>
                <a:cs typeface="Times New Roman"/>
              </a:rPr>
              <a:t>FinPour</a:t>
            </a:r>
            <a:endParaRPr lang="en-US" sz="2200" b="1" spc="-5" dirty="0">
              <a:latin typeface="Times New Roman"/>
              <a:cs typeface="Times New Roman"/>
            </a:endParaRPr>
          </a:p>
          <a:p>
            <a:pPr marL="12700" marR="2786380" indent="227329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Fin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8951" y="1592441"/>
            <a:ext cx="354393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Exercice</a:t>
            </a:r>
            <a:r>
              <a:rPr sz="28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d’application: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0390" y="2305106"/>
            <a:ext cx="3034030" cy="125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700" spc="-5" dirty="0">
                <a:latin typeface="Times New Roman"/>
                <a:cs typeface="Times New Roman"/>
              </a:rPr>
              <a:t>Quel résultat produira  cet </a:t>
            </a:r>
            <a:r>
              <a:rPr sz="2700" spc="-5" dirty="0" err="1">
                <a:latin typeface="Times New Roman"/>
                <a:cs typeface="Times New Roman"/>
              </a:rPr>
              <a:t>algorithme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?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2400" y="3810000"/>
            <a:ext cx="32004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</a:t>
            </a:r>
            <a:r>
              <a:rPr sz="2600" spc="-10" dirty="0">
                <a:solidFill>
                  <a:srgbClr val="FFFFFF"/>
                </a:solidFill>
              </a:rPr>
              <a:t>Structure </a:t>
            </a:r>
            <a:r>
              <a:rPr sz="2600" spc="-5" dirty="0">
                <a:solidFill>
                  <a:srgbClr val="FFFFFF"/>
                </a:solidFill>
              </a:rPr>
              <a:t>de donnée « tableau</a:t>
            </a:r>
            <a:r>
              <a:rPr sz="2600" spc="4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»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42189" y="885418"/>
            <a:ext cx="5154295" cy="4819267"/>
          </a:xfrm>
          <a:prstGeom prst="rect">
            <a:avLst/>
          </a:prstGeom>
        </p:spPr>
        <p:txBody>
          <a:bodyPr vert="horz" wrap="square" lIns="0" tIns="2590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Exercice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d’application:</a:t>
            </a:r>
            <a:r>
              <a:rPr sz="2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Correction</a:t>
            </a:r>
            <a:endParaRPr sz="2800" dirty="0">
              <a:latin typeface="Times New Roman"/>
              <a:cs typeface="Times New Roman"/>
            </a:endParaRPr>
          </a:p>
          <a:p>
            <a:pPr marL="83820" marR="508634" algn="just">
              <a:lnSpc>
                <a:spcPct val="100000"/>
              </a:lnSpc>
              <a:spcBef>
                <a:spcPts val="1939"/>
              </a:spcBef>
            </a:pPr>
            <a:r>
              <a:rPr sz="2800" spc="-5" dirty="0">
                <a:latin typeface="Times New Roman"/>
                <a:cs typeface="Times New Roman"/>
              </a:rPr>
              <a:t>Cet </a:t>
            </a:r>
            <a:r>
              <a:rPr sz="2800" spc="-5" dirty="0" err="1">
                <a:latin typeface="Times New Roman"/>
                <a:cs typeface="Times New Roman"/>
              </a:rPr>
              <a:t>algorithme</a:t>
            </a:r>
            <a:r>
              <a:rPr sz="2800" spc="-5" dirty="0">
                <a:latin typeface="Times New Roman"/>
                <a:cs typeface="Times New Roman"/>
              </a:rPr>
              <a:t> remplit </a:t>
            </a:r>
            <a:r>
              <a:rPr sz="2800" spc="-10" dirty="0">
                <a:latin typeface="Times New Roman"/>
                <a:cs typeface="Times New Roman"/>
              </a:rPr>
              <a:t>le  tableau </a:t>
            </a:r>
            <a:r>
              <a:rPr sz="2800" dirty="0">
                <a:latin typeface="Times New Roman"/>
                <a:cs typeface="Times New Roman"/>
              </a:rPr>
              <a:t>X de </a:t>
            </a:r>
            <a:r>
              <a:rPr sz="2800" spc="-5" dirty="0">
                <a:latin typeface="Times New Roman"/>
                <a:cs typeface="Times New Roman"/>
              </a:rPr>
              <a:t>la manière  suivante:</a:t>
            </a:r>
            <a:endParaRPr sz="2800" dirty="0">
              <a:latin typeface="Times New Roman"/>
              <a:cs typeface="Times New Roman"/>
            </a:endParaRPr>
          </a:p>
          <a:p>
            <a:pPr marR="650875" algn="ctr">
              <a:lnSpc>
                <a:spcPts val="3360"/>
              </a:lnSpc>
            </a:pPr>
            <a:r>
              <a:rPr sz="2800" dirty="0">
                <a:latin typeface="Times New Roman"/>
                <a:cs typeface="Times New Roman"/>
              </a:rPr>
              <a:t>X(0, 0) =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</a:p>
          <a:p>
            <a:pPr marR="650875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X(0, 1) =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</a:p>
          <a:p>
            <a:pPr marR="650875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X(0, 2) =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</a:t>
            </a:r>
          </a:p>
          <a:p>
            <a:pPr marR="650875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X(1, 0) =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</a:t>
            </a:r>
          </a:p>
          <a:p>
            <a:pPr marR="650875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X(1, 1) =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</a:t>
            </a:r>
          </a:p>
          <a:p>
            <a:pPr marR="650875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X(1, 2) =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5" name="object 5"/>
          <p:cNvSpPr/>
          <p:nvPr/>
        </p:nvSpPr>
        <p:spPr>
          <a:xfrm>
            <a:off x="3963508" y="3712325"/>
            <a:ext cx="145389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19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8" name="object 3"/>
          <p:cNvSpPr txBox="1"/>
          <p:nvPr/>
        </p:nvSpPr>
        <p:spPr>
          <a:xfrm>
            <a:off x="5777139" y="885418"/>
            <a:ext cx="6681327" cy="5468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b="1" spc="-90" dirty="0">
                <a:latin typeface="Times New Roman"/>
                <a:cs typeface="Times New Roman"/>
              </a:rPr>
              <a:t>Algorithme </a:t>
            </a:r>
            <a:r>
              <a:rPr lang="en-US" sz="2200" spc="-90" dirty="0" err="1">
                <a:latin typeface="Times New Roman"/>
                <a:cs typeface="Times New Roman"/>
              </a:rPr>
              <a:t>Exemple</a:t>
            </a:r>
            <a:endParaRPr lang="en-US" sz="2200" spc="-9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b="1" spc="-90" dirty="0">
                <a:latin typeface="Times New Roman"/>
                <a:cs typeface="Times New Roman"/>
              </a:rPr>
              <a:t>Variables</a:t>
            </a:r>
            <a:r>
              <a:rPr lang="en-US" sz="2200" spc="-90" dirty="0">
                <a:latin typeface="Times New Roman"/>
                <a:cs typeface="Times New Roman"/>
              </a:rPr>
              <a:t> :  Tableau X[2,3], </a:t>
            </a:r>
            <a:r>
              <a:rPr lang="en-US" sz="2200" spc="-90" dirty="0" err="1">
                <a:latin typeface="Times New Roman"/>
                <a:cs typeface="Times New Roman"/>
              </a:rPr>
              <a:t>i</a:t>
            </a:r>
            <a:r>
              <a:rPr lang="en-US" sz="2200" spc="-90" dirty="0">
                <a:latin typeface="Times New Roman"/>
                <a:cs typeface="Times New Roman"/>
              </a:rPr>
              <a:t>, j, </a:t>
            </a:r>
            <a:r>
              <a:rPr lang="en-US" sz="2200" spc="-90" dirty="0" err="1">
                <a:latin typeface="Times New Roman"/>
                <a:cs typeface="Times New Roman"/>
              </a:rPr>
              <a:t>val</a:t>
            </a:r>
            <a:r>
              <a:rPr lang="en-US" sz="2200" spc="-90" dirty="0">
                <a:latin typeface="Times New Roman"/>
                <a:cs typeface="Times New Roman"/>
              </a:rPr>
              <a:t> : </a:t>
            </a:r>
            <a:r>
              <a:rPr lang="en-US" sz="2200" spc="-90" dirty="0" err="1">
                <a:latin typeface="Times New Roman"/>
                <a:cs typeface="Times New Roman"/>
              </a:rPr>
              <a:t>Entier</a:t>
            </a:r>
            <a:endParaRPr lang="en-US" sz="2200" spc="-90" dirty="0"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r>
              <a:rPr lang="en-US" sz="2200" b="1" spc="-90" dirty="0">
                <a:latin typeface="Times New Roman"/>
                <a:cs typeface="Times New Roman"/>
              </a:rPr>
              <a:t>Début</a:t>
            </a:r>
            <a:endParaRPr lang="en-US" sz="2200" spc="-9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spc="-90" dirty="0">
                <a:latin typeface="Times New Roman"/>
                <a:cs typeface="Times New Roman"/>
              </a:rPr>
              <a:t>	</a:t>
            </a:r>
            <a:r>
              <a:rPr sz="2200" spc="-90" dirty="0">
                <a:latin typeface="Times New Roman"/>
                <a:cs typeface="Times New Roman"/>
              </a:rPr>
              <a:t>Val </a:t>
            </a:r>
            <a:r>
              <a:rPr sz="2200" dirty="0">
                <a:latin typeface="Times New Roman"/>
                <a:cs typeface="Times New Roman"/>
              </a:rPr>
              <a:t>←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</a:p>
          <a:p>
            <a:pPr marL="12700">
              <a:lnSpc>
                <a:spcPct val="100000"/>
              </a:lnSpc>
            </a:pPr>
            <a:r>
              <a:rPr lang="fr-FR" sz="2200" b="1" spc="-5" dirty="0">
                <a:latin typeface="Times New Roman"/>
                <a:cs typeface="Times New Roman"/>
              </a:rPr>
              <a:t>  	</a:t>
            </a:r>
            <a:r>
              <a:rPr sz="2200" b="1" spc="-5" dirty="0">
                <a:latin typeface="Times New Roman"/>
                <a:cs typeface="Times New Roman"/>
              </a:rPr>
              <a:t>Pour </a:t>
            </a:r>
            <a:r>
              <a:rPr sz="2200" dirty="0">
                <a:latin typeface="Times New Roman"/>
                <a:cs typeface="Times New Roman"/>
              </a:rPr>
              <a:t>i ← 0 à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lang="fr-FR" sz="2200" dirty="0">
                <a:latin typeface="Times New Roman"/>
                <a:cs typeface="Times New Roman"/>
              </a:rPr>
              <a:t> </a:t>
            </a:r>
            <a:r>
              <a:rPr lang="fr-FR" sz="2200" b="1" dirty="0">
                <a:latin typeface="Times New Roman"/>
                <a:cs typeface="Times New Roman"/>
              </a:rPr>
              <a:t>Faire</a:t>
            </a:r>
            <a:endParaRPr sz="2200" b="1" dirty="0">
              <a:latin typeface="Times New Roman"/>
              <a:cs typeface="Times New Roman"/>
            </a:endParaRPr>
          </a:p>
          <a:p>
            <a:pPr marL="87630" marR="2058670" indent="76200">
              <a:lnSpc>
                <a:spcPct val="100000"/>
              </a:lnSpc>
            </a:pPr>
            <a:r>
              <a:rPr lang="fr-FR" sz="2200" b="1" spc="-5" dirty="0">
                <a:latin typeface="Times New Roman"/>
                <a:cs typeface="Times New Roman"/>
              </a:rPr>
              <a:t>    		</a:t>
            </a:r>
            <a:r>
              <a:rPr sz="2200" b="1" spc="-5" dirty="0">
                <a:latin typeface="Times New Roman"/>
                <a:cs typeface="Times New Roman"/>
              </a:rPr>
              <a:t>Pour </a:t>
            </a:r>
            <a:r>
              <a:rPr sz="2200" dirty="0">
                <a:latin typeface="Times New Roman"/>
                <a:cs typeface="Times New Roman"/>
              </a:rPr>
              <a:t>j ← 0 à 2  </a:t>
            </a:r>
            <a:r>
              <a:rPr lang="fr-FR" sz="2200" b="1" dirty="0">
                <a:latin typeface="Times New Roman"/>
                <a:cs typeface="Times New Roman"/>
              </a:rPr>
              <a:t>Faire</a:t>
            </a:r>
          </a:p>
          <a:p>
            <a:pPr marL="87630" marR="2058670" indent="76200">
              <a:lnSpc>
                <a:spcPct val="100000"/>
              </a:lnSpc>
            </a:pPr>
            <a:r>
              <a:rPr lang="fr-FR" sz="2200" spc="-5" dirty="0">
                <a:latin typeface="Times New Roman"/>
                <a:cs typeface="Times New Roman"/>
              </a:rPr>
              <a:t>          		</a:t>
            </a:r>
            <a:r>
              <a:rPr sz="2200" spc="-5" dirty="0">
                <a:latin typeface="Times New Roman"/>
                <a:cs typeface="Times New Roman"/>
              </a:rPr>
              <a:t>X[</a:t>
            </a:r>
            <a:r>
              <a:rPr sz="2200" spc="-5" dirty="0" err="1">
                <a:latin typeface="Times New Roman"/>
                <a:cs typeface="Times New Roman"/>
              </a:rPr>
              <a:t>i</a:t>
            </a:r>
            <a:r>
              <a:rPr sz="2200" spc="-5" dirty="0">
                <a:latin typeface="Times New Roman"/>
                <a:cs typeface="Times New Roman"/>
              </a:rPr>
              <a:t>, j] </a:t>
            </a:r>
            <a:r>
              <a:rPr sz="2200" dirty="0">
                <a:latin typeface="Times New Roman"/>
                <a:cs typeface="Times New Roman"/>
              </a:rPr>
              <a:t>← </a:t>
            </a:r>
            <a:r>
              <a:rPr sz="2200" spc="-90" dirty="0">
                <a:latin typeface="Times New Roman"/>
                <a:cs typeface="Times New Roman"/>
              </a:rPr>
              <a:t>Val  </a:t>
            </a:r>
            <a:endParaRPr lang="fr-FR" sz="2200" spc="-90" dirty="0">
              <a:latin typeface="Times New Roman"/>
              <a:cs typeface="Times New Roman"/>
            </a:endParaRPr>
          </a:p>
          <a:p>
            <a:pPr marL="544830" marR="2058670" lvl="1" indent="76200"/>
            <a:r>
              <a:rPr lang="fr-FR" sz="2200" spc="-90" dirty="0">
                <a:latin typeface="Times New Roman"/>
                <a:cs typeface="Times New Roman"/>
              </a:rPr>
              <a:t>     		</a:t>
            </a:r>
            <a:r>
              <a:rPr sz="2200" spc="-90" dirty="0">
                <a:latin typeface="Times New Roman"/>
                <a:cs typeface="Times New Roman"/>
              </a:rPr>
              <a:t>Val </a:t>
            </a:r>
            <a:r>
              <a:rPr sz="2200" dirty="0">
                <a:latin typeface="Times New Roman"/>
                <a:cs typeface="Times New Roman"/>
              </a:rPr>
              <a:t>← </a:t>
            </a:r>
            <a:r>
              <a:rPr sz="2200" spc="-90" dirty="0">
                <a:latin typeface="Times New Roman"/>
                <a:cs typeface="Times New Roman"/>
              </a:rPr>
              <a:t>Val </a:t>
            </a:r>
            <a:r>
              <a:rPr sz="2200" dirty="0">
                <a:latin typeface="Times New Roman"/>
                <a:cs typeface="Times New Roman"/>
              </a:rPr>
              <a:t>+ 1  </a:t>
            </a:r>
            <a:r>
              <a:rPr lang="fr-FR" sz="2200" dirty="0">
                <a:latin typeface="Times New Roman"/>
                <a:cs typeface="Times New Roman"/>
              </a:rPr>
              <a:t>             			</a:t>
            </a:r>
            <a:r>
              <a:rPr sz="2200" b="1" spc="-5" dirty="0" err="1">
                <a:latin typeface="Times New Roman"/>
                <a:cs typeface="Times New Roman"/>
              </a:rPr>
              <a:t>FinPour</a:t>
            </a:r>
            <a:r>
              <a:rPr sz="2200" b="1" spc="-5" dirty="0">
                <a:latin typeface="Times New Roman"/>
                <a:cs typeface="Times New Roman"/>
              </a:rPr>
              <a:t>  </a:t>
            </a:r>
            <a:endParaRPr lang="fr-FR" sz="2200" b="1" spc="-5" dirty="0">
              <a:latin typeface="Times New Roman"/>
              <a:cs typeface="Times New Roman"/>
            </a:endParaRPr>
          </a:p>
          <a:p>
            <a:pPr marL="87630" marR="2058670" indent="76200"/>
            <a:r>
              <a:rPr lang="en-US" sz="2200" b="1" spc="-5" dirty="0">
                <a:latin typeface="Times New Roman"/>
                <a:cs typeface="Times New Roman"/>
              </a:rPr>
              <a:t>	</a:t>
            </a:r>
            <a:r>
              <a:rPr sz="2200" b="1" spc="-5" dirty="0" err="1">
                <a:latin typeface="Times New Roman"/>
                <a:cs typeface="Times New Roman"/>
              </a:rPr>
              <a:t>FinPour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200" b="1" spc="-5" dirty="0">
                <a:latin typeface="Times New Roman"/>
                <a:cs typeface="Times New Roman"/>
              </a:rPr>
              <a:t>  	</a:t>
            </a:r>
            <a:r>
              <a:rPr sz="2200" b="1" spc="-5" dirty="0">
                <a:latin typeface="Times New Roman"/>
                <a:cs typeface="Times New Roman"/>
              </a:rPr>
              <a:t>Pour </a:t>
            </a:r>
            <a:r>
              <a:rPr sz="2200" dirty="0">
                <a:latin typeface="Times New Roman"/>
                <a:cs typeface="Times New Roman"/>
              </a:rPr>
              <a:t>i ← 0 à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lang="fr-FR" sz="2200" dirty="0">
                <a:latin typeface="Times New Roman"/>
                <a:cs typeface="Times New Roman"/>
              </a:rPr>
              <a:t> </a:t>
            </a:r>
            <a:r>
              <a:rPr lang="fr-FR" sz="2200" b="1" dirty="0">
                <a:latin typeface="Times New Roman"/>
                <a:cs typeface="Times New Roman"/>
              </a:rPr>
              <a:t>Faire</a:t>
            </a:r>
            <a:endParaRPr sz="2200" b="1" dirty="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lang="en-US" sz="2200" b="1" spc="-5" dirty="0">
                <a:latin typeface="Times New Roman"/>
                <a:cs typeface="Times New Roman"/>
              </a:rPr>
              <a:t>    		</a:t>
            </a:r>
            <a:r>
              <a:rPr sz="2200" b="1" spc="-5" dirty="0">
                <a:latin typeface="Times New Roman"/>
                <a:cs typeface="Times New Roman"/>
              </a:rPr>
              <a:t>Pour </a:t>
            </a:r>
            <a:r>
              <a:rPr sz="2200" dirty="0">
                <a:latin typeface="Times New Roman"/>
                <a:cs typeface="Times New Roman"/>
              </a:rPr>
              <a:t>j ← 0 à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</a:t>
            </a:r>
            <a:r>
              <a:rPr lang="fr-FR" sz="2200" dirty="0">
                <a:latin typeface="Times New Roman"/>
                <a:cs typeface="Times New Roman"/>
              </a:rPr>
              <a:t> </a:t>
            </a:r>
            <a:r>
              <a:rPr lang="fr-FR" sz="2200" b="1" dirty="0">
                <a:latin typeface="Times New Roman"/>
                <a:cs typeface="Times New Roman"/>
              </a:rPr>
              <a:t>Faire</a:t>
            </a:r>
            <a:endParaRPr sz="2200" b="1" dirty="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</a:pPr>
            <a:r>
              <a:rPr lang="en-US" sz="2200" spc="-5" dirty="0">
                <a:latin typeface="Times New Roman"/>
                <a:cs typeface="Times New Roman"/>
              </a:rPr>
              <a:t>   		</a:t>
            </a:r>
            <a:r>
              <a:rPr sz="2200" spc="-5" dirty="0" err="1">
                <a:latin typeface="Times New Roman"/>
                <a:cs typeface="Times New Roman"/>
              </a:rPr>
              <a:t>Ecrire</a:t>
            </a:r>
            <a:r>
              <a:rPr sz="2200" spc="-5" dirty="0">
                <a:latin typeface="Times New Roman"/>
                <a:cs typeface="Times New Roman"/>
              </a:rPr>
              <a:t>(" X</a:t>
            </a:r>
            <a:r>
              <a:rPr lang="en-US" sz="2200" spc="-5" dirty="0">
                <a:latin typeface="Times New Roman"/>
                <a:cs typeface="Times New Roman"/>
              </a:rPr>
              <a:t>(</a:t>
            </a:r>
            <a:r>
              <a:rPr sz="2200" spc="-5" dirty="0">
                <a:latin typeface="Times New Roman"/>
                <a:cs typeface="Times New Roman"/>
              </a:rPr>
              <a:t>",i,",", j, </a:t>
            </a:r>
            <a:r>
              <a:rPr sz="2200" spc="-5">
                <a:latin typeface="Times New Roman"/>
                <a:cs typeface="Times New Roman"/>
              </a:rPr>
              <a:t>"</a:t>
            </a:r>
            <a:r>
              <a:rPr lang="en-US" sz="2200" spc="-5">
                <a:latin typeface="Times New Roman"/>
                <a:cs typeface="Times New Roman"/>
              </a:rPr>
              <a:t>)=</a:t>
            </a:r>
            <a:r>
              <a:rPr sz="2200" spc="-5">
                <a:latin typeface="Times New Roman"/>
                <a:cs typeface="Times New Roman"/>
              </a:rPr>
              <a:t>", </a:t>
            </a:r>
            <a:r>
              <a:rPr sz="2200" spc="-5" dirty="0">
                <a:latin typeface="Times New Roman"/>
                <a:cs typeface="Times New Roman"/>
              </a:rPr>
              <a:t>X[i,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j])</a:t>
            </a:r>
            <a:endParaRPr sz="2200" dirty="0">
              <a:latin typeface="Times New Roman"/>
              <a:cs typeface="Times New Roman"/>
            </a:endParaRPr>
          </a:p>
          <a:p>
            <a:pPr marL="12700" marR="2786380" indent="227329">
              <a:lnSpc>
                <a:spcPct val="100000"/>
              </a:lnSpc>
            </a:pPr>
            <a:r>
              <a:rPr lang="en-US" sz="2200" b="1" spc="-10" dirty="0">
                <a:latin typeface="Times New Roman"/>
                <a:cs typeface="Times New Roman"/>
              </a:rPr>
              <a:t>   		</a:t>
            </a:r>
            <a:r>
              <a:rPr sz="2200" b="1" spc="-10" dirty="0" err="1">
                <a:latin typeface="Times New Roman"/>
                <a:cs typeface="Times New Roman"/>
              </a:rPr>
              <a:t>FinP</a:t>
            </a:r>
            <a:r>
              <a:rPr sz="2200" b="1" spc="-5" dirty="0" err="1">
                <a:latin typeface="Times New Roman"/>
                <a:cs typeface="Times New Roman"/>
              </a:rPr>
              <a:t>o</a:t>
            </a:r>
            <a:r>
              <a:rPr sz="2200" b="1" spc="-10" dirty="0" err="1">
                <a:latin typeface="Times New Roman"/>
                <a:cs typeface="Times New Roman"/>
              </a:rPr>
              <a:t>ur</a:t>
            </a:r>
            <a:endParaRPr lang="en-US" sz="2200" b="1" spc="-10" dirty="0">
              <a:latin typeface="Times New Roman"/>
              <a:cs typeface="Times New Roman"/>
            </a:endParaRPr>
          </a:p>
          <a:p>
            <a:pPr marL="12700" marR="2786380" indent="227329">
              <a:lnSpc>
                <a:spcPct val="100000"/>
              </a:lnSpc>
            </a:pPr>
            <a:r>
              <a:rPr lang="en-US" sz="2200" b="1" spc="-5" dirty="0">
                <a:latin typeface="Times New Roman"/>
                <a:cs typeface="Times New Roman"/>
              </a:rPr>
              <a:t>	</a:t>
            </a:r>
            <a:r>
              <a:rPr sz="2200" b="1" spc="-5" dirty="0" err="1">
                <a:latin typeface="Times New Roman"/>
                <a:cs typeface="Times New Roman"/>
              </a:rPr>
              <a:t>FinPour</a:t>
            </a:r>
            <a:endParaRPr lang="en-US" sz="2200" b="1" spc="-5" dirty="0">
              <a:latin typeface="Times New Roman"/>
              <a:cs typeface="Times New Roman"/>
            </a:endParaRPr>
          </a:p>
          <a:p>
            <a:pPr marL="12700" marR="2786380" indent="227329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Fin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6548630"/>
            <a:ext cx="622249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12745973" cy="714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4938" y="99208"/>
            <a:ext cx="676973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</a:t>
            </a:r>
            <a:r>
              <a:rPr sz="2600" spc="-10" dirty="0">
                <a:solidFill>
                  <a:srgbClr val="FFFFFF"/>
                </a:solidFill>
              </a:rPr>
              <a:t>Structure </a:t>
            </a:r>
            <a:r>
              <a:rPr sz="2600" spc="-5" dirty="0">
                <a:solidFill>
                  <a:srgbClr val="FFFFFF"/>
                </a:solidFill>
              </a:rPr>
              <a:t>de donnée « tableau</a:t>
            </a:r>
            <a:r>
              <a:rPr sz="2600" spc="4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»</a:t>
            </a:r>
            <a:endParaRPr sz="26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633959" y="6608992"/>
            <a:ext cx="22923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20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36784" y="894804"/>
            <a:ext cx="10415270" cy="45602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87070" algn="ctr">
              <a:lnSpc>
                <a:spcPct val="100000"/>
              </a:lnSpc>
              <a:spcBef>
                <a:spcPts val="100"/>
              </a:spcBef>
            </a:pPr>
            <a:r>
              <a:rPr sz="3000" b="1" spc="-35" dirty="0">
                <a:solidFill>
                  <a:srgbClr val="0070C0"/>
                </a:solidFill>
                <a:latin typeface="Times New Roman"/>
                <a:cs typeface="Times New Roman"/>
              </a:rPr>
              <a:t>Tableaux </a:t>
            </a:r>
            <a:r>
              <a:rPr sz="30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statiques vs. </a:t>
            </a:r>
            <a:r>
              <a:rPr sz="3000" b="1" spc="-35" dirty="0">
                <a:solidFill>
                  <a:srgbClr val="0070C0"/>
                </a:solidFill>
                <a:latin typeface="Times New Roman"/>
                <a:cs typeface="Times New Roman"/>
              </a:rPr>
              <a:t>Tableaux</a:t>
            </a:r>
            <a:r>
              <a:rPr sz="3000" b="1" spc="-5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dynamiques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0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buFont typeface="Wingdings"/>
              <a:buChar char=""/>
              <a:tabLst>
                <a:tab pos="506730" algn="l"/>
              </a:tabLst>
            </a:pPr>
            <a:r>
              <a:rPr lang="fr-FR" sz="3000" b="1" spc="-5" dirty="0">
                <a:latin typeface="Times New Roman"/>
                <a:cs typeface="Times New Roman"/>
              </a:rPr>
              <a:t>  </a:t>
            </a:r>
            <a:r>
              <a:rPr sz="3000" b="1" spc="-5">
                <a:latin typeface="Times New Roman"/>
                <a:cs typeface="Times New Roman"/>
              </a:rPr>
              <a:t>La </a:t>
            </a:r>
            <a:r>
              <a:rPr sz="3000" b="1" spc="-5" dirty="0">
                <a:latin typeface="Times New Roman"/>
                <a:cs typeface="Times New Roman"/>
              </a:rPr>
              <a:t>représentation statique </a:t>
            </a:r>
            <a:r>
              <a:rPr sz="3000" dirty="0">
                <a:latin typeface="Times New Roman"/>
                <a:cs typeface="Times New Roman"/>
              </a:rPr>
              <a:t>peut être utilisée lorsque la taille du  tableau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connue à l’avance </a:t>
            </a:r>
            <a:r>
              <a:rPr sz="3000" dirty="0">
                <a:latin typeface="Times New Roman"/>
                <a:cs typeface="Times New Roman"/>
              </a:rPr>
              <a:t>et reste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fixe pendant tout 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le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déroulement du programme</a:t>
            </a:r>
            <a:r>
              <a:rPr sz="3000" dirty="0">
                <a:latin typeface="Times New Roman"/>
                <a:cs typeface="Times New Roman"/>
              </a:rPr>
              <a:t> (elle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latin typeface="Times New Roman"/>
                <a:cs typeface="Times New Roman"/>
              </a:rPr>
              <a:t>quelquefois préférable </a:t>
            </a:r>
            <a:r>
              <a:rPr sz="3000" spc="-5" dirty="0">
                <a:latin typeface="Times New Roman"/>
                <a:cs typeface="Times New Roman"/>
              </a:rPr>
              <a:t>pour  </a:t>
            </a:r>
            <a:r>
              <a:rPr sz="3000" dirty="0">
                <a:latin typeface="Times New Roman"/>
                <a:cs typeface="Times New Roman"/>
              </a:rPr>
              <a:t>certaines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applications).</a:t>
            </a:r>
            <a:endParaRPr sz="3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  <a:spcBef>
                <a:spcPts val="1800"/>
              </a:spcBef>
              <a:buFont typeface="Wingdings"/>
              <a:buChar char=""/>
              <a:tabLst>
                <a:tab pos="506730" algn="l"/>
              </a:tabLst>
            </a:pPr>
            <a:r>
              <a:rPr lang="fr-FR" sz="3000" b="1" spc="-5" dirty="0">
                <a:latin typeface="Times New Roman"/>
                <a:cs typeface="Times New Roman"/>
              </a:rPr>
              <a:t>  </a:t>
            </a:r>
            <a:r>
              <a:rPr sz="3000" b="1" spc="-5">
                <a:latin typeface="Times New Roman"/>
                <a:cs typeface="Times New Roman"/>
              </a:rPr>
              <a:t>La </a:t>
            </a:r>
            <a:r>
              <a:rPr sz="3000" b="1" spc="-5" dirty="0">
                <a:latin typeface="Times New Roman"/>
                <a:cs typeface="Times New Roman"/>
              </a:rPr>
              <a:t>représentation dynamique </a:t>
            </a:r>
            <a:r>
              <a:rPr sz="3000" dirty="0">
                <a:latin typeface="Times New Roman"/>
                <a:cs typeface="Times New Roman"/>
              </a:rPr>
              <a:t>est préférable (voir  indispensable) </a:t>
            </a:r>
            <a:r>
              <a:rPr sz="3000" spc="-5" dirty="0">
                <a:latin typeface="Times New Roman"/>
                <a:cs typeface="Times New Roman"/>
              </a:rPr>
              <a:t>lorsque </a:t>
            </a:r>
            <a:r>
              <a:rPr sz="3000" dirty="0">
                <a:latin typeface="Times New Roman"/>
                <a:cs typeface="Times New Roman"/>
              </a:rPr>
              <a:t>la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taille du tableau n’est 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pas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connue à  l’avance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ou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peut changer au 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cours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du</a:t>
            </a:r>
            <a:r>
              <a:rPr sz="30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temps</a:t>
            </a:r>
            <a:r>
              <a:rPr sz="300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</TotalTime>
  <Words>2006</Words>
  <Application>Microsoft Office PowerPoint</Application>
  <PresentationFormat>Personnalisé</PresentationFormat>
  <Paragraphs>287</Paragraphs>
  <Slides>20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Calibri</vt:lpstr>
      <vt:lpstr>Times New Roman</vt:lpstr>
      <vt:lpstr>Wingdings</vt:lpstr>
      <vt:lpstr>Office Theme</vt:lpstr>
      <vt:lpstr>Algorithmique</vt:lpstr>
      <vt:lpstr>Algorithmique</vt:lpstr>
      <vt:lpstr>Pourquoi les tableaux ?</vt:lpstr>
      <vt:lpstr>Algorithmique: Structure de donnée « tableau »</vt:lpstr>
      <vt:lpstr>Pourquoi les tableaux ?</vt:lpstr>
      <vt:lpstr>Tableaux</vt:lpstr>
      <vt:lpstr>Tableaux unidimensionnels statiques</vt:lpstr>
      <vt:lpstr>Tableaux unidimensionnels statiques</vt:lpstr>
      <vt:lpstr>Algorithmique: Structure de donnée « tableau »</vt:lpstr>
      <vt:lpstr>Tableaux unidimensionnels statiques</vt:lpstr>
      <vt:lpstr>Tableaux unidimensionnels statiques</vt:lpstr>
      <vt:lpstr>Tableaux unidimensionnels dynamiques</vt:lpstr>
      <vt:lpstr>Algorithmique: Structure de donnée « tableau »</vt:lpstr>
      <vt:lpstr>Tableaux unidimensionnels dynamique</vt:lpstr>
      <vt:lpstr>Algorithmique: Structure de donnée « tableau »</vt:lpstr>
      <vt:lpstr>Algorithmique: Structure de donnée « tableau »</vt:lpstr>
      <vt:lpstr>Tableaux multidimensionnels</vt:lpstr>
      <vt:lpstr>Présentation PowerPoint</vt:lpstr>
      <vt:lpstr>Algorithmique: Structure de donnée « tableau »</vt:lpstr>
      <vt:lpstr>Algorithmique: Structure de donnée « tableau 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Algorithmique</dc:title>
  <dc:creator>Niss</dc:creator>
  <cp:lastModifiedBy>JABRANE</cp:lastModifiedBy>
  <cp:revision>135</cp:revision>
  <dcterms:created xsi:type="dcterms:W3CDTF">2019-09-09T05:00:19Z</dcterms:created>
  <dcterms:modified xsi:type="dcterms:W3CDTF">2024-11-04T10:05:57Z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2017-11-23T00:00:00Z</vt:filetime>
  </property>
  <property fmtid="{D5CDD505-2E9C-101B-9397-08002B2CF9AE}" pid="3" name="Creator">
    <vt:lpwstr>Acrobat PDFMaker 10.0 pour PowerPoint</vt:lpwstr>
  </property>
  <property fmtid="{D5CDD505-2E9C-101B-9397-08002B2CF9AE}" pid="4" name="LastSaved">
    <vt:filetime>2019-09-09T00:00:00Z</vt:filetime>
  </property>
</Properties>
</file>