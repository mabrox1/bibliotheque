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9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00" r:id="rId26"/>
    <p:sldId id="281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026900" cy="6858000"/>
  <p:notesSz cx="120269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2898"/>
    <a:srgbClr val="47309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16" autoAdjust="0"/>
    <p:restoredTop sz="94976" autoAdjust="0"/>
  </p:normalViewPr>
  <p:slideViewPr>
    <p:cSldViewPr>
      <p:cViewPr varScale="1">
        <p:scale>
          <a:sx n="64" d="100"/>
          <a:sy n="64" d="100"/>
        </p:scale>
        <p:origin x="624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11763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6811963" y="0"/>
            <a:ext cx="5211762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E99F6A-1A02-4131-9436-1B6F2106B7F5}" type="datetimeFigureOut">
              <a:rPr lang="fr-FR" smtClean="0"/>
              <a:t>04/11/2024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757613" y="514350"/>
            <a:ext cx="4511675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1203325" y="3257550"/>
            <a:ext cx="962025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11763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6811963" y="6513513"/>
            <a:ext cx="5211762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1C0B7-03C8-4B4D-9CDC-3E55F224A2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416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031DB6-7337-492C-B918-7A1DD59C2CF7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Exemple </a:t>
            </a:r>
            <a:r>
              <a:rPr lang="fr-FR" b="1" dirty="0">
                <a:solidFill>
                  <a:srgbClr val="C00000"/>
                </a:solidFill>
                <a:latin typeface="Times New Roman"/>
                <a:cs typeface="Times New Roman"/>
              </a:rPr>
              <a:t>1: </a:t>
            </a:r>
            <a:r>
              <a:rPr lang="fr-FR" dirty="0"/>
              <a:t>Un </a:t>
            </a:r>
            <a:r>
              <a:rPr lang="fr-FR" spc="-5" dirty="0"/>
              <a:t>algorithme qui détermine le premier nombre </a:t>
            </a:r>
            <a:r>
              <a:rPr lang="fr-FR" spc="-10" dirty="0"/>
              <a:t>entier </a:t>
            </a:r>
            <a:r>
              <a:rPr lang="fr-FR" dirty="0"/>
              <a:t>N  </a:t>
            </a:r>
            <a:r>
              <a:rPr lang="fr-FR" spc="-5" dirty="0"/>
              <a:t>tel que la somme de </a:t>
            </a:r>
            <a:r>
              <a:rPr lang="fr-FR" dirty="0"/>
              <a:t>1 à N </a:t>
            </a:r>
            <a:r>
              <a:rPr lang="fr-FR" spc="-5" dirty="0"/>
              <a:t>dépasse </a:t>
            </a:r>
            <a:r>
              <a:rPr lang="fr-FR" spc="-10" dirty="0"/>
              <a:t>strictement </a:t>
            </a:r>
            <a:r>
              <a:rPr lang="fr-FR" spc="-5" dirty="0"/>
              <a:t>100 (</a:t>
            </a:r>
            <a:r>
              <a:rPr lang="fr-FR" spc="-5" dirty="0">
                <a:solidFill>
                  <a:srgbClr val="558ED5"/>
                </a:solidFill>
              </a:rPr>
              <a:t>version avec  répéter</a:t>
            </a:r>
            <a:r>
              <a:rPr lang="fr-FR" spc="-30" dirty="0">
                <a:solidFill>
                  <a:srgbClr val="558ED5"/>
                </a:solidFill>
              </a:rPr>
              <a:t> </a:t>
            </a:r>
            <a:r>
              <a:rPr lang="fr-FR" spc="-5" dirty="0">
                <a:solidFill>
                  <a:srgbClr val="558ED5"/>
                </a:solidFill>
              </a:rPr>
              <a:t>jusqu'à</a:t>
            </a:r>
            <a:r>
              <a:rPr lang="fr-FR" spc="-5" dirty="0"/>
              <a:t>).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E1C0B7-03C8-4B4D-9CDC-3E55F224A233}" type="slidenum">
              <a:rPr lang="fr-FR" smtClean="0"/>
              <a:t>27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2017" y="2125980"/>
            <a:ext cx="10222865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04035" y="3840480"/>
            <a:ext cx="841883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6421" y="1316451"/>
            <a:ext cx="4531995" cy="4315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090746" y="2163944"/>
            <a:ext cx="4986020" cy="3736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777484" y="6530340"/>
            <a:ext cx="6247637" cy="3276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777484" y="6530340"/>
            <a:ext cx="6247637" cy="3276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57357" y="805097"/>
            <a:ext cx="6312184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0023" y="1378125"/>
            <a:ext cx="9985375" cy="3012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488770" y="6629215"/>
            <a:ext cx="847725" cy="18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1345" y="6377940"/>
            <a:ext cx="2766187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8852" y="6608992"/>
            <a:ext cx="229234" cy="222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‹N°›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3723" y="2143116"/>
            <a:ext cx="10824210" cy="1143000"/>
          </a:xfrm>
        </p:spPr>
        <p:txBody>
          <a:bodyPr>
            <a:normAutofit/>
          </a:bodyPr>
          <a:lstStyle/>
          <a:p>
            <a:pPr algn="ctr"/>
            <a:r>
              <a:rPr lang="fr-FR" sz="5900" dirty="0">
                <a:solidFill>
                  <a:srgbClr val="000000"/>
                </a:solidFill>
              </a:rPr>
              <a:t>Algo</a:t>
            </a:r>
            <a:r>
              <a:rPr lang="fr-FR" sz="5900" spc="-5" dirty="0">
                <a:solidFill>
                  <a:srgbClr val="000000"/>
                </a:solidFill>
              </a:rPr>
              <a:t>r</a:t>
            </a:r>
            <a:r>
              <a:rPr lang="fr-FR" sz="5900" dirty="0">
                <a:solidFill>
                  <a:srgbClr val="000000"/>
                </a:solidFill>
              </a:rPr>
              <a:t>i</a:t>
            </a:r>
            <a:r>
              <a:rPr lang="fr-FR" sz="5900" spc="-5" dirty="0">
                <a:solidFill>
                  <a:srgbClr val="000000"/>
                </a:solidFill>
              </a:rPr>
              <a:t>t</a:t>
            </a:r>
            <a:r>
              <a:rPr lang="fr-FR" sz="5900" dirty="0">
                <a:solidFill>
                  <a:srgbClr val="000000"/>
                </a:solidFill>
              </a:rPr>
              <a:t>hmique</a:t>
            </a:r>
            <a:endParaRPr lang="fr-FR" sz="59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" y="6572248"/>
            <a:ext cx="5825529" cy="28575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fr-FR" sz="1100" spc="-5">
                <a:solidFill>
                  <a:srgbClr val="FFFFFF"/>
                </a:solidFill>
                <a:latin typeface="Times New Roman"/>
                <a:cs typeface="Times New Roman"/>
              </a:rPr>
              <a:t>Algorithmique</a:t>
            </a:r>
            <a:endParaRPr lang="fr-FR" sz="1100" dirty="0">
              <a:latin typeface="Times New Roman"/>
              <a:cs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25571" y="6572272"/>
            <a:ext cx="6201330" cy="285728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>
                <a:latin typeface="Times New Roman" pitchFamily="18" charset="0"/>
                <a:cs typeface="Times New Roman" pitchFamily="18" charset="0"/>
              </a:rPr>
              <a:t>m.saadi@</a:t>
            </a:r>
            <a:r>
              <a:rPr lang="fr-FR" sz="1100" dirty="0">
                <a:latin typeface="Times New Roman" pitchFamily="18" charset="0"/>
                <a:cs typeface="Times New Roman" pitchFamily="18" charset="0"/>
              </a:rPr>
              <a:t>usms.ma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0"/>
            <a:ext cx="12026900" cy="642918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2052" name="Picture 4" descr="Image associée"/>
          <p:cNvPicPr>
            <a:picLocks noChangeAspect="1" noChangeArrowheads="1"/>
          </p:cNvPicPr>
          <p:nvPr/>
        </p:nvPicPr>
        <p:blipFill>
          <a:blip r:embed="rId3" cstate="print"/>
          <a:srcRect l="19769" r="25078" b="-3517"/>
          <a:stretch>
            <a:fillRect/>
          </a:stretch>
        </p:blipFill>
        <p:spPr bwMode="auto">
          <a:xfrm>
            <a:off x="474189" y="1000108"/>
            <a:ext cx="1999377" cy="1071570"/>
          </a:xfrm>
          <a:prstGeom prst="rect">
            <a:avLst/>
          </a:prstGeom>
          <a:noFill/>
        </p:spPr>
      </p:pic>
      <p:pic>
        <p:nvPicPr>
          <p:cNvPr id="9" name="Image 8" descr="Afficher l’image source"/>
          <p:cNvPicPr/>
          <p:nvPr/>
        </p:nvPicPr>
        <p:blipFill>
          <a:blip r:embed="rId4"/>
          <a:srcRect l="6918" t="15111" r="7862" b="15111"/>
          <a:stretch>
            <a:fillRect/>
          </a:stretch>
        </p:blipFill>
        <p:spPr bwMode="auto">
          <a:xfrm>
            <a:off x="9990356" y="1000108"/>
            <a:ext cx="1278292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object 10"/>
          <p:cNvSpPr txBox="1"/>
          <p:nvPr/>
        </p:nvSpPr>
        <p:spPr>
          <a:xfrm>
            <a:off x="2746706" y="3286124"/>
            <a:ext cx="6549224" cy="24942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40"/>
              </a:spcBef>
            </a:pPr>
            <a:r>
              <a:rPr lang="fr-FR" sz="2400" spc="-5" dirty="0">
                <a:solidFill>
                  <a:srgbClr val="595958"/>
                </a:solidFill>
                <a:uFill>
                  <a:solidFill>
                    <a:srgbClr val="595958"/>
                  </a:solidFill>
                </a:uFill>
                <a:latin typeface="Times New Roman"/>
                <a:cs typeface="Times New Roman"/>
              </a:rPr>
              <a:t>Première Année du Cycle Préparatoire</a:t>
            </a:r>
            <a:endParaRPr sz="2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595958"/>
                </a:solidFill>
                <a:latin typeface="Times New Roman"/>
                <a:cs typeface="Times New Roman"/>
              </a:rPr>
              <a:t>ENSA</a:t>
            </a:r>
            <a:r>
              <a:rPr sz="2400" spc="-80" dirty="0">
                <a:solidFill>
                  <a:srgbClr val="595958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595958"/>
                </a:solidFill>
                <a:latin typeface="Times New Roman"/>
                <a:cs typeface="Times New Roman"/>
              </a:rPr>
              <a:t>Khouribga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2400" b="1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Pr. </a:t>
            </a:r>
            <a:r>
              <a:rPr lang="fr-FR" sz="2400" b="1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SAADI Mostafa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Année Universitaire:</a:t>
            </a:r>
            <a:r>
              <a:rPr sz="2400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20</a:t>
            </a:r>
            <a:r>
              <a:rPr lang="fr-F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24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/202</a:t>
            </a:r>
            <a:r>
              <a:rPr lang="fr-F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5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7910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8489" y="876537"/>
            <a:ext cx="9211310" cy="4777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6390" algn="ctr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Outils de base </a:t>
            </a:r>
            <a:r>
              <a:rPr sz="3200" b="1" spc="-10" dirty="0">
                <a:solidFill>
                  <a:srgbClr val="0070C0"/>
                </a:solidFill>
                <a:latin typeface="Times New Roman"/>
                <a:cs typeface="Times New Roman"/>
              </a:rPr>
              <a:t>d’un </a:t>
            </a:r>
            <a:r>
              <a:rPr sz="3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algorithme</a:t>
            </a:r>
            <a:r>
              <a:rPr sz="3200" b="1" spc="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(Suite)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2350"/>
              </a:spcBef>
              <a:tabLst>
                <a:tab pos="721995" algn="l"/>
                <a:tab pos="2695575" algn="l"/>
                <a:tab pos="5006975" algn="l"/>
                <a:tab pos="5558155" algn="l"/>
                <a:tab pos="6967220" algn="l"/>
                <a:tab pos="8510905" algn="l"/>
                <a:tab pos="8903970" algn="l"/>
              </a:tabLst>
            </a:pPr>
            <a:r>
              <a:rPr sz="3200" spc="-5" dirty="0">
                <a:latin typeface="Times New Roman"/>
                <a:cs typeface="Times New Roman"/>
              </a:rPr>
              <a:t>Un	algo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ithme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-10" dirty="0">
                <a:latin typeface="Times New Roman"/>
                <a:cs typeface="Times New Roman"/>
              </a:rPr>
              <a:t>for</a:t>
            </a:r>
            <a:r>
              <a:rPr sz="3200" spc="-5" dirty="0">
                <a:latin typeface="Times New Roman"/>
                <a:cs typeface="Times New Roman"/>
              </a:rPr>
              <a:t>matique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s</a:t>
            </a:r>
            <a:r>
              <a:rPr sz="3200" spc="-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amène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tou</a:t>
            </a:r>
            <a:r>
              <a:rPr sz="3200" spc="-15" dirty="0">
                <a:latin typeface="Times New Roman"/>
                <a:cs typeface="Times New Roman"/>
              </a:rPr>
              <a:t>j</a:t>
            </a:r>
            <a:r>
              <a:rPr sz="3200" spc="-5" dirty="0">
                <a:latin typeface="Times New Roman"/>
                <a:cs typeface="Times New Roman"/>
              </a:rPr>
              <a:t>ou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à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la  combinaison de 4 briques de base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428750" indent="-502920">
              <a:lnSpc>
                <a:spcPct val="100000"/>
              </a:lnSpc>
              <a:spcBef>
                <a:spcPts val="2430"/>
              </a:spcBef>
              <a:buFont typeface="Wingdings"/>
              <a:buChar char=""/>
              <a:tabLst>
                <a:tab pos="1428750" algn="l"/>
                <a:tab pos="1429385" algn="l"/>
              </a:tabLst>
            </a:pPr>
            <a:r>
              <a:rPr sz="3200" spc="-10" dirty="0">
                <a:latin typeface="Times New Roman"/>
                <a:cs typeface="Times New Roman"/>
              </a:rPr>
              <a:t>Affectation </a:t>
            </a:r>
            <a:r>
              <a:rPr sz="3200" spc="-5" dirty="0">
                <a:latin typeface="Times New Roman"/>
                <a:cs typeface="Times New Roman"/>
              </a:rPr>
              <a:t>de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variables</a:t>
            </a:r>
            <a:endParaRPr sz="3200">
              <a:latin typeface="Times New Roman"/>
              <a:cs typeface="Times New Roman"/>
            </a:endParaRPr>
          </a:p>
          <a:p>
            <a:pPr marL="1451610" indent="-525780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1451610" algn="l"/>
                <a:tab pos="1452245" algn="l"/>
              </a:tabLst>
            </a:pPr>
            <a:r>
              <a:rPr sz="3200" spc="-5" dirty="0">
                <a:latin typeface="Times New Roman"/>
                <a:cs typeface="Times New Roman"/>
              </a:rPr>
              <a:t>Lecture /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écriture</a:t>
            </a:r>
            <a:endParaRPr sz="3200">
              <a:latin typeface="Times New Roman"/>
              <a:cs typeface="Times New Roman"/>
            </a:endParaRPr>
          </a:p>
          <a:p>
            <a:pPr marL="1451610" indent="-525780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1451610" algn="l"/>
                <a:tab pos="1452245" algn="l"/>
              </a:tabLst>
            </a:pPr>
            <a:r>
              <a:rPr sz="3200" spc="-5" dirty="0">
                <a:solidFill>
                  <a:srgbClr val="C00000"/>
                </a:solidFill>
                <a:latin typeface="Times New Roman"/>
                <a:cs typeface="Times New Roman"/>
              </a:rPr>
              <a:t>Les tests</a:t>
            </a:r>
            <a:endParaRPr sz="3200">
              <a:latin typeface="Times New Roman"/>
              <a:cs typeface="Times New Roman"/>
            </a:endParaRPr>
          </a:p>
          <a:p>
            <a:pPr marL="1451610" indent="-525780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1451610" algn="l"/>
                <a:tab pos="1452245" algn="l"/>
              </a:tabLst>
            </a:pPr>
            <a:r>
              <a:rPr sz="3200" spc="-5" dirty="0">
                <a:latin typeface="Times New Roman"/>
                <a:cs typeface="Times New Roman"/>
              </a:rPr>
              <a:t>Les boucles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Outils de</a:t>
            </a:r>
            <a:r>
              <a:rPr sz="2600" spc="-10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base</a:t>
            </a:r>
            <a:endParaRPr sz="26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8892" y="805097"/>
            <a:ext cx="9982835" cy="4987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9420" algn="ctr">
              <a:lnSpc>
                <a:spcPct val="100000"/>
              </a:lnSpc>
              <a:spcBef>
                <a:spcPts val="95"/>
              </a:spcBef>
            </a:pPr>
            <a:r>
              <a:rPr sz="3200" b="1" spc="-55" dirty="0">
                <a:solidFill>
                  <a:srgbClr val="0070C0"/>
                </a:solidFill>
                <a:latin typeface="Times New Roman"/>
                <a:cs typeface="Times New Roman"/>
              </a:rPr>
              <a:t>Tests: </a:t>
            </a:r>
            <a:r>
              <a:rPr sz="3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instructions</a:t>
            </a:r>
            <a:r>
              <a:rPr sz="3200" b="1" spc="7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conditionnelles</a:t>
            </a:r>
            <a:endParaRPr sz="3200" dirty="0">
              <a:latin typeface="Times New Roman"/>
              <a:cs typeface="Times New Roman"/>
            </a:endParaRPr>
          </a:p>
          <a:p>
            <a:pPr marL="13335" marR="5080" indent="-635" algn="just">
              <a:lnSpc>
                <a:spcPct val="100000"/>
              </a:lnSpc>
              <a:spcBef>
                <a:spcPts val="2350"/>
              </a:spcBef>
              <a:buFont typeface="Wingdings"/>
              <a:buChar char=""/>
              <a:tabLst>
                <a:tab pos="538480" algn="l"/>
              </a:tabLst>
            </a:pPr>
            <a:r>
              <a:rPr lang="fr-FR" sz="3200" spc="-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Les instructions </a:t>
            </a:r>
            <a:r>
              <a:rPr sz="3200" spc="-10" dirty="0">
                <a:latin typeface="Times New Roman"/>
                <a:cs typeface="Times New Roman"/>
              </a:rPr>
              <a:t>d’affectation, </a:t>
            </a:r>
            <a:r>
              <a:rPr sz="3200" spc="-5" dirty="0">
                <a:latin typeface="Times New Roman"/>
                <a:cs typeface="Times New Roman"/>
              </a:rPr>
              <a:t>de lecture et d’écriture sont  des </a:t>
            </a:r>
            <a:r>
              <a:rPr sz="3200" spc="-5" dirty="0">
                <a:solidFill>
                  <a:srgbClr val="C00000"/>
                </a:solidFill>
                <a:latin typeface="Times New Roman"/>
                <a:cs typeface="Times New Roman"/>
              </a:rPr>
              <a:t>instructions</a:t>
            </a:r>
            <a:r>
              <a:rPr sz="32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C00000"/>
                </a:solidFill>
                <a:latin typeface="Times New Roman"/>
                <a:cs typeface="Times New Roman"/>
              </a:rPr>
              <a:t>séquentielles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538480" algn="l"/>
              </a:tabLst>
            </a:pPr>
            <a:r>
              <a:rPr lang="fr-FR" sz="3200" spc="-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Les </a:t>
            </a:r>
            <a:r>
              <a:rPr sz="3200" dirty="0">
                <a:latin typeface="Times New Roman"/>
                <a:cs typeface="Times New Roman"/>
              </a:rPr>
              <a:t>tests </a:t>
            </a:r>
            <a:r>
              <a:rPr sz="3200" spc="-5" dirty="0">
                <a:latin typeface="Times New Roman"/>
                <a:cs typeface="Times New Roman"/>
              </a:rPr>
              <a:t>sont </a:t>
            </a:r>
            <a:r>
              <a:rPr sz="3200" dirty="0">
                <a:latin typeface="Times New Roman"/>
                <a:cs typeface="Times New Roman"/>
              </a:rPr>
              <a:t>des </a:t>
            </a:r>
            <a:r>
              <a:rPr sz="3200" spc="-5" dirty="0">
                <a:solidFill>
                  <a:srgbClr val="C00000"/>
                </a:solidFill>
                <a:latin typeface="Times New Roman"/>
                <a:cs typeface="Times New Roman"/>
              </a:rPr>
              <a:t>instructions </a:t>
            </a:r>
            <a:r>
              <a:rPr sz="3200" spc="-5" dirty="0" err="1">
                <a:solidFill>
                  <a:srgbClr val="C00000"/>
                </a:solidFill>
                <a:latin typeface="Times New Roman"/>
                <a:cs typeface="Times New Roman"/>
              </a:rPr>
              <a:t>conditionnelles</a:t>
            </a:r>
            <a:r>
              <a:rPr lang="fr-FR" sz="32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fr-FR" sz="3200" spc="-5" dirty="0">
                <a:latin typeface="Times New Roman"/>
                <a:cs typeface="Times New Roman"/>
              </a:rPr>
              <a:t>qui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" dirty="0" err="1">
                <a:latin typeface="Times New Roman"/>
                <a:cs typeface="Times New Roman"/>
              </a:rPr>
              <a:t>perme</a:t>
            </a:r>
            <a:r>
              <a:rPr lang="fr-FR" sz="3200" spc="-5" dirty="0" err="1">
                <a:latin typeface="Times New Roman"/>
                <a:cs typeface="Times New Roman"/>
              </a:rPr>
              <a:t>ttent</a:t>
            </a:r>
            <a:r>
              <a:rPr sz="3200" spc="-5" dirty="0">
                <a:latin typeface="Times New Roman"/>
                <a:cs typeface="Times New Roman"/>
              </a:rPr>
              <a:t>t  d’exécuter </a:t>
            </a:r>
            <a:r>
              <a:rPr sz="3200" dirty="0">
                <a:latin typeface="Times New Roman"/>
                <a:cs typeface="Times New Roman"/>
              </a:rPr>
              <a:t>ou </a:t>
            </a:r>
            <a:r>
              <a:rPr sz="3200" spc="-5" dirty="0">
                <a:latin typeface="Times New Roman"/>
                <a:cs typeface="Times New Roman"/>
              </a:rPr>
              <a:t>non un bloc d’instructions selon le résultat  d’un test (choix binaire).</a:t>
            </a:r>
            <a:endParaRPr sz="3200" dirty="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538480" algn="l"/>
              </a:tabLst>
            </a:pPr>
            <a:r>
              <a:rPr lang="fr-FR" sz="3200" spc="-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Les instructions </a:t>
            </a:r>
            <a:r>
              <a:rPr sz="3200" spc="-5" dirty="0" err="1">
                <a:latin typeface="Times New Roman"/>
                <a:cs typeface="Times New Roman"/>
              </a:rPr>
              <a:t>conditionnelles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b="1" spc="-5" dirty="0" err="1">
                <a:latin typeface="Times New Roman"/>
                <a:cs typeface="Times New Roman"/>
              </a:rPr>
              <a:t>n'exécute</a:t>
            </a:r>
            <a:r>
              <a:rPr lang="fr-FR" sz="3200" b="1" spc="-5" dirty="0">
                <a:latin typeface="Times New Roman"/>
                <a:cs typeface="Times New Roman"/>
              </a:rPr>
              <a:t>nt</a:t>
            </a:r>
            <a:r>
              <a:rPr sz="3200" spc="-5" dirty="0">
                <a:latin typeface="Times New Roman"/>
                <a:cs typeface="Times New Roman"/>
              </a:rPr>
              <a:t> une  instruction ou une séquence d'instructions </a:t>
            </a:r>
            <a:r>
              <a:rPr sz="3200" b="1" spc="-5" dirty="0">
                <a:latin typeface="Times New Roman"/>
                <a:cs typeface="Times New Roman"/>
              </a:rPr>
              <a:t>que si une  condition est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vérifiée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Outils de</a:t>
            </a:r>
            <a:r>
              <a:rPr sz="2600" spc="-10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base</a:t>
            </a:r>
            <a:endParaRPr sz="26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577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Tests: </a:t>
            </a:r>
            <a:r>
              <a:rPr spc="-5" dirty="0"/>
              <a:t>instructions</a:t>
            </a:r>
            <a:r>
              <a:rPr spc="40" dirty="0"/>
              <a:t> </a:t>
            </a:r>
            <a:r>
              <a:rPr spc="-5" dirty="0"/>
              <a:t>conditionnelles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0821" y="1658161"/>
            <a:ext cx="6023704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Si </a:t>
            </a:r>
            <a:r>
              <a:rPr sz="2800" spc="-5" dirty="0">
                <a:latin typeface="Times New Roman"/>
                <a:cs typeface="Times New Roman"/>
              </a:rPr>
              <a:t>condition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lang="en-US" sz="2800" b="1" spc="-5" dirty="0" err="1">
                <a:latin typeface="Times New Roman"/>
                <a:cs typeface="Times New Roman"/>
              </a:rPr>
              <a:t>a</a:t>
            </a:r>
            <a:r>
              <a:rPr sz="2800" b="1" spc="-5" dirty="0" err="1">
                <a:latin typeface="Times New Roman"/>
                <a:cs typeface="Times New Roman"/>
              </a:rPr>
              <a:t>lors</a:t>
            </a:r>
            <a:endParaRPr sz="2800" dirty="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</a:pP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instruction </a:t>
            </a: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ou suite</a:t>
            </a:r>
            <a:r>
              <a:rPr sz="2800" spc="-7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spc="-5" dirty="0" err="1">
                <a:solidFill>
                  <a:srgbClr val="00B050"/>
                </a:solidFill>
                <a:latin typeface="Times New Roman"/>
                <a:cs typeface="Times New Roman"/>
              </a:rPr>
              <a:t>d'instructions</a:t>
            </a:r>
            <a:r>
              <a:rPr lang="en-US"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1</a:t>
            </a:r>
            <a:endParaRPr sz="2800" dirty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Sinon</a:t>
            </a:r>
            <a:endParaRPr sz="28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instruction </a:t>
            </a: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ou suite</a:t>
            </a:r>
            <a:r>
              <a:rPr sz="2800" spc="-7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spc="-5" dirty="0" err="1">
                <a:solidFill>
                  <a:srgbClr val="00B050"/>
                </a:solidFill>
                <a:latin typeface="Times New Roman"/>
                <a:cs typeface="Times New Roman"/>
              </a:rPr>
              <a:t>d'instructions</a:t>
            </a:r>
            <a:r>
              <a:rPr lang="en-US"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2</a:t>
            </a:r>
            <a:endParaRPr sz="2800" dirty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 err="1">
                <a:latin typeface="Times New Roman"/>
                <a:cs typeface="Times New Roman"/>
              </a:rPr>
              <a:t>Fin</a:t>
            </a:r>
            <a:r>
              <a:rPr lang="en-US" sz="2800" b="1" spc="-5" dirty="0" err="1">
                <a:latin typeface="Times New Roman"/>
                <a:cs typeface="Times New Roman"/>
              </a:rPr>
              <a:t>S</a:t>
            </a:r>
            <a:r>
              <a:rPr sz="2800" b="1" spc="-5" dirty="0" err="1">
                <a:latin typeface="Times New Roman"/>
                <a:cs typeface="Times New Roman"/>
              </a:rPr>
              <a:t>i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6066" y="4248961"/>
            <a:ext cx="1041400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C00000"/>
                </a:solidFill>
                <a:latin typeface="Symbol"/>
                <a:cs typeface="Symbol"/>
              </a:rPr>
              <a:t>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Interprétation: </a:t>
            </a:r>
            <a:r>
              <a:rPr sz="2800" dirty="0">
                <a:latin typeface="Times New Roman"/>
                <a:cs typeface="Times New Roman"/>
              </a:rPr>
              <a:t>Si la </a:t>
            </a:r>
            <a:r>
              <a:rPr sz="2800" spc="-5" dirty="0">
                <a:latin typeface="Times New Roman"/>
                <a:cs typeface="Times New Roman"/>
              </a:rPr>
              <a:t>condition est vérifiée, alors on </a:t>
            </a:r>
            <a:r>
              <a:rPr sz="2800" spc="-5" dirty="0" err="1">
                <a:latin typeface="Times New Roman"/>
                <a:cs typeface="Times New Roman"/>
              </a:rPr>
              <a:t>exécute</a:t>
            </a:r>
            <a:r>
              <a:rPr sz="2800" spc="-5" dirty="0">
                <a:latin typeface="Times New Roman"/>
                <a:cs typeface="Times New Roman"/>
              </a:rPr>
              <a:t>  </a:t>
            </a:r>
            <a:r>
              <a:rPr lang="en-US" sz="2800" spc="-5" dirty="0">
                <a:latin typeface="Times New Roman"/>
                <a:cs typeface="Times New Roman"/>
              </a:rPr>
              <a:t>(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instruction </a:t>
            </a:r>
            <a:r>
              <a:rPr lang="en-US" sz="2800" dirty="0" err="1">
                <a:solidFill>
                  <a:srgbClr val="00B050"/>
                </a:solidFill>
                <a:latin typeface="Times New Roman"/>
                <a:cs typeface="Times New Roman"/>
              </a:rPr>
              <a:t>ou</a:t>
            </a:r>
            <a:r>
              <a:rPr lang="en-US" sz="280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suite d’instructions </a:t>
            </a: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1</a:t>
            </a:r>
            <a:r>
              <a:rPr sz="2800" dirty="0">
                <a:latin typeface="Times New Roman"/>
                <a:cs typeface="Times New Roman"/>
              </a:rPr>
              <a:t>), </a:t>
            </a:r>
            <a:r>
              <a:rPr sz="2800" spc="-5" dirty="0">
                <a:latin typeface="Times New Roman"/>
                <a:cs typeface="Times New Roman"/>
              </a:rPr>
              <a:t>sinon on </a:t>
            </a:r>
            <a:r>
              <a:rPr sz="2800" spc="-10" dirty="0" err="1">
                <a:latin typeface="Times New Roman"/>
                <a:cs typeface="Times New Roman"/>
              </a:rPr>
              <a:t>exécute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lang="en-US" sz="2800" spc="-5" dirty="0">
                <a:latin typeface="Times New Roman"/>
                <a:cs typeface="Times New Roman"/>
              </a:rPr>
              <a:t>(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instruction</a:t>
            </a: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/>
                <a:cs typeface="Times New Roman"/>
              </a:rPr>
              <a:t>ou</a:t>
            </a:r>
            <a:r>
              <a:rPr lang="en-US" sz="280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suite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d’instructions</a:t>
            </a:r>
            <a:r>
              <a:rPr sz="2800" spc="-6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2</a:t>
            </a:r>
            <a:r>
              <a:rPr sz="2800" dirty="0">
                <a:latin typeface="Times New Roman"/>
                <a:cs typeface="Times New Roman"/>
              </a:rPr>
              <a:t>).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30311" y="1539240"/>
            <a:ext cx="381000" cy="239344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921752" y="2695194"/>
            <a:ext cx="82295" cy="822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70043" y="1571612"/>
            <a:ext cx="285750" cy="2286635"/>
          </a:xfrm>
          <a:custGeom>
            <a:avLst/>
            <a:gdLst/>
            <a:ahLst/>
            <a:cxnLst/>
            <a:rect l="l" t="t" r="r" b="b"/>
            <a:pathLst>
              <a:path w="285750" h="2286635">
                <a:moveTo>
                  <a:pt x="0" y="0"/>
                </a:moveTo>
                <a:lnTo>
                  <a:pt x="55612" y="1870"/>
                </a:lnTo>
                <a:lnTo>
                  <a:pt x="101026" y="6972"/>
                </a:lnTo>
                <a:lnTo>
                  <a:pt x="131646" y="14541"/>
                </a:lnTo>
                <a:lnTo>
                  <a:pt x="142875" y="23812"/>
                </a:lnTo>
                <a:lnTo>
                  <a:pt x="142875" y="1119200"/>
                </a:lnTo>
                <a:lnTo>
                  <a:pt x="154103" y="1128466"/>
                </a:lnTo>
                <a:lnTo>
                  <a:pt x="184723" y="1136035"/>
                </a:lnTo>
                <a:lnTo>
                  <a:pt x="230137" y="1141140"/>
                </a:lnTo>
                <a:lnTo>
                  <a:pt x="285750" y="1143012"/>
                </a:lnTo>
                <a:lnTo>
                  <a:pt x="230137" y="1144883"/>
                </a:lnTo>
                <a:lnTo>
                  <a:pt x="184723" y="1149985"/>
                </a:lnTo>
                <a:lnTo>
                  <a:pt x="154103" y="1157553"/>
                </a:lnTo>
                <a:lnTo>
                  <a:pt x="142875" y="1166825"/>
                </a:lnTo>
                <a:lnTo>
                  <a:pt x="142875" y="2262200"/>
                </a:lnTo>
                <a:lnTo>
                  <a:pt x="131646" y="2271471"/>
                </a:lnTo>
                <a:lnTo>
                  <a:pt x="101026" y="2279040"/>
                </a:lnTo>
                <a:lnTo>
                  <a:pt x="55612" y="2284142"/>
                </a:lnTo>
                <a:lnTo>
                  <a:pt x="0" y="2286012"/>
                </a:lnTo>
              </a:path>
            </a:pathLst>
          </a:custGeom>
          <a:ln w="25400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452849" y="2382887"/>
            <a:ext cx="2646003" cy="1261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495" marR="334010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Co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nd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itio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nn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ll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e 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complète</a:t>
            </a:r>
            <a:endParaRPr sz="2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45"/>
              </a:spcBef>
            </a:pP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lang="en-US"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i… </a:t>
            </a:r>
            <a:r>
              <a:rPr lang="en-US" sz="2400" b="1" spc="-5" dirty="0" err="1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spc="-5" dirty="0" err="1">
                <a:solidFill>
                  <a:srgbClr val="C00000"/>
                </a:solidFill>
                <a:latin typeface="Times New Roman"/>
                <a:cs typeface="Times New Roman"/>
              </a:rPr>
              <a:t>lors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…</a:t>
            </a:r>
            <a:r>
              <a:rPr sz="24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5" dirty="0" err="1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400" b="1" spc="-5" dirty="0" err="1">
                <a:solidFill>
                  <a:srgbClr val="C00000"/>
                </a:solidFill>
                <a:latin typeface="Times New Roman"/>
                <a:cs typeface="Times New Roman"/>
              </a:rPr>
              <a:t>inon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4</a:t>
            </a:fld>
            <a:endParaRPr spc="-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577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Tests: </a:t>
            </a:r>
            <a:r>
              <a:rPr spc="-5" dirty="0"/>
              <a:t>instructions</a:t>
            </a:r>
            <a:r>
              <a:rPr spc="40" dirty="0"/>
              <a:t> </a:t>
            </a:r>
            <a:r>
              <a:rPr spc="-5" dirty="0"/>
              <a:t>conditionnelles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3850" y="2039112"/>
            <a:ext cx="6357081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Times New Roman"/>
                <a:cs typeface="Times New Roman"/>
              </a:rPr>
              <a:t>Si </a:t>
            </a:r>
            <a:r>
              <a:rPr sz="3000" dirty="0">
                <a:latin typeface="Times New Roman"/>
                <a:cs typeface="Times New Roman"/>
              </a:rPr>
              <a:t>condition </a:t>
            </a:r>
            <a:r>
              <a:rPr lang="en-US" sz="3000" b="1" dirty="0" err="1">
                <a:latin typeface="Times New Roman"/>
                <a:cs typeface="Times New Roman"/>
              </a:rPr>
              <a:t>a</a:t>
            </a:r>
            <a:r>
              <a:rPr sz="3000" b="1" dirty="0" err="1">
                <a:latin typeface="Times New Roman"/>
                <a:cs typeface="Times New Roman"/>
              </a:rPr>
              <a:t>lors</a:t>
            </a:r>
            <a:endParaRPr sz="30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3000" spc="-5" dirty="0">
                <a:solidFill>
                  <a:srgbClr val="00B050"/>
                </a:solidFill>
                <a:latin typeface="Times New Roman"/>
                <a:cs typeface="Times New Roman"/>
              </a:rPr>
              <a:t>instruction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ou </a:t>
            </a:r>
            <a:r>
              <a:rPr sz="3000" spc="-5" dirty="0">
                <a:solidFill>
                  <a:srgbClr val="00B050"/>
                </a:solidFill>
                <a:latin typeface="Times New Roman"/>
                <a:cs typeface="Times New Roman"/>
              </a:rPr>
              <a:t>suite</a:t>
            </a:r>
            <a:r>
              <a:rPr sz="3000" spc="6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spc="-5" dirty="0" err="1">
                <a:solidFill>
                  <a:srgbClr val="00B050"/>
                </a:solidFill>
                <a:latin typeface="Times New Roman"/>
                <a:cs typeface="Times New Roman"/>
              </a:rPr>
              <a:t>d'instructions</a:t>
            </a:r>
            <a:r>
              <a:rPr lang="en-US" sz="3000" spc="-5" dirty="0">
                <a:solidFill>
                  <a:srgbClr val="00B050"/>
                </a:solidFill>
                <a:latin typeface="Times New Roman"/>
                <a:cs typeface="Times New Roman"/>
              </a:rPr>
              <a:t> 1</a:t>
            </a:r>
            <a:endParaRPr sz="3000" dirty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b="1" spc="-5" dirty="0" err="1">
                <a:latin typeface="Times New Roman"/>
                <a:cs typeface="Times New Roman"/>
              </a:rPr>
              <a:t>Fin</a:t>
            </a:r>
            <a:r>
              <a:rPr lang="en-US" sz="3000" b="1" spc="-5" dirty="0" err="1">
                <a:latin typeface="Times New Roman"/>
                <a:cs typeface="Times New Roman"/>
              </a:rPr>
              <a:t>S</a:t>
            </a:r>
            <a:r>
              <a:rPr sz="3000" b="1" spc="-5" dirty="0" err="1">
                <a:latin typeface="Times New Roman"/>
                <a:cs typeface="Times New Roman"/>
              </a:rPr>
              <a:t>i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3250" y="4025012"/>
            <a:ext cx="11277599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tabLst>
                <a:tab pos="579120" algn="l"/>
                <a:tab pos="2967355" algn="l"/>
                <a:tab pos="3488690" algn="l"/>
                <a:tab pos="3968115" algn="l"/>
                <a:tab pos="5612765" algn="l"/>
                <a:tab pos="6240780" algn="l"/>
                <a:tab pos="7705725" algn="l"/>
                <a:tab pos="8650605" algn="l"/>
                <a:tab pos="9234805" algn="l"/>
              </a:tabLst>
            </a:pPr>
            <a:r>
              <a:rPr sz="3000" dirty="0">
                <a:solidFill>
                  <a:srgbClr val="C00000"/>
                </a:solidFill>
                <a:latin typeface="Symbol"/>
                <a:cs typeface="Symbol"/>
              </a:rPr>
              <a:t>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	Interpr</a:t>
            </a:r>
            <a:r>
              <a:rPr sz="3000" spc="5" dirty="0">
                <a:solidFill>
                  <a:srgbClr val="C00000"/>
                </a:solidFill>
                <a:latin typeface="Times New Roman"/>
                <a:cs typeface="Times New Roman"/>
              </a:rPr>
              <a:t>é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3000" spc="5" dirty="0">
                <a:solidFill>
                  <a:srgbClr val="C00000"/>
                </a:solidFill>
                <a:latin typeface="Times New Roman"/>
                <a:cs typeface="Times New Roman"/>
              </a:rPr>
              <a:t>ati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on:	</a:t>
            </a:r>
            <a:r>
              <a:rPr sz="3000" spc="-5" dirty="0">
                <a:latin typeface="Times New Roman"/>
                <a:cs typeface="Times New Roman"/>
              </a:rPr>
              <a:t>Si</a:t>
            </a:r>
            <a:r>
              <a:rPr sz="3000" dirty="0">
                <a:latin typeface="Times New Roman"/>
                <a:cs typeface="Times New Roman"/>
              </a:rPr>
              <a:t>	la	c</a:t>
            </a:r>
            <a:r>
              <a:rPr sz="3000" spc="5" dirty="0">
                <a:latin typeface="Times New Roman"/>
                <a:cs typeface="Times New Roman"/>
              </a:rPr>
              <a:t>o</a:t>
            </a:r>
            <a:r>
              <a:rPr sz="3000" dirty="0">
                <a:latin typeface="Times New Roman"/>
                <a:cs typeface="Times New Roman"/>
              </a:rPr>
              <a:t>ndi</a:t>
            </a:r>
            <a:r>
              <a:rPr sz="3000" spc="5" dirty="0">
                <a:latin typeface="Times New Roman"/>
                <a:cs typeface="Times New Roman"/>
              </a:rPr>
              <a:t>ti</a:t>
            </a:r>
            <a:r>
              <a:rPr sz="3000" dirty="0">
                <a:latin typeface="Times New Roman"/>
                <a:cs typeface="Times New Roman"/>
              </a:rPr>
              <a:t>on	</a:t>
            </a:r>
            <a:r>
              <a:rPr sz="3000" spc="5" dirty="0">
                <a:latin typeface="Times New Roman"/>
                <a:cs typeface="Times New Roman"/>
              </a:rPr>
              <a:t>e</a:t>
            </a:r>
            <a:r>
              <a:rPr sz="3000" spc="-5" dirty="0">
                <a:latin typeface="Times New Roman"/>
                <a:cs typeface="Times New Roman"/>
              </a:rPr>
              <a:t>st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v</a:t>
            </a:r>
            <a:r>
              <a:rPr sz="3000" dirty="0">
                <a:latin typeface="Times New Roman"/>
                <a:cs typeface="Times New Roman"/>
              </a:rPr>
              <a:t>érif</a:t>
            </a:r>
            <a:r>
              <a:rPr sz="3000" spc="5" dirty="0">
                <a:latin typeface="Times New Roman"/>
                <a:cs typeface="Times New Roman"/>
              </a:rPr>
              <a:t>ié</a:t>
            </a:r>
            <a:r>
              <a:rPr sz="3000" dirty="0">
                <a:latin typeface="Times New Roman"/>
                <a:cs typeface="Times New Roman"/>
              </a:rPr>
              <a:t>e,	</a:t>
            </a:r>
            <a:r>
              <a:rPr sz="3000" spc="5" dirty="0">
                <a:latin typeface="Times New Roman"/>
                <a:cs typeface="Times New Roman"/>
              </a:rPr>
              <a:t>a</a:t>
            </a:r>
            <a:r>
              <a:rPr sz="3000" dirty="0">
                <a:latin typeface="Times New Roman"/>
                <a:cs typeface="Times New Roman"/>
              </a:rPr>
              <a:t>lor</a:t>
            </a:r>
            <a:r>
              <a:rPr sz="3000" spc="-5" dirty="0">
                <a:latin typeface="Times New Roman"/>
                <a:cs typeface="Times New Roman"/>
              </a:rPr>
              <a:t>s</a:t>
            </a:r>
            <a:r>
              <a:rPr sz="3000" dirty="0">
                <a:latin typeface="Times New Roman"/>
                <a:cs typeface="Times New Roman"/>
              </a:rPr>
              <a:t>	on	</a:t>
            </a:r>
            <a:r>
              <a:rPr sz="3000" dirty="0" err="1">
                <a:latin typeface="Times New Roman"/>
                <a:cs typeface="Times New Roman"/>
              </a:rPr>
              <a:t>e</a:t>
            </a:r>
            <a:r>
              <a:rPr sz="3000" spc="5" dirty="0" err="1">
                <a:latin typeface="Times New Roman"/>
                <a:cs typeface="Times New Roman"/>
              </a:rPr>
              <a:t>xé</a:t>
            </a:r>
            <a:r>
              <a:rPr sz="3000" dirty="0" err="1">
                <a:latin typeface="Times New Roman"/>
                <a:cs typeface="Times New Roman"/>
              </a:rPr>
              <a:t>c</a:t>
            </a:r>
            <a:r>
              <a:rPr sz="3000" spc="5" dirty="0" err="1">
                <a:latin typeface="Times New Roman"/>
                <a:cs typeface="Times New Roman"/>
              </a:rPr>
              <a:t>u</a:t>
            </a:r>
            <a:r>
              <a:rPr sz="3000" dirty="0" err="1">
                <a:latin typeface="Times New Roman"/>
                <a:cs typeface="Times New Roman"/>
              </a:rPr>
              <a:t>te</a:t>
            </a:r>
            <a:r>
              <a:rPr sz="3000" dirty="0">
                <a:latin typeface="Times New Roman"/>
                <a:cs typeface="Times New Roman"/>
              </a:rPr>
              <a:t>  </a:t>
            </a:r>
            <a:r>
              <a:rPr lang="en-US" sz="3000" dirty="0">
                <a:latin typeface="Times New Roman"/>
                <a:cs typeface="Times New Roman"/>
              </a:rPr>
              <a:t>(</a:t>
            </a:r>
            <a:r>
              <a:rPr lang="fr-FR" sz="3000" spc="-5" dirty="0">
                <a:solidFill>
                  <a:srgbClr val="00B050"/>
                </a:solidFill>
                <a:latin typeface="Times New Roman"/>
                <a:cs typeface="Times New Roman"/>
              </a:rPr>
              <a:t>instruction </a:t>
            </a:r>
            <a:r>
              <a:rPr lang="fr-FR" sz="3000" dirty="0">
                <a:solidFill>
                  <a:srgbClr val="00B050"/>
                </a:solidFill>
                <a:latin typeface="Times New Roman"/>
                <a:cs typeface="Times New Roman"/>
              </a:rPr>
              <a:t>ou </a:t>
            </a:r>
            <a:r>
              <a:rPr lang="fr-FR" sz="3000" spc="-5" dirty="0">
                <a:solidFill>
                  <a:srgbClr val="00B050"/>
                </a:solidFill>
                <a:latin typeface="Times New Roman"/>
                <a:cs typeface="Times New Roman"/>
              </a:rPr>
              <a:t>suite</a:t>
            </a:r>
            <a:r>
              <a:rPr lang="fr-FR" sz="3000" spc="6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lang="fr-FR" sz="3000" spc="-5" dirty="0">
                <a:solidFill>
                  <a:srgbClr val="00B050"/>
                </a:solidFill>
                <a:latin typeface="Times New Roman"/>
                <a:cs typeface="Times New Roman"/>
              </a:rPr>
              <a:t>d'instructions 1</a:t>
            </a:r>
            <a:r>
              <a:rPr lang="fr-FR" sz="3000" spc="-5" dirty="0">
                <a:latin typeface="Times New Roman"/>
                <a:cs typeface="Times New Roman"/>
              </a:rPr>
              <a:t>)</a:t>
            </a:r>
            <a:r>
              <a:rPr lang="fr-FR" sz="3000" dirty="0">
                <a:latin typeface="Times New Roman"/>
                <a:cs typeface="Times New Roman"/>
              </a:rPr>
              <a:t>, </a:t>
            </a:r>
            <a:r>
              <a:rPr sz="3000" spc="-5" dirty="0" err="1">
                <a:latin typeface="Times New Roman"/>
                <a:cs typeface="Times New Roman"/>
              </a:rPr>
              <a:t>sinon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 ne fait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 err="1">
                <a:latin typeface="Times New Roman"/>
                <a:cs typeface="Times New Roman"/>
              </a:rPr>
              <a:t>rien</a:t>
            </a:r>
            <a:r>
              <a:rPr lang="en-US" sz="3000" dirty="0"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58677" y="2039112"/>
            <a:ext cx="452627" cy="13936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50123" y="2695194"/>
            <a:ext cx="82295" cy="822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98606" y="2071678"/>
            <a:ext cx="357505" cy="1286510"/>
          </a:xfrm>
          <a:custGeom>
            <a:avLst/>
            <a:gdLst/>
            <a:ahLst/>
            <a:cxnLst/>
            <a:rect l="l" t="t" r="r" b="b"/>
            <a:pathLst>
              <a:path w="357504" h="1286510">
                <a:moveTo>
                  <a:pt x="0" y="0"/>
                </a:moveTo>
                <a:lnTo>
                  <a:pt x="69520" y="2338"/>
                </a:lnTo>
                <a:lnTo>
                  <a:pt x="126290" y="8716"/>
                </a:lnTo>
                <a:lnTo>
                  <a:pt x="164565" y="18179"/>
                </a:lnTo>
                <a:lnTo>
                  <a:pt x="178600" y="29768"/>
                </a:lnTo>
                <a:lnTo>
                  <a:pt x="178600" y="613181"/>
                </a:lnTo>
                <a:lnTo>
                  <a:pt x="192634" y="624763"/>
                </a:lnTo>
                <a:lnTo>
                  <a:pt x="230908" y="634222"/>
                </a:lnTo>
                <a:lnTo>
                  <a:pt x="287674" y="640599"/>
                </a:lnTo>
                <a:lnTo>
                  <a:pt x="357187" y="642937"/>
                </a:lnTo>
                <a:lnTo>
                  <a:pt x="287674" y="645277"/>
                </a:lnTo>
                <a:lnTo>
                  <a:pt x="230908" y="651659"/>
                </a:lnTo>
                <a:lnTo>
                  <a:pt x="192634" y="661121"/>
                </a:lnTo>
                <a:lnTo>
                  <a:pt x="178600" y="672706"/>
                </a:lnTo>
                <a:lnTo>
                  <a:pt x="178600" y="1256118"/>
                </a:lnTo>
                <a:lnTo>
                  <a:pt x="164565" y="1267703"/>
                </a:lnTo>
                <a:lnTo>
                  <a:pt x="126290" y="1277165"/>
                </a:lnTo>
                <a:lnTo>
                  <a:pt x="69520" y="1283547"/>
                </a:lnTo>
                <a:lnTo>
                  <a:pt x="0" y="1285887"/>
                </a:lnTo>
              </a:path>
            </a:pathLst>
          </a:custGeom>
          <a:ln w="25400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718323" y="2097134"/>
            <a:ext cx="1936750" cy="1268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Co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nd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itio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nn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e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ll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e 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incomplète</a:t>
            </a:r>
            <a:endParaRPr sz="2400" dirty="0">
              <a:latin typeface="Times New Roman"/>
              <a:cs typeface="Times New Roman"/>
            </a:endParaRPr>
          </a:p>
          <a:p>
            <a:pPr marL="75565" algn="ctr">
              <a:lnSpc>
                <a:spcPct val="100000"/>
              </a:lnSpc>
              <a:spcBef>
                <a:spcPts val="1145"/>
              </a:spcBef>
            </a:pP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lang="en-US"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i…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5" dirty="0" err="1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spc="-5" dirty="0" err="1">
                <a:solidFill>
                  <a:srgbClr val="C00000"/>
                </a:solidFill>
                <a:latin typeface="Times New Roman"/>
                <a:cs typeface="Times New Roman"/>
              </a:rPr>
              <a:t>lors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5</a:t>
            </a:fld>
            <a:endParaRPr spc="-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577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Tests: </a:t>
            </a:r>
            <a:r>
              <a:rPr spc="-5" dirty="0"/>
              <a:t>instructions</a:t>
            </a:r>
            <a:r>
              <a:rPr spc="40" dirty="0"/>
              <a:t> </a:t>
            </a:r>
            <a:r>
              <a:rPr spc="-5" dirty="0"/>
              <a:t>conditionnelles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6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7956" y="1301557"/>
            <a:ext cx="10380130" cy="5404043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6235" indent="-344170">
              <a:lnSpc>
                <a:spcPct val="100000"/>
              </a:lnSpc>
              <a:spcBef>
                <a:spcPts val="1180"/>
              </a:spcBef>
              <a:buFont typeface="Wingdings"/>
              <a:buChar char=""/>
              <a:tabLst>
                <a:tab pos="356870" algn="l"/>
              </a:tabLst>
            </a:pPr>
            <a:r>
              <a:rPr lang="fr-FR" sz="26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Exemple : (Si…Sinon…</a:t>
            </a:r>
            <a:r>
              <a:rPr lang="fr-FR" sz="2600" b="1" spc="-5" dirty="0" err="1">
                <a:solidFill>
                  <a:srgbClr val="C00000"/>
                </a:solidFill>
                <a:latin typeface="Times New Roman"/>
                <a:cs typeface="Times New Roman"/>
              </a:rPr>
              <a:t>FinSi</a:t>
            </a:r>
            <a:r>
              <a:rPr lang="fr-FR" sz="26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600" dirty="0">
              <a:latin typeface="Times New Roman"/>
              <a:cs typeface="Times New Roman"/>
            </a:endParaRPr>
          </a:p>
          <a:p>
            <a:pPr marL="1155065">
              <a:lnSpc>
                <a:spcPct val="100000"/>
              </a:lnSpc>
              <a:spcBef>
                <a:spcPts val="1130"/>
              </a:spcBef>
            </a:pPr>
            <a:r>
              <a:rPr lang="fr-FR" sz="2700" b="1" spc="-40" dirty="0">
                <a:latin typeface="Times New Roman"/>
                <a:cs typeface="Times New Roman"/>
              </a:rPr>
              <a:t>Algorithme</a:t>
            </a:r>
            <a:r>
              <a:rPr lang="fr-FR" sz="2700" spc="-40" dirty="0">
                <a:latin typeface="Times New Roman"/>
                <a:cs typeface="Times New Roman"/>
              </a:rPr>
              <a:t> </a:t>
            </a:r>
            <a:r>
              <a:rPr lang="fr-FR" sz="2700" spc="-40" dirty="0" err="1">
                <a:latin typeface="Times New Roman"/>
                <a:cs typeface="Times New Roman"/>
              </a:rPr>
              <a:t>ValeurAbsolue</a:t>
            </a:r>
            <a:endParaRPr lang="fr-FR" sz="2700" spc="-40" dirty="0">
              <a:latin typeface="Times New Roman"/>
              <a:cs typeface="Times New Roman"/>
            </a:endParaRPr>
          </a:p>
          <a:p>
            <a:pPr marL="1155065">
              <a:lnSpc>
                <a:spcPct val="100000"/>
              </a:lnSpc>
            </a:pPr>
            <a:r>
              <a:rPr sz="2700" b="1" spc="-40" dirty="0">
                <a:latin typeface="Times New Roman"/>
                <a:cs typeface="Times New Roman"/>
              </a:rPr>
              <a:t>Variable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x :</a:t>
            </a:r>
            <a:r>
              <a:rPr sz="2700" spc="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réel</a:t>
            </a:r>
          </a:p>
          <a:p>
            <a:pPr marL="1155065">
              <a:lnSpc>
                <a:spcPct val="100000"/>
              </a:lnSpc>
            </a:pPr>
            <a:r>
              <a:rPr sz="2700" b="1" spc="-5" dirty="0">
                <a:latin typeface="Times New Roman"/>
                <a:cs typeface="Times New Roman"/>
              </a:rPr>
              <a:t>Début</a:t>
            </a:r>
            <a:endParaRPr sz="2700" dirty="0">
              <a:latin typeface="Times New Roman"/>
              <a:cs typeface="Times New Roman"/>
            </a:endParaRPr>
          </a:p>
          <a:p>
            <a:pPr marL="1612265" marR="4942205">
              <a:lnSpc>
                <a:spcPct val="100000"/>
              </a:lnSpc>
            </a:pPr>
            <a:r>
              <a:rPr sz="2700" dirty="0">
                <a:latin typeface="Times New Roman"/>
                <a:cs typeface="Times New Roman"/>
              </a:rPr>
              <a:t>Ecrire </a:t>
            </a:r>
            <a:r>
              <a:rPr sz="2700" spc="-5" dirty="0">
                <a:latin typeface="Times New Roman"/>
                <a:cs typeface="Times New Roman"/>
              </a:rPr>
              <a:t>(" </a:t>
            </a:r>
            <a:r>
              <a:rPr sz="2700" dirty="0">
                <a:latin typeface="Times New Roman"/>
                <a:cs typeface="Times New Roman"/>
              </a:rPr>
              <a:t>Entrez un réel :</a:t>
            </a:r>
            <a:r>
              <a:rPr sz="2700" spc="-10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")  </a:t>
            </a:r>
            <a:r>
              <a:rPr sz="2700" dirty="0">
                <a:latin typeface="Times New Roman"/>
                <a:cs typeface="Times New Roman"/>
              </a:rPr>
              <a:t>Lire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(x)</a:t>
            </a:r>
          </a:p>
          <a:p>
            <a:pPr marL="1612265">
              <a:lnSpc>
                <a:spcPct val="100000"/>
              </a:lnSpc>
            </a:pPr>
            <a:r>
              <a:rPr sz="2700" b="1" spc="-5" dirty="0">
                <a:latin typeface="Times New Roman"/>
                <a:cs typeface="Times New Roman"/>
              </a:rPr>
              <a:t>Si </a:t>
            </a:r>
            <a:r>
              <a:rPr sz="2700" dirty="0">
                <a:latin typeface="Times New Roman"/>
                <a:cs typeface="Times New Roman"/>
              </a:rPr>
              <a:t>x &lt; 0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lang="en-US" sz="2700" b="1" dirty="0" err="1">
                <a:latin typeface="Times New Roman"/>
                <a:cs typeface="Times New Roman"/>
              </a:rPr>
              <a:t>a</a:t>
            </a:r>
            <a:r>
              <a:rPr sz="2700" b="1" dirty="0" err="1">
                <a:latin typeface="Times New Roman"/>
                <a:cs typeface="Times New Roman"/>
              </a:rPr>
              <a:t>lors</a:t>
            </a:r>
            <a:endParaRPr sz="2700" dirty="0">
              <a:latin typeface="Times New Roman"/>
              <a:cs typeface="Times New Roman"/>
            </a:endParaRPr>
          </a:p>
          <a:p>
            <a:pPr marL="2069464">
              <a:lnSpc>
                <a:spcPct val="100000"/>
              </a:lnSpc>
            </a:pPr>
            <a:r>
              <a:rPr sz="2700" dirty="0">
                <a:latin typeface="Times New Roman"/>
                <a:cs typeface="Times New Roman"/>
              </a:rPr>
              <a:t>Ecrire </a:t>
            </a:r>
            <a:r>
              <a:rPr sz="2700" spc="-5" dirty="0">
                <a:latin typeface="Times New Roman"/>
                <a:cs typeface="Times New Roman"/>
              </a:rPr>
              <a:t>("la </a:t>
            </a:r>
            <a:r>
              <a:rPr sz="2700" dirty="0">
                <a:latin typeface="Times New Roman"/>
                <a:cs typeface="Times New Roman"/>
              </a:rPr>
              <a:t>valeur absolue de </a:t>
            </a:r>
            <a:r>
              <a:rPr sz="2700" spc="-5" dirty="0">
                <a:latin typeface="Times New Roman"/>
                <a:cs typeface="Times New Roman"/>
              </a:rPr>
              <a:t>", </a:t>
            </a:r>
            <a:r>
              <a:rPr sz="2700" dirty="0">
                <a:latin typeface="Times New Roman"/>
                <a:cs typeface="Times New Roman"/>
              </a:rPr>
              <a:t>x,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"est:",-x)</a:t>
            </a:r>
          </a:p>
          <a:p>
            <a:pPr marL="1612265">
              <a:lnSpc>
                <a:spcPct val="100000"/>
              </a:lnSpc>
            </a:pPr>
            <a:r>
              <a:rPr sz="2700" b="1" spc="-5" dirty="0">
                <a:latin typeface="Times New Roman"/>
                <a:cs typeface="Times New Roman"/>
              </a:rPr>
              <a:t>Sinon</a:t>
            </a:r>
            <a:endParaRPr sz="2700" dirty="0">
              <a:latin typeface="Times New Roman"/>
              <a:cs typeface="Times New Roman"/>
            </a:endParaRPr>
          </a:p>
          <a:p>
            <a:pPr marL="2069464">
              <a:lnSpc>
                <a:spcPct val="100000"/>
              </a:lnSpc>
            </a:pPr>
            <a:r>
              <a:rPr sz="2700" dirty="0">
                <a:latin typeface="Times New Roman"/>
                <a:cs typeface="Times New Roman"/>
              </a:rPr>
              <a:t>Ecrire </a:t>
            </a:r>
            <a:r>
              <a:rPr sz="2700" spc="-5" dirty="0">
                <a:latin typeface="Times New Roman"/>
                <a:cs typeface="Times New Roman"/>
              </a:rPr>
              <a:t>("la </a:t>
            </a:r>
            <a:r>
              <a:rPr sz="2700" dirty="0">
                <a:latin typeface="Times New Roman"/>
                <a:cs typeface="Times New Roman"/>
              </a:rPr>
              <a:t>valeur absolue de </a:t>
            </a:r>
            <a:r>
              <a:rPr sz="2700" spc="-5" dirty="0">
                <a:latin typeface="Times New Roman"/>
                <a:cs typeface="Times New Roman"/>
              </a:rPr>
              <a:t>", </a:t>
            </a:r>
            <a:r>
              <a:rPr sz="2700" dirty="0">
                <a:latin typeface="Times New Roman"/>
                <a:cs typeface="Times New Roman"/>
              </a:rPr>
              <a:t>x,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"est:",x)</a:t>
            </a:r>
            <a:endParaRPr sz="2700" dirty="0">
              <a:latin typeface="Times New Roman"/>
              <a:cs typeface="Times New Roman"/>
            </a:endParaRPr>
          </a:p>
          <a:p>
            <a:pPr marL="1155065" marR="7925434" indent="456565">
              <a:lnSpc>
                <a:spcPct val="100000"/>
              </a:lnSpc>
            </a:pPr>
            <a:r>
              <a:rPr sz="2700" b="1" spc="-5" dirty="0" err="1">
                <a:latin typeface="Times New Roman"/>
                <a:cs typeface="Times New Roman"/>
              </a:rPr>
              <a:t>Fi</a:t>
            </a:r>
            <a:r>
              <a:rPr sz="2700" b="1" spc="-10" dirty="0" err="1">
                <a:latin typeface="Times New Roman"/>
                <a:cs typeface="Times New Roman"/>
              </a:rPr>
              <a:t>n</a:t>
            </a:r>
            <a:r>
              <a:rPr lang="en-US" sz="2700" b="1" spc="-5" dirty="0" err="1">
                <a:latin typeface="Times New Roman"/>
                <a:cs typeface="Times New Roman"/>
              </a:rPr>
              <a:t>S</a:t>
            </a:r>
            <a:r>
              <a:rPr sz="2700" b="1" spc="-5" dirty="0" err="1">
                <a:latin typeface="Times New Roman"/>
                <a:cs typeface="Times New Roman"/>
              </a:rPr>
              <a:t>i</a:t>
            </a:r>
            <a:r>
              <a:rPr sz="2700" b="1" spc="-5" dirty="0">
                <a:latin typeface="Times New Roman"/>
                <a:cs typeface="Times New Roman"/>
              </a:rPr>
              <a:t>  Fin</a:t>
            </a:r>
            <a:endParaRPr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7357" y="706120"/>
            <a:ext cx="631218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577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Tests: </a:t>
            </a:r>
            <a:r>
              <a:rPr spc="-5" dirty="0"/>
              <a:t>instructions</a:t>
            </a:r>
            <a:r>
              <a:rPr spc="40" dirty="0"/>
              <a:t> </a:t>
            </a:r>
            <a:r>
              <a:rPr spc="-5" dirty="0"/>
              <a:t>conditionnelles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7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79525" y="1295400"/>
            <a:ext cx="9229725" cy="5404043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6235" indent="-344170">
              <a:lnSpc>
                <a:spcPct val="100000"/>
              </a:lnSpc>
              <a:spcBef>
                <a:spcPts val="1180"/>
              </a:spcBef>
              <a:buFont typeface="Wingdings"/>
              <a:buChar char=""/>
              <a:tabLst>
                <a:tab pos="356870" algn="l"/>
              </a:tabLst>
            </a:pPr>
            <a:r>
              <a:rPr lang="fr-FR" sz="26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Exemple : (Si…</a:t>
            </a:r>
            <a:r>
              <a:rPr lang="fr-FR" sz="2600" b="1" spc="-5" dirty="0" err="1">
                <a:solidFill>
                  <a:srgbClr val="C00000"/>
                </a:solidFill>
                <a:latin typeface="Times New Roman"/>
                <a:cs typeface="Times New Roman"/>
              </a:rPr>
              <a:t>FinSi</a:t>
            </a:r>
            <a:r>
              <a:rPr lang="fr-FR" sz="26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lang="fr-FR" sz="2600" dirty="0">
              <a:latin typeface="Times New Roman"/>
              <a:cs typeface="Times New Roman"/>
            </a:endParaRPr>
          </a:p>
          <a:p>
            <a:pPr marL="1155065">
              <a:lnSpc>
                <a:spcPct val="100000"/>
              </a:lnSpc>
              <a:spcBef>
                <a:spcPts val="1130"/>
              </a:spcBef>
            </a:pPr>
            <a:r>
              <a:rPr lang="fr-FR" sz="2700" b="1" spc="-40" dirty="0">
                <a:latin typeface="Times New Roman"/>
                <a:cs typeface="Times New Roman"/>
              </a:rPr>
              <a:t>Algorithme</a:t>
            </a:r>
            <a:r>
              <a:rPr lang="fr-FR" sz="2700" spc="-40" dirty="0">
                <a:latin typeface="Times New Roman"/>
                <a:cs typeface="Times New Roman"/>
              </a:rPr>
              <a:t> </a:t>
            </a:r>
            <a:r>
              <a:rPr lang="fr-FR" sz="2700" spc="-40" dirty="0" err="1">
                <a:latin typeface="Times New Roman"/>
                <a:cs typeface="Times New Roman"/>
              </a:rPr>
              <a:t>ValeurAbsolue</a:t>
            </a:r>
            <a:endParaRPr lang="fr-FR" sz="2700" spc="-40" dirty="0">
              <a:latin typeface="Times New Roman"/>
              <a:cs typeface="Times New Roman"/>
            </a:endParaRPr>
          </a:p>
          <a:p>
            <a:pPr marL="1155065">
              <a:lnSpc>
                <a:spcPct val="100000"/>
              </a:lnSpc>
            </a:pPr>
            <a:r>
              <a:rPr sz="2700" b="1" spc="-40" dirty="0">
                <a:latin typeface="Times New Roman"/>
                <a:cs typeface="Times New Roman"/>
              </a:rPr>
              <a:t>Variable</a:t>
            </a:r>
            <a:r>
              <a:rPr lang="en-US" sz="2700" b="1" spc="-40" dirty="0">
                <a:latin typeface="Times New Roman"/>
                <a:cs typeface="Times New Roman"/>
              </a:rPr>
              <a:t>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x, y :</a:t>
            </a:r>
            <a:r>
              <a:rPr sz="2700" spc="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réel</a:t>
            </a:r>
          </a:p>
          <a:p>
            <a:pPr marL="1155065">
              <a:lnSpc>
                <a:spcPct val="100000"/>
              </a:lnSpc>
            </a:pPr>
            <a:r>
              <a:rPr sz="2700" b="1" spc="-5" dirty="0">
                <a:latin typeface="Times New Roman"/>
                <a:cs typeface="Times New Roman"/>
              </a:rPr>
              <a:t>Début</a:t>
            </a:r>
            <a:endParaRPr sz="2700" dirty="0">
              <a:latin typeface="Times New Roman"/>
              <a:cs typeface="Times New Roman"/>
            </a:endParaRPr>
          </a:p>
          <a:p>
            <a:pPr marL="1612265" marR="3816985">
              <a:lnSpc>
                <a:spcPct val="100000"/>
              </a:lnSpc>
            </a:pPr>
            <a:r>
              <a:rPr sz="2700" dirty="0">
                <a:latin typeface="Times New Roman"/>
                <a:cs typeface="Times New Roman"/>
              </a:rPr>
              <a:t>Ecrire </a:t>
            </a:r>
            <a:r>
              <a:rPr sz="2700" spc="-5" dirty="0">
                <a:latin typeface="Times New Roman"/>
                <a:cs typeface="Times New Roman"/>
              </a:rPr>
              <a:t>(" </a:t>
            </a:r>
            <a:r>
              <a:rPr sz="2700" dirty="0">
                <a:latin typeface="Times New Roman"/>
                <a:cs typeface="Times New Roman"/>
              </a:rPr>
              <a:t>Entrez un réel : </a:t>
            </a:r>
            <a:r>
              <a:rPr sz="2700" spc="-5" dirty="0">
                <a:latin typeface="Times New Roman"/>
                <a:cs typeface="Times New Roman"/>
              </a:rPr>
              <a:t>"</a:t>
            </a:r>
            <a:r>
              <a:rPr sz="2700" spc="-1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)  Lire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(x)</a:t>
            </a:r>
          </a:p>
          <a:p>
            <a:pPr marL="1612265">
              <a:lnSpc>
                <a:spcPct val="100000"/>
              </a:lnSpc>
            </a:pPr>
            <a:r>
              <a:rPr sz="2700" dirty="0">
                <a:latin typeface="Times New Roman"/>
                <a:cs typeface="Times New Roman"/>
              </a:rPr>
              <a:t>y←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x</a:t>
            </a:r>
          </a:p>
          <a:p>
            <a:pPr marL="1612265">
              <a:lnSpc>
                <a:spcPct val="100000"/>
              </a:lnSpc>
            </a:pPr>
            <a:r>
              <a:rPr sz="2700" b="1" spc="-5" dirty="0">
                <a:latin typeface="Times New Roman"/>
                <a:cs typeface="Times New Roman"/>
              </a:rPr>
              <a:t>Si </a:t>
            </a:r>
            <a:r>
              <a:rPr sz="2700" dirty="0">
                <a:latin typeface="Times New Roman"/>
                <a:cs typeface="Times New Roman"/>
              </a:rPr>
              <a:t>x &lt; 0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lang="en-US" sz="2700" b="1" dirty="0" err="1">
                <a:latin typeface="Times New Roman"/>
                <a:cs typeface="Times New Roman"/>
              </a:rPr>
              <a:t>a</a:t>
            </a:r>
            <a:r>
              <a:rPr sz="2700" b="1" dirty="0" err="1">
                <a:latin typeface="Times New Roman"/>
                <a:cs typeface="Times New Roman"/>
              </a:rPr>
              <a:t>lors</a:t>
            </a:r>
            <a:endParaRPr sz="2700" dirty="0">
              <a:latin typeface="Times New Roman"/>
              <a:cs typeface="Times New Roman"/>
            </a:endParaRPr>
          </a:p>
          <a:p>
            <a:pPr marL="2069464">
              <a:lnSpc>
                <a:spcPct val="100000"/>
              </a:lnSpc>
            </a:pPr>
            <a:r>
              <a:rPr sz="2700" dirty="0">
                <a:latin typeface="Times New Roman"/>
                <a:cs typeface="Times New Roman"/>
              </a:rPr>
              <a:t>y ←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-x</a:t>
            </a:r>
          </a:p>
          <a:p>
            <a:pPr marL="1612265">
              <a:lnSpc>
                <a:spcPct val="100000"/>
              </a:lnSpc>
            </a:pPr>
            <a:r>
              <a:rPr sz="2700" b="1" spc="-5" dirty="0">
                <a:latin typeface="Times New Roman"/>
                <a:cs typeface="Times New Roman"/>
              </a:rPr>
              <a:t>Finsi</a:t>
            </a:r>
            <a:endParaRPr sz="2700" dirty="0">
              <a:latin typeface="Times New Roman"/>
              <a:cs typeface="Times New Roman"/>
            </a:endParaRPr>
          </a:p>
          <a:p>
            <a:pPr marL="1612265">
              <a:lnSpc>
                <a:spcPct val="100000"/>
              </a:lnSpc>
            </a:pPr>
            <a:r>
              <a:rPr sz="2700" dirty="0">
                <a:latin typeface="Times New Roman"/>
                <a:cs typeface="Times New Roman"/>
              </a:rPr>
              <a:t>Ecrire </a:t>
            </a:r>
            <a:r>
              <a:rPr sz="2700" spc="-5" dirty="0">
                <a:latin typeface="Times New Roman"/>
                <a:cs typeface="Times New Roman"/>
              </a:rPr>
              <a:t>("la </a:t>
            </a:r>
            <a:r>
              <a:rPr sz="2700" dirty="0">
                <a:latin typeface="Times New Roman"/>
                <a:cs typeface="Times New Roman"/>
              </a:rPr>
              <a:t>valeur absolue de </a:t>
            </a:r>
            <a:r>
              <a:rPr sz="2700" spc="-5" dirty="0">
                <a:latin typeface="Times New Roman"/>
                <a:cs typeface="Times New Roman"/>
              </a:rPr>
              <a:t>", </a:t>
            </a:r>
            <a:r>
              <a:rPr sz="2700" dirty="0">
                <a:latin typeface="Times New Roman"/>
                <a:cs typeface="Times New Roman"/>
              </a:rPr>
              <a:t>x, </a:t>
            </a:r>
            <a:r>
              <a:rPr sz="2700" spc="-5" dirty="0">
                <a:latin typeface="Times New Roman"/>
                <a:cs typeface="Times New Roman"/>
              </a:rPr>
              <a:t>"est:",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y)</a:t>
            </a:r>
          </a:p>
          <a:p>
            <a:pPr marL="1155065">
              <a:lnSpc>
                <a:spcPct val="100000"/>
              </a:lnSpc>
            </a:pPr>
            <a:r>
              <a:rPr sz="2700" b="1" spc="-5" dirty="0">
                <a:latin typeface="Times New Roman"/>
                <a:cs typeface="Times New Roman"/>
              </a:rPr>
              <a:t>Fin</a:t>
            </a:r>
            <a:endParaRPr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Outils de</a:t>
            </a:r>
            <a:r>
              <a:rPr sz="2600" spc="-10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base</a:t>
            </a:r>
            <a:endParaRPr sz="26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8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47859" y="876536"/>
            <a:ext cx="8700135" cy="3627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56790">
              <a:lnSpc>
                <a:spcPct val="100000"/>
              </a:lnSpc>
              <a:spcBef>
                <a:spcPts val="95"/>
              </a:spcBef>
            </a:pPr>
            <a:r>
              <a:rPr sz="3200" b="1" spc="-55" dirty="0">
                <a:solidFill>
                  <a:srgbClr val="0070C0"/>
                </a:solidFill>
                <a:latin typeface="Times New Roman"/>
                <a:cs typeface="Times New Roman"/>
              </a:rPr>
              <a:t>Tests: </a:t>
            </a:r>
            <a:r>
              <a:rPr sz="3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instructions</a:t>
            </a:r>
            <a:r>
              <a:rPr sz="3200" b="1" spc="6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conditionnelles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00">
              <a:latin typeface="Times New Roman"/>
              <a:cs typeface="Times New Roman"/>
            </a:endParaRPr>
          </a:p>
          <a:p>
            <a:pPr marL="434975" indent="-422909" algn="just">
              <a:lnSpc>
                <a:spcPct val="100000"/>
              </a:lnSpc>
              <a:buFont typeface="Wingdings"/>
              <a:buChar char=""/>
              <a:tabLst>
                <a:tab pos="435609" algn="l"/>
              </a:tabLst>
            </a:pPr>
            <a:r>
              <a:rPr sz="3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Exercice</a:t>
            </a:r>
            <a:r>
              <a:rPr sz="32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d’application:</a:t>
            </a:r>
            <a:endParaRPr sz="3200">
              <a:latin typeface="Times New Roman"/>
              <a:cs typeface="Times New Roman"/>
            </a:endParaRPr>
          </a:p>
          <a:p>
            <a:pPr marL="1155065" marR="5080" algn="just">
              <a:lnSpc>
                <a:spcPts val="5760"/>
              </a:lnSpc>
              <a:spcBef>
                <a:spcPts val="225"/>
              </a:spcBef>
            </a:pPr>
            <a:r>
              <a:rPr sz="3200" spc="-5" dirty="0">
                <a:latin typeface="Times New Roman"/>
                <a:cs typeface="Times New Roman"/>
              </a:rPr>
              <a:t>Écrire un algorithme qui demande un nombre  entier à </a:t>
            </a:r>
            <a:r>
              <a:rPr sz="3200" spc="-10" dirty="0">
                <a:latin typeface="Times New Roman"/>
                <a:cs typeface="Times New Roman"/>
              </a:rPr>
              <a:t>l'utilisateur, </a:t>
            </a:r>
            <a:r>
              <a:rPr sz="3200" spc="-5" dirty="0">
                <a:latin typeface="Times New Roman"/>
                <a:cs typeface="Times New Roman"/>
              </a:rPr>
              <a:t>puis qui </a:t>
            </a:r>
            <a:r>
              <a:rPr sz="3200" dirty="0">
                <a:latin typeface="Times New Roman"/>
                <a:cs typeface="Times New Roman"/>
              </a:rPr>
              <a:t>teste </a:t>
            </a:r>
            <a:r>
              <a:rPr sz="3200" spc="-5" dirty="0">
                <a:latin typeface="Times New Roman"/>
                <a:cs typeface="Times New Roman"/>
              </a:rPr>
              <a:t>et </a:t>
            </a:r>
            <a:r>
              <a:rPr sz="3200" spc="-15" dirty="0">
                <a:latin typeface="Times New Roman"/>
                <a:cs typeface="Times New Roman"/>
              </a:rPr>
              <a:t>affiche  </a:t>
            </a:r>
            <a:r>
              <a:rPr sz="3200" spc="-5" dirty="0">
                <a:latin typeface="Times New Roman"/>
                <a:cs typeface="Times New Roman"/>
              </a:rPr>
              <a:t>s'il est divisible par 7 ou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non.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2492" y="685800"/>
            <a:ext cx="58788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Tests: </a:t>
            </a:r>
            <a:r>
              <a:rPr spc="-5" dirty="0"/>
              <a:t>instructions</a:t>
            </a:r>
            <a:r>
              <a:rPr spc="40" dirty="0"/>
              <a:t> </a:t>
            </a:r>
            <a:r>
              <a:rPr spc="-5" dirty="0"/>
              <a:t>conditionnelles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9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43660" y="1371600"/>
            <a:ext cx="7565390" cy="5385449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395605" indent="-383540">
              <a:lnSpc>
                <a:spcPct val="100000"/>
              </a:lnSpc>
              <a:spcBef>
                <a:spcPts val="555"/>
              </a:spcBef>
              <a:buFont typeface="Wingdings"/>
              <a:buChar char=""/>
              <a:tabLst>
                <a:tab pos="396240" algn="l"/>
              </a:tabLst>
            </a:pPr>
            <a:r>
              <a:rPr sz="29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Exercice </a:t>
            </a:r>
            <a:r>
              <a:rPr sz="2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d’application: </a:t>
            </a:r>
            <a:r>
              <a:rPr lang="fr-FR" sz="2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900" spc="-5" dirty="0" err="1">
                <a:solidFill>
                  <a:srgbClr val="C00000"/>
                </a:solidFill>
                <a:latin typeface="Times New Roman"/>
                <a:cs typeface="Times New Roman"/>
              </a:rPr>
              <a:t>Corrigé</a:t>
            </a:r>
            <a:endParaRPr sz="2900" dirty="0">
              <a:latin typeface="Times New Roman"/>
              <a:cs typeface="Times New Roman"/>
            </a:endParaRPr>
          </a:p>
          <a:p>
            <a:pPr marL="1297940">
              <a:spcBef>
                <a:spcPts val="459"/>
              </a:spcBef>
            </a:pPr>
            <a:r>
              <a:rPr lang="fr-FR" sz="2700" b="1" spc="-40" dirty="0">
                <a:latin typeface="Times New Roman"/>
                <a:cs typeface="Times New Roman"/>
              </a:rPr>
              <a:t>Algorithme</a:t>
            </a:r>
            <a:r>
              <a:rPr lang="fr-FR" sz="2700" spc="-40" dirty="0">
                <a:latin typeface="Times New Roman"/>
                <a:cs typeface="Times New Roman"/>
              </a:rPr>
              <a:t> divisiblePar7</a:t>
            </a:r>
            <a:endParaRPr lang="fr-FR" sz="2700" spc="-45" dirty="0">
              <a:latin typeface="Times New Roman"/>
              <a:cs typeface="Times New Roman"/>
            </a:endParaRPr>
          </a:p>
          <a:p>
            <a:pPr marL="1297940">
              <a:lnSpc>
                <a:spcPct val="100000"/>
              </a:lnSpc>
              <a:spcBef>
                <a:spcPts val="459"/>
              </a:spcBef>
            </a:pPr>
            <a:r>
              <a:rPr sz="2700" b="1" spc="-45" dirty="0">
                <a:latin typeface="Times New Roman"/>
                <a:cs typeface="Times New Roman"/>
              </a:rPr>
              <a:t>Variable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n :</a:t>
            </a:r>
            <a:r>
              <a:rPr sz="2700" spc="2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entier</a:t>
            </a:r>
            <a:endParaRPr sz="2700" dirty="0">
              <a:latin typeface="Times New Roman"/>
              <a:cs typeface="Times New Roman"/>
            </a:endParaRPr>
          </a:p>
          <a:p>
            <a:pPr marL="1297940">
              <a:lnSpc>
                <a:spcPct val="100000"/>
              </a:lnSpc>
            </a:pPr>
            <a:r>
              <a:rPr sz="2700" b="1" spc="-5" dirty="0">
                <a:latin typeface="Times New Roman"/>
                <a:cs typeface="Times New Roman"/>
              </a:rPr>
              <a:t>Début</a:t>
            </a:r>
            <a:endParaRPr sz="2700" dirty="0">
              <a:latin typeface="Times New Roman"/>
              <a:cs typeface="Times New Roman"/>
            </a:endParaRPr>
          </a:p>
          <a:p>
            <a:pPr marL="1755139" marR="1630680">
              <a:lnSpc>
                <a:spcPct val="100000"/>
              </a:lnSpc>
            </a:pPr>
            <a:r>
              <a:rPr sz="2700" spc="-5" dirty="0">
                <a:latin typeface="Times New Roman"/>
                <a:cs typeface="Times New Roman"/>
              </a:rPr>
              <a:t>Ecrire ("Entrez un entier : ")  Lire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(n)</a:t>
            </a:r>
            <a:endParaRPr sz="2700" dirty="0">
              <a:latin typeface="Times New Roman"/>
              <a:cs typeface="Times New Roman"/>
            </a:endParaRPr>
          </a:p>
          <a:p>
            <a:pPr marL="1755139">
              <a:lnSpc>
                <a:spcPct val="100000"/>
              </a:lnSpc>
              <a:spcBef>
                <a:spcPts val="5"/>
              </a:spcBef>
            </a:pPr>
            <a:r>
              <a:rPr sz="2700" b="1" spc="-5" dirty="0">
                <a:latin typeface="Times New Roman"/>
                <a:cs typeface="Times New Roman"/>
              </a:rPr>
              <a:t>Si </a:t>
            </a:r>
            <a:r>
              <a:rPr sz="2700" spc="-5" dirty="0">
                <a:latin typeface="Times New Roman"/>
                <a:cs typeface="Times New Roman"/>
              </a:rPr>
              <a:t>(</a:t>
            </a:r>
            <a:r>
              <a:rPr lang="fr-FR" sz="2700" spc="-5" dirty="0">
                <a:latin typeface="Times New Roman"/>
                <a:cs typeface="Times New Roman"/>
              </a:rPr>
              <a:t>n </a:t>
            </a:r>
            <a:r>
              <a:rPr lang="fr-FR" sz="2700" spc="-5" dirty="0" err="1">
                <a:latin typeface="Times New Roman"/>
                <a:cs typeface="Times New Roman"/>
              </a:rPr>
              <a:t>mod</a:t>
            </a:r>
            <a:r>
              <a:rPr lang="fr-FR" sz="2700" spc="-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7=0)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b="1" spc="-5" dirty="0">
                <a:latin typeface="Times New Roman"/>
                <a:cs typeface="Times New Roman"/>
              </a:rPr>
              <a:t>alors</a:t>
            </a:r>
            <a:endParaRPr sz="2700" dirty="0">
              <a:latin typeface="Times New Roman"/>
              <a:cs typeface="Times New Roman"/>
            </a:endParaRPr>
          </a:p>
          <a:p>
            <a:pPr marL="2212340">
              <a:lnSpc>
                <a:spcPct val="100000"/>
              </a:lnSpc>
            </a:pPr>
            <a:r>
              <a:rPr sz="2700" spc="-5" dirty="0">
                <a:latin typeface="Times New Roman"/>
                <a:cs typeface="Times New Roman"/>
              </a:rPr>
              <a:t>Ecrire (n," est divisible par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7")</a:t>
            </a:r>
            <a:endParaRPr sz="2700" dirty="0">
              <a:latin typeface="Times New Roman"/>
              <a:cs typeface="Times New Roman"/>
            </a:endParaRPr>
          </a:p>
          <a:p>
            <a:pPr marL="1754505">
              <a:lnSpc>
                <a:spcPct val="100000"/>
              </a:lnSpc>
            </a:pPr>
            <a:r>
              <a:rPr sz="2700" b="1" spc="-5" dirty="0">
                <a:latin typeface="Times New Roman"/>
                <a:cs typeface="Times New Roman"/>
              </a:rPr>
              <a:t>Sinon</a:t>
            </a:r>
            <a:endParaRPr sz="2700" dirty="0">
              <a:latin typeface="Times New Roman"/>
              <a:cs typeface="Times New Roman"/>
            </a:endParaRPr>
          </a:p>
          <a:p>
            <a:pPr marL="2211705">
              <a:lnSpc>
                <a:spcPct val="100000"/>
              </a:lnSpc>
            </a:pPr>
            <a:r>
              <a:rPr sz="2700" spc="-5" dirty="0">
                <a:latin typeface="Times New Roman"/>
                <a:cs typeface="Times New Roman"/>
              </a:rPr>
              <a:t>Ecrire (n," n'est pas divisible par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7")</a:t>
            </a:r>
            <a:endParaRPr sz="2700" dirty="0">
              <a:latin typeface="Times New Roman"/>
              <a:cs typeface="Times New Roman"/>
            </a:endParaRPr>
          </a:p>
          <a:p>
            <a:pPr marL="1297305" marR="5025390" indent="456565">
              <a:lnSpc>
                <a:spcPct val="100000"/>
              </a:lnSpc>
            </a:pPr>
            <a:r>
              <a:rPr sz="2700" b="1" spc="-5" dirty="0" err="1">
                <a:latin typeface="Times New Roman"/>
                <a:cs typeface="Times New Roman"/>
              </a:rPr>
              <a:t>F</a:t>
            </a:r>
            <a:r>
              <a:rPr sz="2700" b="1" spc="-10" dirty="0" err="1">
                <a:latin typeface="Times New Roman"/>
                <a:cs typeface="Times New Roman"/>
              </a:rPr>
              <a:t>i</a:t>
            </a:r>
            <a:r>
              <a:rPr sz="2700" b="1" spc="-5" dirty="0" err="1">
                <a:latin typeface="Times New Roman"/>
                <a:cs typeface="Times New Roman"/>
              </a:rPr>
              <a:t>n</a:t>
            </a:r>
            <a:r>
              <a:rPr lang="en-US" sz="2700" b="1" spc="-5" dirty="0" err="1">
                <a:latin typeface="Times New Roman"/>
                <a:cs typeface="Times New Roman"/>
              </a:rPr>
              <a:t>S</a:t>
            </a:r>
            <a:r>
              <a:rPr sz="2700" b="1" spc="-5" dirty="0" err="1">
                <a:latin typeface="Times New Roman"/>
                <a:cs typeface="Times New Roman"/>
              </a:rPr>
              <a:t>i</a:t>
            </a:r>
            <a:r>
              <a:rPr sz="2700" b="1" spc="-5" dirty="0">
                <a:latin typeface="Times New Roman"/>
                <a:cs typeface="Times New Roman"/>
              </a:rPr>
              <a:t>  Fin</a:t>
            </a:r>
            <a:endParaRPr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10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3498" y="662802"/>
            <a:ext cx="8168005" cy="1428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8540">
              <a:lnSpc>
                <a:spcPct val="143800"/>
              </a:lnSpc>
              <a:spcBef>
                <a:spcPts val="100"/>
              </a:spcBef>
            </a:pPr>
            <a:r>
              <a:rPr spc="-55" dirty="0"/>
              <a:t>Tests: </a:t>
            </a:r>
            <a:r>
              <a:rPr spc="-5" dirty="0"/>
              <a:t>instructions conditionnelles  </a:t>
            </a:r>
            <a:r>
              <a:rPr spc="-5" dirty="0">
                <a:solidFill>
                  <a:srgbClr val="C00000"/>
                </a:solidFill>
              </a:rPr>
              <a:t>La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spc="-5" dirty="0">
                <a:solidFill>
                  <a:srgbClr val="C00000"/>
                </a:solidFill>
              </a:rPr>
              <a:t>condition: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33612" y="2153658"/>
            <a:ext cx="9849485" cy="3225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505459" indent="-493395" algn="just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506095" algn="l"/>
              </a:tabLst>
            </a:pPr>
            <a:r>
              <a:rPr sz="3000" spc="-5" dirty="0">
                <a:latin typeface="Times New Roman"/>
                <a:cs typeface="Times New Roman"/>
              </a:rPr>
              <a:t>Elle </a:t>
            </a:r>
            <a:r>
              <a:rPr sz="3000" dirty="0">
                <a:latin typeface="Times New Roman"/>
                <a:cs typeface="Times New Roman"/>
              </a:rPr>
              <a:t>ne peut être que vraie ou</a:t>
            </a:r>
            <a:r>
              <a:rPr sz="3000" spc="5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fausse.</a:t>
            </a:r>
            <a:endParaRPr sz="3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506730" algn="l"/>
              </a:tabLst>
            </a:pPr>
            <a:r>
              <a:rPr lang="fr-FR" sz="3000" spc="-5" dirty="0">
                <a:latin typeface="Times New Roman"/>
                <a:cs typeface="Times New Roman"/>
              </a:rPr>
              <a:t> </a:t>
            </a:r>
            <a:r>
              <a:rPr sz="3000" spc="-5">
                <a:latin typeface="Times New Roman"/>
                <a:cs typeface="Times New Roman"/>
              </a:rPr>
              <a:t>Une </a:t>
            </a:r>
            <a:r>
              <a:rPr sz="3000" dirty="0">
                <a:latin typeface="Times New Roman"/>
                <a:cs typeface="Times New Roman"/>
              </a:rPr>
              <a:t>condition peut être une </a:t>
            </a:r>
            <a:r>
              <a:rPr sz="3000" spc="-5" dirty="0">
                <a:latin typeface="Times New Roman"/>
                <a:cs typeface="Times New Roman"/>
              </a:rPr>
              <a:t>expression </a:t>
            </a:r>
            <a:r>
              <a:rPr sz="3000" dirty="0">
                <a:latin typeface="Times New Roman"/>
                <a:cs typeface="Times New Roman"/>
              </a:rPr>
              <a:t>booléenne simple ou  une </a:t>
            </a:r>
            <a:r>
              <a:rPr sz="3000" spc="-5" dirty="0">
                <a:latin typeface="Times New Roman"/>
                <a:cs typeface="Times New Roman"/>
              </a:rPr>
              <a:t>suite </a:t>
            </a:r>
            <a:r>
              <a:rPr sz="3000" dirty="0">
                <a:latin typeface="Times New Roman"/>
                <a:cs typeface="Times New Roman"/>
              </a:rPr>
              <a:t>composée </a:t>
            </a:r>
            <a:r>
              <a:rPr sz="3000" spc="-5" dirty="0">
                <a:latin typeface="Times New Roman"/>
                <a:cs typeface="Times New Roman"/>
              </a:rPr>
              <a:t>d’expressions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booléennes.</a:t>
            </a:r>
            <a:endParaRPr sz="3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506730" algn="l"/>
              </a:tabLst>
            </a:pPr>
            <a:r>
              <a:rPr lang="fr-FR" sz="3000" spc="-5" dirty="0">
                <a:latin typeface="Times New Roman"/>
                <a:cs typeface="Times New Roman"/>
              </a:rPr>
              <a:t> </a:t>
            </a:r>
            <a:r>
              <a:rPr sz="3000" spc="-5">
                <a:latin typeface="Times New Roman"/>
                <a:cs typeface="Times New Roman"/>
              </a:rPr>
              <a:t>Une </a:t>
            </a:r>
            <a:r>
              <a:rPr sz="3000" dirty="0">
                <a:latin typeface="Times New Roman"/>
                <a:cs typeface="Times New Roman"/>
              </a:rPr>
              <a:t>condition composée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dirty="0">
                <a:latin typeface="Times New Roman"/>
                <a:cs typeface="Times New Roman"/>
              </a:rPr>
              <a:t>une condition formée de  </a:t>
            </a:r>
            <a:r>
              <a:rPr sz="3000" spc="-5" dirty="0">
                <a:latin typeface="Times New Roman"/>
                <a:cs typeface="Times New Roman"/>
              </a:rPr>
              <a:t>plusieurs </a:t>
            </a:r>
            <a:r>
              <a:rPr sz="3000" dirty="0">
                <a:latin typeface="Times New Roman"/>
                <a:cs typeface="Times New Roman"/>
              </a:rPr>
              <a:t>conditions simples reliées </a:t>
            </a:r>
            <a:r>
              <a:rPr sz="3000" spc="-5" dirty="0">
                <a:latin typeface="Times New Roman"/>
                <a:cs typeface="Times New Roman"/>
              </a:rPr>
              <a:t>par </a:t>
            </a:r>
            <a:r>
              <a:rPr sz="3000" dirty="0">
                <a:latin typeface="Times New Roman"/>
                <a:cs typeface="Times New Roman"/>
              </a:rPr>
              <a:t>des opérateurs logiques:  </a:t>
            </a:r>
            <a:r>
              <a:rPr sz="3000" spc="-80" dirty="0">
                <a:latin typeface="Times New Roman"/>
                <a:cs typeface="Times New Roman"/>
              </a:rPr>
              <a:t>ET, </a:t>
            </a:r>
            <a:r>
              <a:rPr sz="3000" spc="-5" dirty="0">
                <a:latin typeface="Times New Roman"/>
                <a:cs typeface="Times New Roman"/>
              </a:rPr>
              <a:t>OU, OU </a:t>
            </a:r>
            <a:r>
              <a:rPr sz="3000" dirty="0">
                <a:latin typeface="Times New Roman"/>
                <a:cs typeface="Times New Roman"/>
              </a:rPr>
              <a:t>exclusif </a:t>
            </a:r>
            <a:r>
              <a:rPr sz="3000" spc="-5" dirty="0">
                <a:latin typeface="Times New Roman"/>
                <a:cs typeface="Times New Roman"/>
              </a:rPr>
              <a:t>(XOR) </a:t>
            </a:r>
            <a:r>
              <a:rPr sz="3000" dirty="0">
                <a:latin typeface="Times New Roman"/>
                <a:cs typeface="Times New Roman"/>
              </a:rPr>
              <a:t>et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NON.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11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4129" y="662802"/>
            <a:ext cx="8237220" cy="1428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57755">
              <a:lnSpc>
                <a:spcPct val="143800"/>
              </a:lnSpc>
              <a:spcBef>
                <a:spcPts val="100"/>
              </a:spcBef>
            </a:pPr>
            <a:r>
              <a:rPr spc="-55" dirty="0"/>
              <a:t>Tests: </a:t>
            </a:r>
            <a:r>
              <a:rPr spc="-5" dirty="0"/>
              <a:t>instructions conditionnelles  </a:t>
            </a:r>
            <a:r>
              <a:rPr spc="-5" dirty="0">
                <a:solidFill>
                  <a:srgbClr val="C00000"/>
                </a:solidFill>
              </a:rPr>
              <a:t>La condition</a:t>
            </a:r>
            <a:r>
              <a:rPr spc="-10" dirty="0">
                <a:solidFill>
                  <a:srgbClr val="C00000"/>
                </a:solidFill>
              </a:rPr>
              <a:t> </a:t>
            </a:r>
            <a:r>
              <a:rPr spc="-5" dirty="0">
                <a:solidFill>
                  <a:srgbClr val="C00000"/>
                </a:solidFill>
              </a:rPr>
              <a:t>(suite):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1850" y="2296533"/>
            <a:ext cx="10467027" cy="1859483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3000" b="1" spc="-5" dirty="0">
                <a:latin typeface="Times New Roman"/>
                <a:cs typeface="Times New Roman"/>
              </a:rPr>
              <a:t>Exemple:</a:t>
            </a:r>
            <a:endParaRPr sz="3000" dirty="0">
              <a:latin typeface="Times New Roman"/>
              <a:cs typeface="Times New Roman"/>
            </a:endParaRPr>
          </a:p>
          <a:p>
            <a:pPr marL="1536700" indent="-70421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1536065" algn="l"/>
                <a:tab pos="1536700" algn="l"/>
              </a:tabLst>
            </a:pPr>
            <a:r>
              <a:rPr sz="3000" i="1" dirty="0">
                <a:latin typeface="Times New Roman"/>
                <a:cs typeface="Times New Roman"/>
              </a:rPr>
              <a:t>x </a:t>
            </a:r>
            <a:r>
              <a:rPr sz="3000" i="1" spc="-5" dirty="0">
                <a:latin typeface="Times New Roman"/>
                <a:cs typeface="Times New Roman"/>
              </a:rPr>
              <a:t>compris </a:t>
            </a:r>
            <a:r>
              <a:rPr sz="3000" i="1" dirty="0">
                <a:latin typeface="Times New Roman"/>
                <a:cs typeface="Times New Roman"/>
              </a:rPr>
              <a:t>entre 2 et 6</a:t>
            </a:r>
            <a:r>
              <a:rPr lang="fr-FR" sz="3000" i="1" dirty="0">
                <a:latin typeface="Times New Roman"/>
                <a:cs typeface="Times New Roman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: </a:t>
            </a:r>
            <a:r>
              <a:rPr sz="3000" dirty="0">
                <a:solidFill>
                  <a:srgbClr val="006600"/>
                </a:solidFill>
                <a:latin typeface="Times New Roman"/>
                <a:cs typeface="Times New Roman"/>
              </a:rPr>
              <a:t>(x &gt;= 2) </a:t>
            </a:r>
            <a:r>
              <a:rPr sz="3000" spc="-5" dirty="0">
                <a:solidFill>
                  <a:srgbClr val="006600"/>
                </a:solidFill>
                <a:latin typeface="Times New Roman"/>
                <a:cs typeface="Times New Roman"/>
              </a:rPr>
              <a:t>ET </a:t>
            </a:r>
            <a:r>
              <a:rPr sz="3000" dirty="0">
                <a:solidFill>
                  <a:srgbClr val="006600"/>
                </a:solidFill>
                <a:latin typeface="Times New Roman"/>
                <a:cs typeface="Times New Roman"/>
              </a:rPr>
              <a:t>(x &lt;</a:t>
            </a:r>
            <a:r>
              <a:rPr sz="3000" spc="-7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6600"/>
                </a:solidFill>
                <a:latin typeface="Times New Roman"/>
                <a:cs typeface="Times New Roman"/>
              </a:rPr>
              <a:t>=6)</a:t>
            </a:r>
          </a:p>
          <a:p>
            <a:pPr marL="1536700" indent="-70421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1536065" algn="l"/>
                <a:tab pos="1536700" algn="l"/>
              </a:tabLst>
            </a:pPr>
            <a:r>
              <a:rPr sz="3000" i="1" dirty="0">
                <a:latin typeface="Times New Roman"/>
                <a:cs typeface="Times New Roman"/>
              </a:rPr>
              <a:t>n divisible par 3 ou par 2 : </a:t>
            </a:r>
            <a:r>
              <a:rPr sz="3000" dirty="0">
                <a:solidFill>
                  <a:srgbClr val="006600"/>
                </a:solidFill>
                <a:latin typeface="Times New Roman"/>
                <a:cs typeface="Times New Roman"/>
              </a:rPr>
              <a:t>(n</a:t>
            </a:r>
            <a:r>
              <a:rPr lang="fr-FR" sz="300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lang="fr-FR" sz="3000" dirty="0" err="1">
                <a:solidFill>
                  <a:srgbClr val="006600"/>
                </a:solidFill>
                <a:latin typeface="Times New Roman"/>
                <a:cs typeface="Times New Roman"/>
              </a:rPr>
              <a:t>mod</a:t>
            </a:r>
            <a:r>
              <a:rPr lang="fr-FR" sz="300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6600"/>
                </a:solidFill>
                <a:latin typeface="Times New Roman"/>
                <a:cs typeface="Times New Roman"/>
              </a:rPr>
              <a:t>3=0) </a:t>
            </a:r>
            <a:r>
              <a:rPr sz="3000" spc="-5" dirty="0">
                <a:solidFill>
                  <a:srgbClr val="006600"/>
                </a:solidFill>
                <a:latin typeface="Times New Roman"/>
                <a:cs typeface="Times New Roman"/>
              </a:rPr>
              <a:t>OU</a:t>
            </a:r>
            <a:r>
              <a:rPr sz="3000" spc="-5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6600"/>
                </a:solidFill>
                <a:latin typeface="Times New Roman"/>
                <a:cs typeface="Times New Roman"/>
              </a:rPr>
              <a:t>(</a:t>
            </a:r>
            <a:r>
              <a:rPr lang="fr-FR" sz="3000" dirty="0">
                <a:solidFill>
                  <a:srgbClr val="006600"/>
                </a:solidFill>
                <a:latin typeface="Times New Roman"/>
                <a:cs typeface="Times New Roman"/>
              </a:rPr>
              <a:t>n </a:t>
            </a:r>
            <a:r>
              <a:rPr lang="fr-FR" sz="3000" dirty="0" err="1">
                <a:solidFill>
                  <a:srgbClr val="006600"/>
                </a:solidFill>
                <a:latin typeface="Times New Roman"/>
                <a:cs typeface="Times New Roman"/>
              </a:rPr>
              <a:t>mod</a:t>
            </a:r>
            <a:r>
              <a:rPr lang="fr-FR" sz="300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6600"/>
                </a:solidFill>
                <a:latin typeface="Times New Roman"/>
                <a:cs typeface="Times New Roman"/>
              </a:rPr>
              <a:t>2=0)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2492" y="876536"/>
            <a:ext cx="58788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Tests: </a:t>
            </a:r>
            <a:r>
              <a:rPr spc="-5" dirty="0"/>
              <a:t>instructions</a:t>
            </a:r>
            <a:r>
              <a:rPr spc="40" dirty="0"/>
              <a:t> </a:t>
            </a:r>
            <a:r>
              <a:rPr spc="-5" dirty="0"/>
              <a:t>conditionnelles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55599" y="1785924"/>
            <a:ext cx="4215130" cy="4493895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265"/>
              </a:spcBef>
            </a:pPr>
            <a:r>
              <a:rPr sz="2600" b="1" spc="-5" dirty="0">
                <a:latin typeface="Times New Roman"/>
                <a:cs typeface="Times New Roman"/>
              </a:rPr>
              <a:t>Si </a:t>
            </a:r>
            <a:r>
              <a:rPr sz="2600" spc="-5" dirty="0">
                <a:latin typeface="Times New Roman"/>
                <a:cs typeface="Times New Roman"/>
              </a:rPr>
              <a:t>condition1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alors</a:t>
            </a:r>
            <a:endParaRPr sz="2600">
              <a:latin typeface="Times New Roman"/>
              <a:cs typeface="Times New Roman"/>
            </a:endParaRPr>
          </a:p>
          <a:p>
            <a:pPr marL="1005205">
              <a:lnSpc>
                <a:spcPct val="100000"/>
              </a:lnSpc>
            </a:pPr>
            <a:r>
              <a:rPr sz="26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Si </a:t>
            </a:r>
            <a:r>
              <a:rPr sz="2600" spc="-5" dirty="0">
                <a:solidFill>
                  <a:srgbClr val="0070C0"/>
                </a:solidFill>
                <a:latin typeface="Times New Roman"/>
                <a:cs typeface="Times New Roman"/>
              </a:rPr>
              <a:t>condition2 </a:t>
            </a:r>
            <a:r>
              <a:rPr sz="26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alors</a:t>
            </a:r>
            <a:endParaRPr sz="2600">
              <a:latin typeface="Times New Roman"/>
              <a:cs typeface="Times New Roman"/>
            </a:endParaRPr>
          </a:p>
          <a:p>
            <a:pPr marL="1462405">
              <a:lnSpc>
                <a:spcPct val="100000"/>
              </a:lnSpc>
            </a:pPr>
            <a:r>
              <a:rPr sz="2600" spc="-5" dirty="0">
                <a:solidFill>
                  <a:srgbClr val="0070C0"/>
                </a:solidFill>
                <a:latin typeface="Times New Roman"/>
                <a:cs typeface="Times New Roman"/>
              </a:rPr>
              <a:t>instructionsA</a:t>
            </a:r>
            <a:endParaRPr sz="2600">
              <a:latin typeface="Times New Roman"/>
              <a:cs typeface="Times New Roman"/>
            </a:endParaRPr>
          </a:p>
          <a:p>
            <a:pPr marL="1005205">
              <a:lnSpc>
                <a:spcPct val="100000"/>
              </a:lnSpc>
            </a:pPr>
            <a:r>
              <a:rPr sz="26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Sinon</a:t>
            </a:r>
            <a:endParaRPr sz="2600">
              <a:latin typeface="Times New Roman"/>
              <a:cs typeface="Times New Roman"/>
            </a:endParaRPr>
          </a:p>
          <a:p>
            <a:pPr marL="1462405">
              <a:lnSpc>
                <a:spcPct val="100000"/>
              </a:lnSpc>
            </a:pPr>
            <a:r>
              <a:rPr sz="2600" spc="-5" dirty="0">
                <a:solidFill>
                  <a:srgbClr val="0070C0"/>
                </a:solidFill>
                <a:latin typeface="Times New Roman"/>
                <a:cs typeface="Times New Roman"/>
              </a:rPr>
              <a:t>instructionsB</a:t>
            </a:r>
            <a:endParaRPr sz="2600">
              <a:latin typeface="Times New Roman"/>
              <a:cs typeface="Times New Roman"/>
            </a:endParaRPr>
          </a:p>
          <a:p>
            <a:pPr marL="547370" marR="2505075" indent="457200">
              <a:lnSpc>
                <a:spcPct val="100000"/>
              </a:lnSpc>
            </a:pPr>
            <a:r>
              <a:rPr sz="2600" b="1" spc="-10" dirty="0">
                <a:solidFill>
                  <a:srgbClr val="0070C0"/>
                </a:solidFill>
                <a:latin typeface="Times New Roman"/>
                <a:cs typeface="Times New Roman"/>
              </a:rPr>
              <a:t>Fi</a:t>
            </a:r>
            <a:r>
              <a:rPr sz="26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nsi  </a:t>
            </a:r>
            <a:r>
              <a:rPr sz="2600" b="1" spc="-5" dirty="0">
                <a:latin typeface="Times New Roman"/>
                <a:cs typeface="Times New Roman"/>
              </a:rPr>
              <a:t>Sinon</a:t>
            </a:r>
            <a:endParaRPr sz="2600">
              <a:latin typeface="Times New Roman"/>
              <a:cs typeface="Times New Roman"/>
            </a:endParaRPr>
          </a:p>
          <a:p>
            <a:pPr marL="1005205">
              <a:lnSpc>
                <a:spcPct val="100000"/>
              </a:lnSpc>
              <a:spcBef>
                <a:spcPts val="5"/>
              </a:spcBef>
            </a:pPr>
            <a:r>
              <a:rPr sz="26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Si </a:t>
            </a:r>
            <a:r>
              <a:rPr sz="2600" spc="-5" dirty="0">
                <a:solidFill>
                  <a:srgbClr val="0070C0"/>
                </a:solidFill>
                <a:latin typeface="Times New Roman"/>
                <a:cs typeface="Times New Roman"/>
              </a:rPr>
              <a:t>condition3 </a:t>
            </a:r>
            <a:r>
              <a:rPr sz="26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alors</a:t>
            </a:r>
            <a:endParaRPr sz="2600">
              <a:latin typeface="Times New Roman"/>
              <a:cs typeface="Times New Roman"/>
            </a:endParaRPr>
          </a:p>
          <a:p>
            <a:pPr marL="1461770">
              <a:lnSpc>
                <a:spcPct val="100000"/>
              </a:lnSpc>
            </a:pPr>
            <a:r>
              <a:rPr sz="2600" spc="-5" dirty="0">
                <a:solidFill>
                  <a:srgbClr val="0070C0"/>
                </a:solidFill>
                <a:latin typeface="Times New Roman"/>
                <a:cs typeface="Times New Roman"/>
              </a:rPr>
              <a:t>instructionsC</a:t>
            </a:r>
            <a:endParaRPr sz="2600">
              <a:latin typeface="Times New Roman"/>
              <a:cs typeface="Times New Roman"/>
            </a:endParaRPr>
          </a:p>
          <a:p>
            <a:pPr marL="547370" marR="2505075" indent="457200">
              <a:lnSpc>
                <a:spcPct val="100000"/>
              </a:lnSpc>
            </a:pPr>
            <a:r>
              <a:rPr sz="2600" b="1" spc="-10" dirty="0">
                <a:solidFill>
                  <a:srgbClr val="0070C0"/>
                </a:solidFill>
                <a:latin typeface="Times New Roman"/>
                <a:cs typeface="Times New Roman"/>
              </a:rPr>
              <a:t>Fi</a:t>
            </a:r>
            <a:r>
              <a:rPr sz="26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nsi  </a:t>
            </a:r>
            <a:r>
              <a:rPr sz="2600" b="1" spc="-5" dirty="0">
                <a:latin typeface="Times New Roman"/>
                <a:cs typeface="Times New Roman"/>
              </a:rPr>
              <a:t>Finsi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3545" y="1878191"/>
            <a:ext cx="3744595" cy="2585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Tests</a:t>
            </a:r>
            <a:r>
              <a:rPr sz="29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imbriqués</a:t>
            </a:r>
            <a:endParaRPr sz="2900">
              <a:latin typeface="Times New Roman"/>
              <a:cs typeface="Times New Roman"/>
            </a:endParaRPr>
          </a:p>
          <a:p>
            <a:pPr marL="226695" marR="5080">
              <a:lnSpc>
                <a:spcPct val="150000"/>
              </a:lnSpc>
              <a:spcBef>
                <a:spcPts val="475"/>
              </a:spcBef>
            </a:pPr>
            <a:r>
              <a:rPr sz="3000" spc="-5" dirty="0">
                <a:latin typeface="Times New Roman"/>
                <a:cs typeface="Times New Roman"/>
              </a:rPr>
              <a:t>Les tests </a:t>
            </a:r>
            <a:r>
              <a:rPr sz="3000" dirty="0">
                <a:latin typeface="Times New Roman"/>
                <a:cs typeface="Times New Roman"/>
              </a:rPr>
              <a:t>peuvent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avoir  un degré quelconque  d'imbrications.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50308" y="3546360"/>
            <a:ext cx="1024127" cy="5242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12</a:t>
            </a:fld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1054" y="720389"/>
            <a:ext cx="58788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Tests: </a:t>
            </a:r>
            <a:r>
              <a:rPr spc="-5" dirty="0"/>
              <a:t>instructions</a:t>
            </a:r>
            <a:r>
              <a:rPr spc="40" dirty="0"/>
              <a:t> </a:t>
            </a:r>
            <a:r>
              <a:rPr spc="-5" dirty="0"/>
              <a:t>conditionnelles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13</a:t>
            </a:fld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2108" y="1798728"/>
            <a:ext cx="2999105" cy="1351280"/>
          </a:xfrm>
          <a:prstGeom prst="rect">
            <a:avLst/>
          </a:prstGeom>
        </p:spPr>
        <p:txBody>
          <a:bodyPr vert="horz" wrap="square" lIns="0" tIns="233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2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=&gt; </a:t>
            </a:r>
            <a:r>
              <a:rPr sz="29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Tests</a:t>
            </a:r>
            <a:r>
              <a:rPr sz="2900" b="1" spc="-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imbriqués</a:t>
            </a:r>
            <a:endParaRPr sz="2900">
              <a:latin typeface="Times New Roman"/>
              <a:cs typeface="Times New Roman"/>
            </a:endParaRPr>
          </a:p>
          <a:p>
            <a:pPr marL="103505">
              <a:lnSpc>
                <a:spcPct val="100000"/>
              </a:lnSpc>
              <a:spcBef>
                <a:spcPts val="1735"/>
              </a:spcBef>
            </a:pPr>
            <a:r>
              <a:rPr sz="29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Exemple1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108" y="3127313"/>
            <a:ext cx="331597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800" spc="-35" dirty="0">
                <a:latin typeface="Times New Roman"/>
                <a:cs typeface="Times New Roman"/>
              </a:rPr>
              <a:t>Tester </a:t>
            </a:r>
            <a:r>
              <a:rPr sz="2800" dirty="0">
                <a:latin typeface="Times New Roman"/>
                <a:cs typeface="Times New Roman"/>
              </a:rPr>
              <a:t>si un nombre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est  positif, négatif </a:t>
            </a:r>
            <a:r>
              <a:rPr sz="2800" dirty="0">
                <a:latin typeface="Times New Roman"/>
                <a:cs typeface="Times New Roman"/>
              </a:rPr>
              <a:t>ou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nul.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41850" y="1228556"/>
            <a:ext cx="4870301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2400" b="1" spc="-40" dirty="0">
                <a:latin typeface="Times New Roman"/>
                <a:cs typeface="Times New Roman"/>
              </a:rPr>
              <a:t>Algorithme TesterPosNegNull</a:t>
            </a:r>
            <a:endParaRPr lang="en-US" sz="2400" spc="-3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Times New Roman"/>
                <a:cs typeface="Times New Roman"/>
              </a:rPr>
              <a:t>Variable </a:t>
            </a:r>
            <a:r>
              <a:rPr sz="2400" dirty="0">
                <a:latin typeface="Times New Roman"/>
                <a:cs typeface="Times New Roman"/>
              </a:rPr>
              <a:t>n :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réel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Début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4149" y="2275840"/>
            <a:ext cx="482092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6649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Ecrire ("entrez </a:t>
            </a:r>
            <a:r>
              <a:rPr sz="2400" dirty="0">
                <a:latin typeface="Times New Roman"/>
                <a:cs typeface="Times New Roman"/>
              </a:rPr>
              <a:t>un </a:t>
            </a:r>
            <a:r>
              <a:rPr sz="2400" spc="-5" dirty="0">
                <a:latin typeface="Times New Roman"/>
                <a:cs typeface="Times New Roman"/>
              </a:rPr>
              <a:t>nombre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")  Lire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(n)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Si </a:t>
            </a:r>
            <a:r>
              <a:rPr sz="2400" dirty="0">
                <a:latin typeface="Times New Roman"/>
                <a:cs typeface="Times New Roman"/>
              </a:rPr>
              <a:t>n &lt; 0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alors</a:t>
            </a:r>
            <a:endParaRPr sz="2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Ecrire ("Ce nombre est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négatif")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Sinon</a:t>
            </a:r>
            <a:endParaRPr sz="2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Si </a:t>
            </a:r>
            <a:r>
              <a:rPr sz="2400" dirty="0">
                <a:latin typeface="Times New Roman"/>
                <a:cs typeface="Times New Roman"/>
              </a:rPr>
              <a:t>n = 0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alors</a:t>
            </a:r>
            <a:endParaRPr sz="24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Ecrire ("Ce nombre est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nul")</a:t>
            </a:r>
            <a:endParaRPr sz="2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Sinon</a:t>
            </a:r>
            <a:endParaRPr sz="24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Ecrire ("Ce nombre est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positif")</a:t>
            </a:r>
            <a:endParaRPr sz="2400" dirty="0">
              <a:latin typeface="Times New Roman"/>
              <a:cs typeface="Times New Roman"/>
            </a:endParaRPr>
          </a:p>
          <a:p>
            <a:pPr marL="12700" marR="3699510" indent="45720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Fin</a:t>
            </a:r>
            <a:r>
              <a:rPr sz="2400" b="1" spc="-5" dirty="0">
                <a:latin typeface="Times New Roman"/>
                <a:cs typeface="Times New Roman"/>
              </a:rPr>
              <a:t>s</a:t>
            </a:r>
            <a:r>
              <a:rPr sz="2400" b="1" dirty="0">
                <a:latin typeface="Times New Roman"/>
                <a:cs typeface="Times New Roman"/>
              </a:rPr>
              <a:t>i  </a:t>
            </a:r>
            <a:r>
              <a:rPr sz="2400" b="1" spc="-5" dirty="0">
                <a:latin typeface="Times New Roman"/>
                <a:cs typeface="Times New Roman"/>
              </a:rPr>
              <a:t>Finsi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7559" y="6238240"/>
            <a:ext cx="465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Fin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1054" y="791827"/>
            <a:ext cx="58788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Tests: </a:t>
            </a:r>
            <a:r>
              <a:rPr spc="-5" dirty="0"/>
              <a:t>instructions</a:t>
            </a:r>
            <a:r>
              <a:rPr spc="40" dirty="0"/>
              <a:t> </a:t>
            </a:r>
            <a:r>
              <a:rPr spc="-5" dirty="0"/>
              <a:t>conditionnelles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14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" y="1219200"/>
            <a:ext cx="12025120" cy="5116144"/>
          </a:xfrm>
          <a:prstGeom prst="rect">
            <a:avLst/>
          </a:prstGeom>
        </p:spPr>
        <p:txBody>
          <a:bodyPr vert="horz" wrap="square" lIns="0" tIns="266065" rIns="0" bIns="0" rtlCol="0">
            <a:spAutoFit/>
          </a:bodyPr>
          <a:lstStyle/>
          <a:p>
            <a:pPr marL="83820" algn="just">
              <a:lnSpc>
                <a:spcPct val="100000"/>
              </a:lnSpc>
              <a:spcBef>
                <a:spcPts val="2095"/>
              </a:spcBef>
            </a:pPr>
            <a:r>
              <a:rPr sz="3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Exercice</a:t>
            </a:r>
            <a:r>
              <a:rPr sz="30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d’application</a:t>
            </a:r>
            <a:endParaRPr sz="30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2000"/>
              </a:spcBef>
            </a:pPr>
            <a:r>
              <a:rPr lang="fr-FR" sz="30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Le prix de </a:t>
            </a:r>
            <a:r>
              <a:rPr sz="3000" spc="-5" dirty="0">
                <a:latin typeface="Times New Roman"/>
                <a:cs typeface="Times New Roman"/>
              </a:rPr>
              <a:t>disques </a:t>
            </a:r>
            <a:r>
              <a:rPr sz="3000" dirty="0">
                <a:latin typeface="Times New Roman"/>
                <a:cs typeface="Times New Roman"/>
              </a:rPr>
              <a:t>compacts </a:t>
            </a:r>
            <a:r>
              <a:rPr sz="3000" spc="-5" dirty="0">
                <a:latin typeface="Times New Roman"/>
                <a:cs typeface="Times New Roman"/>
              </a:rPr>
              <a:t>(CDs) </a:t>
            </a:r>
            <a:r>
              <a:rPr sz="3000" dirty="0">
                <a:latin typeface="Times New Roman"/>
                <a:cs typeface="Times New Roman"/>
              </a:rPr>
              <a:t>dans un espace de vente varie  </a:t>
            </a:r>
            <a:r>
              <a:rPr sz="3000" spc="-5" dirty="0">
                <a:latin typeface="Times New Roman"/>
                <a:cs typeface="Times New Roman"/>
              </a:rPr>
              <a:t>selon </a:t>
            </a:r>
            <a:r>
              <a:rPr sz="3000" dirty="0">
                <a:latin typeface="Times New Roman"/>
                <a:cs typeface="Times New Roman"/>
              </a:rPr>
              <a:t>le nombre à acheter: </a:t>
            </a:r>
            <a:endParaRPr lang="fr-FR" sz="3000" dirty="0">
              <a:latin typeface="Times New Roman"/>
              <a:cs typeface="Times New Roman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2000"/>
              </a:spcBef>
              <a:buFont typeface="Arial" pitchFamily="34" charset="0"/>
              <a:buChar char="•"/>
            </a:pPr>
            <a:r>
              <a:rPr sz="3000" dirty="0">
                <a:latin typeface="Times New Roman"/>
                <a:cs typeface="Times New Roman"/>
              </a:rPr>
              <a:t>5 </a:t>
            </a:r>
            <a:r>
              <a:rPr sz="3000" spc="-10" dirty="0">
                <a:latin typeface="Times New Roman"/>
                <a:cs typeface="Times New Roman"/>
              </a:rPr>
              <a:t>DH </a:t>
            </a:r>
            <a:r>
              <a:rPr sz="3000" dirty="0">
                <a:latin typeface="Times New Roman"/>
                <a:cs typeface="Times New Roman"/>
              </a:rPr>
              <a:t>par unité </a:t>
            </a:r>
            <a:r>
              <a:rPr sz="3000" spc="-5" dirty="0">
                <a:latin typeface="Times New Roman"/>
                <a:cs typeface="Times New Roman"/>
              </a:rPr>
              <a:t>si </a:t>
            </a:r>
            <a:r>
              <a:rPr sz="3000" dirty="0">
                <a:latin typeface="Times New Roman"/>
                <a:cs typeface="Times New Roman"/>
              </a:rPr>
              <a:t>le nombre de </a:t>
            </a:r>
            <a:r>
              <a:rPr sz="3000" spc="-5" dirty="0">
                <a:latin typeface="Times New Roman"/>
                <a:cs typeface="Times New Roman"/>
              </a:rPr>
              <a:t>CDs </a:t>
            </a:r>
            <a:r>
              <a:rPr sz="3000" dirty="0">
                <a:latin typeface="Times New Roman"/>
                <a:cs typeface="Times New Roman"/>
              </a:rPr>
              <a:t>à  acheter est inférieur à 10</a:t>
            </a:r>
            <a:r>
              <a:rPr lang="fr-FR" sz="3000" dirty="0">
                <a:latin typeface="Times New Roman"/>
                <a:cs typeface="Times New Roman"/>
              </a:rPr>
              <a:t>;</a:t>
            </a:r>
          </a:p>
          <a:p>
            <a:pPr marL="469900" marR="5080" indent="-457200" algn="just">
              <a:lnSpc>
                <a:spcPct val="100000"/>
              </a:lnSpc>
              <a:spcBef>
                <a:spcPts val="2000"/>
              </a:spcBef>
              <a:buFont typeface="Arial" pitchFamily="34" charset="0"/>
              <a:buChar char="•"/>
            </a:pPr>
            <a:r>
              <a:rPr sz="3000" dirty="0">
                <a:latin typeface="Times New Roman"/>
                <a:cs typeface="Times New Roman"/>
              </a:rPr>
              <a:t>4 </a:t>
            </a:r>
            <a:r>
              <a:rPr sz="3000" spc="-10" dirty="0">
                <a:latin typeface="Times New Roman"/>
                <a:cs typeface="Times New Roman"/>
              </a:rPr>
              <a:t>DH </a:t>
            </a:r>
            <a:r>
              <a:rPr sz="3000" dirty="0">
                <a:latin typeface="Times New Roman"/>
                <a:cs typeface="Times New Roman"/>
              </a:rPr>
              <a:t>par unité </a:t>
            </a:r>
            <a:r>
              <a:rPr sz="3000" spc="-5" dirty="0">
                <a:latin typeface="Times New Roman"/>
                <a:cs typeface="Times New Roman"/>
              </a:rPr>
              <a:t>si </a:t>
            </a:r>
            <a:r>
              <a:rPr sz="3000" dirty="0">
                <a:latin typeface="Times New Roman"/>
                <a:cs typeface="Times New Roman"/>
              </a:rPr>
              <a:t>le nombre de </a:t>
            </a:r>
            <a:r>
              <a:rPr sz="3000" spc="-5" dirty="0">
                <a:latin typeface="Times New Roman"/>
                <a:cs typeface="Times New Roman"/>
              </a:rPr>
              <a:t>CDS </a:t>
            </a:r>
            <a:r>
              <a:rPr sz="3000" dirty="0">
                <a:latin typeface="Times New Roman"/>
                <a:cs typeface="Times New Roman"/>
              </a:rPr>
              <a:t>à  acheter est compris entre 10 et 20</a:t>
            </a:r>
            <a:r>
              <a:rPr lang="fr-FR" sz="3000" dirty="0">
                <a:latin typeface="Times New Roman"/>
                <a:cs typeface="Times New Roman"/>
              </a:rPr>
              <a:t>;</a:t>
            </a:r>
          </a:p>
          <a:p>
            <a:pPr marL="469900" marR="5080" indent="-457200" algn="just">
              <a:lnSpc>
                <a:spcPct val="100000"/>
              </a:lnSpc>
              <a:spcBef>
                <a:spcPts val="2000"/>
              </a:spcBef>
              <a:buFont typeface="Arial" pitchFamily="34" charset="0"/>
              <a:buChar char="•"/>
            </a:pPr>
            <a:r>
              <a:rPr sz="3000" dirty="0">
                <a:latin typeface="Times New Roman"/>
                <a:cs typeface="Times New Roman"/>
              </a:rPr>
              <a:t>3 </a:t>
            </a:r>
            <a:r>
              <a:rPr sz="3000" spc="-5" dirty="0">
                <a:latin typeface="Times New Roman"/>
                <a:cs typeface="Times New Roman"/>
              </a:rPr>
              <a:t>DH </a:t>
            </a:r>
            <a:r>
              <a:rPr sz="3000" dirty="0">
                <a:latin typeface="Times New Roman"/>
                <a:cs typeface="Times New Roman"/>
              </a:rPr>
              <a:t>par unité </a:t>
            </a:r>
            <a:r>
              <a:rPr sz="3000" spc="-5" dirty="0">
                <a:latin typeface="Times New Roman"/>
                <a:cs typeface="Times New Roman"/>
              </a:rPr>
              <a:t>si </a:t>
            </a:r>
            <a:r>
              <a:rPr sz="3000" dirty="0">
                <a:latin typeface="Times New Roman"/>
                <a:cs typeface="Times New Roman"/>
              </a:rPr>
              <a:t>le nombre  de </a:t>
            </a:r>
            <a:r>
              <a:rPr sz="3000" spc="-5" dirty="0">
                <a:latin typeface="Times New Roman"/>
                <a:cs typeface="Times New Roman"/>
              </a:rPr>
              <a:t>CDs </a:t>
            </a:r>
            <a:r>
              <a:rPr sz="3000" dirty="0">
                <a:latin typeface="Times New Roman"/>
                <a:cs typeface="Times New Roman"/>
              </a:rPr>
              <a:t>à acheter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dirty="0">
                <a:latin typeface="Times New Roman"/>
                <a:cs typeface="Times New Roman"/>
              </a:rPr>
              <a:t>au-delà de</a:t>
            </a:r>
            <a:r>
              <a:rPr sz="3000" spc="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20.</a:t>
            </a:r>
          </a:p>
          <a:p>
            <a:pPr marL="12700" marR="5080" algn="just">
              <a:lnSpc>
                <a:spcPct val="100000"/>
              </a:lnSpc>
              <a:spcBef>
                <a:spcPts val="960"/>
              </a:spcBef>
            </a:pPr>
            <a:r>
              <a:rPr lang="fr-FR" sz="3000" dirty="0">
                <a:latin typeface="Times New Roman"/>
                <a:cs typeface="Times New Roman"/>
              </a:rPr>
              <a:t> </a:t>
            </a:r>
            <a:r>
              <a:rPr sz="3000" dirty="0" err="1">
                <a:latin typeface="Times New Roman"/>
                <a:cs typeface="Times New Roman"/>
              </a:rPr>
              <a:t>Écrivez</a:t>
            </a:r>
            <a:r>
              <a:rPr sz="3000" dirty="0">
                <a:latin typeface="Times New Roman"/>
                <a:cs typeface="Times New Roman"/>
              </a:rPr>
              <a:t> un algorithme qui demande à l’utilisateur le nombre </a:t>
            </a:r>
            <a:r>
              <a:rPr sz="3000" spc="5" dirty="0">
                <a:latin typeface="Times New Roman"/>
                <a:cs typeface="Times New Roman"/>
              </a:rPr>
              <a:t>de  </a:t>
            </a:r>
            <a:r>
              <a:rPr sz="3000" spc="-5" dirty="0">
                <a:latin typeface="Times New Roman"/>
                <a:cs typeface="Times New Roman"/>
              </a:rPr>
              <a:t>CDs </a:t>
            </a:r>
            <a:r>
              <a:rPr sz="3000" dirty="0">
                <a:latin typeface="Times New Roman"/>
                <a:cs typeface="Times New Roman"/>
              </a:rPr>
              <a:t>à </a:t>
            </a:r>
            <a:r>
              <a:rPr lang="fr-FR" sz="3000" dirty="0">
                <a:latin typeface="Times New Roman"/>
                <a:cs typeface="Times New Roman"/>
              </a:rPr>
              <a:t> </a:t>
            </a:r>
            <a:r>
              <a:rPr sz="3000" spc="-15" dirty="0" err="1">
                <a:latin typeface="Times New Roman"/>
                <a:cs typeface="Times New Roman"/>
              </a:rPr>
              <a:t>acheter</a:t>
            </a:r>
            <a:r>
              <a:rPr sz="3000" spc="-15" dirty="0">
                <a:latin typeface="Times New Roman"/>
                <a:cs typeface="Times New Roman"/>
              </a:rPr>
              <a:t>, </a:t>
            </a:r>
            <a:r>
              <a:rPr sz="3000" dirty="0">
                <a:latin typeface="Times New Roman"/>
                <a:cs typeface="Times New Roman"/>
              </a:rPr>
              <a:t>qui calcule et </a:t>
            </a:r>
            <a:r>
              <a:rPr sz="3000" spc="-10" dirty="0">
                <a:latin typeface="Times New Roman"/>
                <a:cs typeface="Times New Roman"/>
              </a:rPr>
              <a:t>affiche </a:t>
            </a:r>
            <a:r>
              <a:rPr sz="3000" dirty="0">
                <a:latin typeface="Times New Roman"/>
                <a:cs typeface="Times New Roman"/>
              </a:rPr>
              <a:t>le prix à</a:t>
            </a:r>
            <a:r>
              <a:rPr sz="3000" spc="8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imes New Roman"/>
                <a:cs typeface="Times New Roman"/>
              </a:rPr>
              <a:t>payer.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173" y="870888"/>
            <a:ext cx="318008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4805" marR="5080" indent="-33274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Tests: </a:t>
            </a:r>
            <a:r>
              <a:rPr spc="-5" dirty="0"/>
              <a:t>instructions  conditionnelles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15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74567" y="1944309"/>
            <a:ext cx="3424554" cy="130619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8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Exercice</a:t>
            </a:r>
            <a:r>
              <a:rPr sz="2800" b="1" spc="-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d’application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Corrigé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65650" y="782136"/>
            <a:ext cx="7459471" cy="52700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000" b="1" spc="-40" dirty="0">
                <a:latin typeface="Times New Roman"/>
                <a:cs typeface="Times New Roman"/>
              </a:rPr>
              <a:t>Algorithme</a:t>
            </a:r>
            <a:r>
              <a:rPr lang="fr-FR" sz="2000" spc="-40" dirty="0">
                <a:latin typeface="Times New Roman"/>
                <a:cs typeface="Times New Roman"/>
              </a:rPr>
              <a:t> </a:t>
            </a:r>
            <a:r>
              <a:rPr lang="fr-FR" sz="2000" spc="-40" dirty="0" err="1">
                <a:latin typeface="Times New Roman"/>
                <a:cs typeface="Times New Roman"/>
              </a:rPr>
              <a:t>Prix_CDs</a:t>
            </a:r>
            <a:endParaRPr lang="fr-FR" sz="2000" spc="-4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40" dirty="0">
                <a:latin typeface="Times New Roman"/>
                <a:cs typeface="Times New Roman"/>
              </a:rPr>
              <a:t>Variables </a:t>
            </a:r>
            <a:r>
              <a:rPr sz="2000" spc="-5" dirty="0">
                <a:latin typeface="Times New Roman"/>
                <a:cs typeface="Times New Roman"/>
              </a:rPr>
              <a:t>unites : </a:t>
            </a:r>
            <a:r>
              <a:rPr sz="2000" spc="-5" dirty="0" err="1">
                <a:latin typeface="Times New Roman"/>
                <a:cs typeface="Times New Roman"/>
              </a:rPr>
              <a:t>entier</a:t>
            </a:r>
            <a:endParaRPr lang="en-US" sz="2000" spc="-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spc="-5" dirty="0">
                <a:latin typeface="Times New Roman"/>
                <a:cs typeface="Times New Roman"/>
              </a:rPr>
              <a:t>                </a:t>
            </a:r>
            <a:r>
              <a:rPr sz="2000" spc="-5" dirty="0">
                <a:latin typeface="Times New Roman"/>
                <a:cs typeface="Times New Roman"/>
              </a:rPr>
              <a:t>prix :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réel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Début</a:t>
            </a:r>
            <a:endParaRPr sz="2000" dirty="0">
              <a:latin typeface="Times New Roman"/>
              <a:cs typeface="Times New Roman"/>
            </a:endParaRPr>
          </a:p>
          <a:p>
            <a:pPr marL="469900" marR="950594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Ecrire ("Nombre d’unités : ")  </a:t>
            </a:r>
            <a:endParaRPr lang="en-US" sz="2000" spc="-5" dirty="0">
              <a:latin typeface="Times New Roman"/>
              <a:cs typeface="Times New Roman"/>
            </a:endParaRPr>
          </a:p>
          <a:p>
            <a:pPr marL="469900" marR="950594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Lire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(unites)</a:t>
            </a:r>
            <a:endParaRPr sz="20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Si </a:t>
            </a:r>
            <a:r>
              <a:rPr sz="2000" spc="-5" dirty="0">
                <a:latin typeface="Times New Roman"/>
                <a:cs typeface="Times New Roman"/>
              </a:rPr>
              <a:t>unites &lt; 10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lang="en-US" sz="2000" b="1" spc="-5" dirty="0" err="1">
                <a:latin typeface="Times New Roman"/>
                <a:cs typeface="Times New Roman"/>
              </a:rPr>
              <a:t>a</a:t>
            </a:r>
            <a:r>
              <a:rPr sz="2000" b="1" spc="-5" dirty="0" err="1">
                <a:latin typeface="Times New Roman"/>
                <a:cs typeface="Times New Roman"/>
              </a:rPr>
              <a:t>lors</a:t>
            </a:r>
            <a:endParaRPr lang="en-US" sz="20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	</a:t>
            </a:r>
            <a:r>
              <a:rPr sz="2000" spc="-5" dirty="0">
                <a:latin typeface="Times New Roman"/>
                <a:cs typeface="Times New Roman"/>
              </a:rPr>
              <a:t>prix ← unites*5</a:t>
            </a:r>
            <a:endParaRPr lang="en-US" sz="20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000" b="1" spc="-5" dirty="0" err="1">
                <a:latin typeface="Times New Roman"/>
                <a:cs typeface="Times New Roman"/>
              </a:rPr>
              <a:t>Sinon</a:t>
            </a:r>
            <a:endParaRPr lang="en-US" sz="2000" b="1" spc="-5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lang="en-US" sz="2000" b="1" spc="-5" dirty="0">
                <a:latin typeface="Times New Roman"/>
                <a:cs typeface="Times New Roman"/>
              </a:rPr>
              <a:t>	</a:t>
            </a:r>
            <a:r>
              <a:rPr sz="2000" b="1" spc="-5" dirty="0">
                <a:latin typeface="Times New Roman"/>
                <a:cs typeface="Times New Roman"/>
              </a:rPr>
              <a:t>Si </a:t>
            </a:r>
            <a:r>
              <a:rPr sz="2000" spc="-5" dirty="0">
                <a:latin typeface="Times New Roman"/>
                <a:cs typeface="Times New Roman"/>
              </a:rPr>
              <a:t>unites &lt; 20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b="1" spc="-5" dirty="0" err="1">
                <a:latin typeface="Times New Roman"/>
                <a:cs typeface="Times New Roman"/>
              </a:rPr>
              <a:t>alors</a:t>
            </a:r>
            <a:endParaRPr lang="en-US" sz="20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		</a:t>
            </a:r>
            <a:r>
              <a:rPr sz="2000" spc="-5" dirty="0">
                <a:latin typeface="Times New Roman"/>
                <a:cs typeface="Times New Roman"/>
              </a:rPr>
              <a:t>prix ←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unites*4</a:t>
            </a:r>
            <a:endParaRPr lang="en-US" sz="20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lang="en-US" sz="2000" b="1" spc="-5" dirty="0">
                <a:latin typeface="Times New Roman"/>
                <a:cs typeface="Times New Roman"/>
              </a:rPr>
              <a:t>	</a:t>
            </a:r>
            <a:r>
              <a:rPr sz="2000" b="1" spc="-5" dirty="0" err="1">
                <a:latin typeface="Times New Roman"/>
                <a:cs typeface="Times New Roman"/>
              </a:rPr>
              <a:t>Sinon</a:t>
            </a:r>
            <a:endParaRPr sz="2000" dirty="0">
              <a:latin typeface="Times New Roman"/>
              <a:cs typeface="Times New Roman"/>
            </a:endParaRPr>
          </a:p>
          <a:p>
            <a:pPr marL="1840864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prix ←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unites*3</a:t>
            </a:r>
            <a:endParaRPr sz="2000" dirty="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lang="en-US" sz="2000" b="1" spc="-5" dirty="0">
                <a:latin typeface="Times New Roman"/>
                <a:cs typeface="Times New Roman"/>
              </a:rPr>
              <a:t>	</a:t>
            </a:r>
            <a:r>
              <a:rPr lang="en-US" sz="2000" b="1" spc="-5" dirty="0" err="1">
                <a:latin typeface="Times New Roman"/>
                <a:cs typeface="Times New Roman"/>
              </a:rPr>
              <a:t>Finsi</a:t>
            </a:r>
            <a:endParaRPr lang="en-US" sz="2000" b="1" spc="-5" dirty="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sz="2000" b="1" spc="-5" dirty="0" err="1">
                <a:latin typeface="Times New Roman"/>
                <a:cs typeface="Times New Roman"/>
              </a:rPr>
              <a:t>Finsi</a:t>
            </a:r>
            <a:endParaRPr sz="2000" dirty="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Ecrire (“Le prix à payer est : ”,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prix)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Fin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2457" y="733660"/>
            <a:ext cx="58788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Tests: </a:t>
            </a:r>
            <a:r>
              <a:rPr spc="-5" dirty="0"/>
              <a:t>instructions</a:t>
            </a:r>
            <a:r>
              <a:rPr spc="40" dirty="0"/>
              <a:t> </a:t>
            </a:r>
            <a:r>
              <a:rPr spc="-5" dirty="0"/>
              <a:t>conditionnelles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6800" y="1219200"/>
            <a:ext cx="10128250" cy="149860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855"/>
              </a:spcBef>
              <a:buFont typeface="Wingdings" pitchFamily="2" charset="2"/>
              <a:buChar char="Ø"/>
            </a:pPr>
            <a:r>
              <a:rPr lang="fr-FR"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Instruction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« 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cas</a:t>
            </a:r>
            <a:r>
              <a:rPr sz="28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»</a:t>
            </a: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400"/>
              </a:spcBef>
              <a:tabLst>
                <a:tab pos="473709" algn="l"/>
                <a:tab pos="474345" algn="l"/>
                <a:tab pos="1831975" algn="l"/>
                <a:tab pos="2600325" algn="l"/>
                <a:tab pos="3347085" algn="l"/>
                <a:tab pos="4882515" algn="l"/>
                <a:tab pos="5589905" algn="l"/>
                <a:tab pos="6650990" algn="l"/>
                <a:tab pos="7988300" algn="l"/>
                <a:tab pos="8831580" algn="l"/>
              </a:tabLst>
            </a:pPr>
            <a:r>
              <a:rPr sz="2800" spc="-5" dirty="0" err="1">
                <a:latin typeface="Times New Roman"/>
                <a:cs typeface="Times New Roman"/>
              </a:rPr>
              <a:t>L</a:t>
            </a:r>
            <a:r>
              <a:rPr sz="2800" dirty="0" err="1">
                <a:latin typeface="Times New Roman"/>
                <a:cs typeface="Times New Roman"/>
              </a:rPr>
              <a:t>o</a:t>
            </a:r>
            <a:r>
              <a:rPr sz="2800" spc="-5" dirty="0" err="1">
                <a:latin typeface="Times New Roman"/>
                <a:cs typeface="Times New Roman"/>
              </a:rPr>
              <a:t>r</a:t>
            </a:r>
            <a:r>
              <a:rPr sz="2800" dirty="0" err="1">
                <a:latin typeface="Times New Roman"/>
                <a:cs typeface="Times New Roman"/>
              </a:rPr>
              <a:t>s</a:t>
            </a:r>
            <a:r>
              <a:rPr sz="2800" spc="-5" dirty="0" err="1">
                <a:latin typeface="Times New Roman"/>
                <a:cs typeface="Times New Roman"/>
              </a:rPr>
              <a:t>qu</a:t>
            </a:r>
            <a:r>
              <a:rPr lang="fr-FR" sz="2800" dirty="0">
                <a:latin typeface="Times New Roman"/>
                <a:cs typeface="Times New Roman"/>
              </a:rPr>
              <a:t>' 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do</a:t>
            </a:r>
            <a:r>
              <a:rPr sz="2800" spc="-10" dirty="0" err="1">
                <a:latin typeface="Times New Roman"/>
                <a:cs typeface="Times New Roman"/>
              </a:rPr>
              <a:t>i</a:t>
            </a:r>
            <a:r>
              <a:rPr sz="2800" dirty="0" err="1">
                <a:latin typeface="Times New Roman"/>
                <a:cs typeface="Times New Roman"/>
              </a:rPr>
              <a:t>t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ompare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u</a:t>
            </a:r>
            <a:r>
              <a:rPr sz="2800" dirty="0" err="1">
                <a:latin typeface="Times New Roman"/>
                <a:cs typeface="Times New Roman"/>
              </a:rPr>
              <a:t>ne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m</a:t>
            </a:r>
            <a:r>
              <a:rPr sz="2800" spc="-10" dirty="0" err="1">
                <a:latin typeface="Times New Roman"/>
                <a:cs typeface="Times New Roman"/>
              </a:rPr>
              <a:t>êm</a:t>
            </a:r>
            <a:r>
              <a:rPr sz="2800" dirty="0" err="1">
                <a:latin typeface="Times New Roman"/>
                <a:cs typeface="Times New Roman"/>
              </a:rPr>
              <a:t>e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ri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b</a:t>
            </a:r>
            <a:r>
              <a:rPr sz="2800" spc="-10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ve</a:t>
            </a:r>
            <a:r>
              <a:rPr sz="2800" dirty="0">
                <a:latin typeface="Times New Roman"/>
                <a:cs typeface="Times New Roman"/>
              </a:rPr>
              <a:t>c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p</a:t>
            </a:r>
            <a:r>
              <a:rPr sz="2800" dirty="0" err="1">
                <a:latin typeface="Times New Roman"/>
                <a:cs typeface="Times New Roman"/>
              </a:rPr>
              <a:t>l</a:t>
            </a:r>
            <a:r>
              <a:rPr sz="2800" spc="-5" dirty="0" err="1">
                <a:latin typeface="Times New Roman"/>
                <a:cs typeface="Times New Roman"/>
              </a:rPr>
              <a:t>us</a:t>
            </a:r>
            <a:r>
              <a:rPr sz="2800" spc="-10" dirty="0" err="1">
                <a:latin typeface="Times New Roman"/>
                <a:cs typeface="Times New Roman"/>
              </a:rPr>
              <a:t>ie</a:t>
            </a:r>
            <a:r>
              <a:rPr sz="2800" dirty="0" err="1">
                <a:latin typeface="Times New Roman"/>
                <a:cs typeface="Times New Roman"/>
              </a:rPr>
              <a:t>urs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valeurs</a:t>
            </a:r>
            <a:r>
              <a:rPr lang="fr-FR" sz="2800" spc="-5" dirty="0">
                <a:latin typeface="Times New Roman"/>
                <a:cs typeface="Times New Roman"/>
              </a:rPr>
              <a:t> on utilise l’instruction cas: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5442" y="2875325"/>
            <a:ext cx="3962400" cy="37317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53924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Si </a:t>
            </a:r>
            <a:r>
              <a:rPr sz="2400" dirty="0">
                <a:latin typeface="Times New Roman"/>
                <a:cs typeface="Times New Roman"/>
              </a:rPr>
              <a:t>a=1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b="1" spc="-5" dirty="0" err="1">
                <a:latin typeface="Times New Roman"/>
                <a:cs typeface="Times New Roman"/>
              </a:rPr>
              <a:t>alors</a:t>
            </a:r>
            <a:endParaRPr lang="en-US" sz="2400" dirty="0">
              <a:latin typeface="Times New Roman"/>
              <a:cs typeface="Times New Roman"/>
            </a:endParaRPr>
          </a:p>
          <a:p>
            <a:pPr marR="153924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Times New Roman"/>
                <a:cs typeface="Times New Roman"/>
              </a:rPr>
              <a:t>instruction1  </a:t>
            </a:r>
            <a:r>
              <a:rPr lang="en-US" sz="2400" b="1" spc="-5" dirty="0" err="1">
                <a:latin typeface="Times New Roman"/>
                <a:cs typeface="Times New Roman"/>
              </a:rPr>
              <a:t>S</a:t>
            </a:r>
            <a:r>
              <a:rPr sz="2400" b="1" spc="-5" dirty="0" err="1">
                <a:latin typeface="Times New Roman"/>
                <a:cs typeface="Times New Roman"/>
              </a:rPr>
              <a:t>inon</a:t>
            </a:r>
            <a:r>
              <a:rPr sz="2400" b="1" spc="-5" dirty="0">
                <a:latin typeface="Times New Roman"/>
                <a:cs typeface="Times New Roman"/>
              </a:rPr>
              <a:t> si </a:t>
            </a:r>
            <a:r>
              <a:rPr sz="2400" dirty="0">
                <a:latin typeface="Times New Roman"/>
                <a:cs typeface="Times New Roman"/>
              </a:rPr>
              <a:t>a=2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b="1" spc="-5" dirty="0" err="1">
                <a:latin typeface="Times New Roman"/>
                <a:cs typeface="Times New Roman"/>
              </a:rPr>
              <a:t>alors</a:t>
            </a:r>
            <a:r>
              <a:rPr sz="2400" b="1" spc="-5" dirty="0">
                <a:latin typeface="Times New Roman"/>
                <a:cs typeface="Times New Roman"/>
              </a:rPr>
              <a:t>  </a:t>
            </a:r>
            <a:r>
              <a:rPr lang="en-US" sz="2400" b="1" spc="-5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Times New Roman"/>
                <a:cs typeface="Times New Roman"/>
              </a:rPr>
              <a:t>instruction2</a:t>
            </a:r>
            <a:endParaRPr lang="en-US" sz="2400" dirty="0">
              <a:latin typeface="Times New Roman"/>
              <a:cs typeface="Times New Roman"/>
            </a:endParaRPr>
          </a:p>
          <a:p>
            <a:pPr marR="153924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 err="1">
                <a:latin typeface="Times New Roman"/>
                <a:cs typeface="Times New Roman"/>
              </a:rPr>
              <a:t>S</a:t>
            </a:r>
            <a:r>
              <a:rPr sz="2400" b="1" spc="-5" dirty="0" err="1">
                <a:latin typeface="Times New Roman"/>
                <a:cs typeface="Times New Roman"/>
              </a:rPr>
              <a:t>inon</a:t>
            </a:r>
            <a:r>
              <a:rPr sz="2400" b="1" spc="-5" dirty="0">
                <a:latin typeface="Times New Roman"/>
                <a:cs typeface="Times New Roman"/>
              </a:rPr>
              <a:t> si </a:t>
            </a:r>
            <a:r>
              <a:rPr sz="2400" dirty="0">
                <a:latin typeface="Times New Roman"/>
                <a:cs typeface="Times New Roman"/>
              </a:rPr>
              <a:t>a=4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spc="-5" dirty="0" err="1">
                <a:latin typeface="Times New Roman"/>
                <a:cs typeface="Times New Roman"/>
              </a:rPr>
              <a:t>alors</a:t>
            </a:r>
            <a:endParaRPr lang="en-US" sz="2400" dirty="0">
              <a:latin typeface="Times New Roman"/>
              <a:cs typeface="Times New Roman"/>
            </a:endParaRPr>
          </a:p>
          <a:p>
            <a:pPr marL="87630">
              <a:lnSpc>
                <a:spcPct val="100000"/>
              </a:lnSpc>
            </a:pPr>
            <a:r>
              <a:rPr lang="en-US" sz="2400" spc="-5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Times New Roman"/>
                <a:cs typeface="Times New Roman"/>
              </a:rPr>
              <a:t>instruction4</a:t>
            </a:r>
            <a:endParaRPr lang="en-US" sz="2400" dirty="0">
              <a:latin typeface="Times New Roman"/>
              <a:cs typeface="Times New Roman"/>
            </a:endParaRPr>
          </a:p>
          <a:p>
            <a:pPr marL="87630">
              <a:lnSpc>
                <a:spcPct val="100000"/>
              </a:lnSpc>
            </a:pPr>
            <a:r>
              <a:rPr lang="en-US" sz="2400" b="1" spc="-5" dirty="0" err="1">
                <a:latin typeface="Times New Roman"/>
                <a:cs typeface="Times New Roman"/>
              </a:rPr>
              <a:t>S</a:t>
            </a:r>
            <a:r>
              <a:rPr sz="2400" b="1" spc="-5" dirty="0" err="1">
                <a:latin typeface="Times New Roman"/>
                <a:cs typeface="Times New Roman"/>
              </a:rPr>
              <a:t>inon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 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lang="en-US" sz="2400" dirty="0">
              <a:latin typeface="Times New Roman"/>
              <a:cs typeface="Times New Roman"/>
            </a:endParaRPr>
          </a:p>
          <a:p>
            <a:pPr marL="87630">
              <a:lnSpc>
                <a:spcPct val="100000"/>
              </a:lnSpc>
            </a:pPr>
            <a:endParaRPr lang="en-US" sz="2400" b="1" spc="-5" dirty="0">
              <a:latin typeface="Times New Roman"/>
              <a:cs typeface="Times New Roman"/>
            </a:endParaRPr>
          </a:p>
          <a:p>
            <a:pPr marL="87630">
              <a:lnSpc>
                <a:spcPct val="100000"/>
              </a:lnSpc>
            </a:pPr>
            <a:r>
              <a:rPr lang="en-US" sz="2400" b="1" spc="-5" dirty="0" err="1">
                <a:latin typeface="Times New Roman"/>
                <a:cs typeface="Times New Roman"/>
              </a:rPr>
              <a:t>Finsi</a:t>
            </a:r>
            <a:endParaRPr lang="en-US" sz="2400" b="1" spc="-5" dirty="0">
              <a:latin typeface="Times New Roman"/>
              <a:cs typeface="Times New Roman"/>
            </a:endParaRPr>
          </a:p>
          <a:p>
            <a:pPr marL="1231265">
              <a:lnSpc>
                <a:spcPct val="100000"/>
              </a:lnSpc>
            </a:pPr>
            <a:endParaRPr lang="en-US" sz="2400" b="1" spc="-5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1396" y="3677130"/>
            <a:ext cx="3814445" cy="132651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40"/>
              </a:spcBef>
            </a:pP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On 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peut remplacer cette 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suite de si 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par</a:t>
            </a:r>
            <a:r>
              <a:rPr sz="2800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l’instruction  </a:t>
            </a:r>
            <a:r>
              <a:rPr sz="3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cas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16070" y="2896361"/>
            <a:ext cx="451865" cy="36080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07507" y="4659629"/>
            <a:ext cx="82295" cy="822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55400" y="2928933"/>
            <a:ext cx="357505" cy="3500754"/>
          </a:xfrm>
          <a:custGeom>
            <a:avLst/>
            <a:gdLst/>
            <a:ahLst/>
            <a:cxnLst/>
            <a:rect l="l" t="t" r="r" b="b"/>
            <a:pathLst>
              <a:path w="357504" h="3500754">
                <a:moveTo>
                  <a:pt x="0" y="0"/>
                </a:moveTo>
                <a:lnTo>
                  <a:pt x="69520" y="2338"/>
                </a:lnTo>
                <a:lnTo>
                  <a:pt x="126290" y="8716"/>
                </a:lnTo>
                <a:lnTo>
                  <a:pt x="164565" y="18179"/>
                </a:lnTo>
                <a:lnTo>
                  <a:pt x="178600" y="29768"/>
                </a:lnTo>
                <a:lnTo>
                  <a:pt x="178600" y="1720469"/>
                </a:lnTo>
                <a:lnTo>
                  <a:pt x="192634" y="1732051"/>
                </a:lnTo>
                <a:lnTo>
                  <a:pt x="230908" y="1741509"/>
                </a:lnTo>
                <a:lnTo>
                  <a:pt x="287674" y="1747886"/>
                </a:lnTo>
                <a:lnTo>
                  <a:pt x="357187" y="1750225"/>
                </a:lnTo>
                <a:lnTo>
                  <a:pt x="287674" y="1752565"/>
                </a:lnTo>
                <a:lnTo>
                  <a:pt x="230908" y="1758946"/>
                </a:lnTo>
                <a:lnTo>
                  <a:pt x="192634" y="1768409"/>
                </a:lnTo>
                <a:lnTo>
                  <a:pt x="178600" y="1779993"/>
                </a:lnTo>
                <a:lnTo>
                  <a:pt x="178600" y="3470694"/>
                </a:lnTo>
                <a:lnTo>
                  <a:pt x="164565" y="3482283"/>
                </a:lnTo>
                <a:lnTo>
                  <a:pt x="126290" y="3491745"/>
                </a:lnTo>
                <a:lnTo>
                  <a:pt x="69520" y="3498124"/>
                </a:lnTo>
                <a:lnTo>
                  <a:pt x="0" y="3500462"/>
                </a:lnTo>
              </a:path>
            </a:pathLst>
          </a:custGeom>
          <a:ln w="25400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16</a:t>
            </a:fld>
            <a:endParaRPr spc="-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608" y="734421"/>
            <a:ext cx="55143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/>
              <a:t>Tests: </a:t>
            </a:r>
            <a:r>
              <a:rPr sz="3000" spc="-5" dirty="0"/>
              <a:t>instructions</a:t>
            </a:r>
            <a:r>
              <a:rPr sz="3000" spc="65" dirty="0"/>
              <a:t> </a:t>
            </a:r>
            <a:r>
              <a:rPr sz="3000" spc="-5" dirty="0"/>
              <a:t>conditionnelles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17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pc="-5" dirty="0"/>
              <a:t>Instruction </a:t>
            </a:r>
            <a:r>
              <a:rPr dirty="0"/>
              <a:t>« </a:t>
            </a:r>
            <a:r>
              <a:rPr spc="-5" dirty="0"/>
              <a:t>cas</a:t>
            </a:r>
            <a:r>
              <a:rPr spc="-40" dirty="0"/>
              <a:t> </a:t>
            </a:r>
            <a:r>
              <a:rPr dirty="0"/>
              <a:t>»</a:t>
            </a: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Sa syntaxe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en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pseudo-code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est</a:t>
            </a:r>
            <a:r>
              <a:rPr b="0" spc="-1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</a:p>
          <a:p>
            <a:pPr marL="927100" marR="1630045">
              <a:lnSpc>
                <a:spcPct val="100000"/>
              </a:lnSpc>
              <a:spcBef>
                <a:spcPts val="1800"/>
              </a:spcBef>
            </a:pPr>
            <a:r>
              <a:rPr spc="-5" dirty="0">
                <a:solidFill>
                  <a:srgbClr val="0070C0"/>
                </a:solidFill>
              </a:rPr>
              <a:t>cas </a:t>
            </a:r>
            <a:r>
              <a:rPr dirty="0">
                <a:solidFill>
                  <a:srgbClr val="0070C0"/>
                </a:solidFill>
              </a:rPr>
              <a:t>où v</a:t>
            </a:r>
            <a:r>
              <a:rPr spc="-105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vaut 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v1 :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action</a:t>
            </a:r>
            <a:r>
              <a:rPr lang="fr-FR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v2 :</a:t>
            </a:r>
            <a:r>
              <a:rPr b="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action</a:t>
            </a:r>
            <a:r>
              <a:rPr lang="fr-FR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</a:p>
          <a:p>
            <a:pPr marL="927100">
              <a:lnSpc>
                <a:spcPts val="3360"/>
              </a:lnSpc>
            </a:pP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. .</a:t>
            </a:r>
            <a:r>
              <a:rPr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</a:p>
          <a:p>
            <a:pPr marL="927100">
              <a:lnSpc>
                <a:spcPct val="100000"/>
              </a:lnSpc>
            </a:pP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vn :</a:t>
            </a:r>
            <a:r>
              <a:rPr b="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action</a:t>
            </a:r>
            <a:r>
              <a:rPr lang="fr-FR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fr-FR" spc="-5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endParaRPr spc="-5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autre 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: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action</a:t>
            </a:r>
            <a:r>
              <a:rPr b="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autre</a:t>
            </a:r>
          </a:p>
          <a:p>
            <a:pPr marL="927100">
              <a:lnSpc>
                <a:spcPct val="100000"/>
              </a:lnSpc>
            </a:pPr>
            <a:r>
              <a:rPr spc="-5" dirty="0">
                <a:solidFill>
                  <a:srgbClr val="0070C0"/>
                </a:solidFill>
              </a:rPr>
              <a:t>fincas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sz="half" idx="3"/>
          </p:nvPr>
        </p:nvSpPr>
        <p:spPr>
          <a:xfrm>
            <a:off x="6090746" y="2163944"/>
            <a:ext cx="4986020" cy="37779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indent="635" algn="just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330" algn="l"/>
              </a:tabLst>
            </a:pPr>
            <a:r>
              <a:rPr lang="fr-FR" spc="-5" dirty="0"/>
              <a:t>  </a:t>
            </a:r>
            <a:r>
              <a:rPr spc="-5" dirty="0"/>
              <a:t>v1,. </a:t>
            </a:r>
            <a:r>
              <a:rPr dirty="0"/>
              <a:t>. . </a:t>
            </a:r>
            <a:r>
              <a:rPr spc="-5" dirty="0"/>
              <a:t>,vn sont des </a:t>
            </a:r>
            <a:r>
              <a:rPr spc="-10" dirty="0"/>
              <a:t>constantes  </a:t>
            </a:r>
            <a:r>
              <a:rPr dirty="0"/>
              <a:t>de </a:t>
            </a:r>
            <a:r>
              <a:rPr spc="-5" dirty="0"/>
              <a:t>type scalaire </a:t>
            </a:r>
            <a:r>
              <a:rPr spc="-20" dirty="0"/>
              <a:t>(entier, </a:t>
            </a:r>
            <a:r>
              <a:rPr spc="-5" dirty="0"/>
              <a:t>naturel,  </a:t>
            </a:r>
            <a:r>
              <a:rPr spc="-5" dirty="0" err="1"/>
              <a:t>énuméré</a:t>
            </a:r>
            <a:r>
              <a:rPr spc="-5" dirty="0"/>
              <a:t>, </a:t>
            </a:r>
            <a:r>
              <a:rPr dirty="0"/>
              <a:t>ou</a:t>
            </a:r>
            <a:r>
              <a:rPr spc="-25" dirty="0"/>
              <a:t> </a:t>
            </a:r>
            <a:r>
              <a:rPr spc="-5" dirty="0"/>
              <a:t>caractère).</a:t>
            </a:r>
          </a:p>
          <a:p>
            <a:pPr marL="13335" marR="508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34010" algn="l"/>
              </a:tabLst>
            </a:pPr>
            <a:r>
              <a:rPr lang="fr-FR" spc="-5" dirty="0"/>
              <a:t>  </a:t>
            </a:r>
            <a:r>
              <a:rPr spc="-5" dirty="0"/>
              <a:t>Action </a:t>
            </a:r>
            <a:r>
              <a:rPr dirty="0"/>
              <a:t>i </a:t>
            </a:r>
            <a:r>
              <a:rPr spc="-5" dirty="0"/>
              <a:t>est </a:t>
            </a:r>
            <a:r>
              <a:rPr spc="-10" dirty="0"/>
              <a:t>exécutée </a:t>
            </a:r>
            <a:r>
              <a:rPr spc="-5" dirty="0"/>
              <a:t>si </a:t>
            </a:r>
            <a:r>
              <a:rPr dirty="0"/>
              <a:t>v = </a:t>
            </a:r>
            <a:r>
              <a:rPr spc="-5" dirty="0"/>
              <a:t>vi  </a:t>
            </a:r>
            <a:r>
              <a:rPr dirty="0"/>
              <a:t>(on </a:t>
            </a:r>
            <a:r>
              <a:rPr spc="-5" dirty="0"/>
              <a:t>quitte ensuite l’instruction  cas).</a:t>
            </a:r>
          </a:p>
          <a:p>
            <a:pPr marL="13335" marR="5080" algn="just">
              <a:lnSpc>
                <a:spcPts val="3300"/>
              </a:lnSpc>
              <a:spcBef>
                <a:spcPts val="1360"/>
              </a:spcBef>
              <a:buFont typeface="Wingdings"/>
              <a:buChar char=""/>
              <a:tabLst>
                <a:tab pos="334010" algn="l"/>
              </a:tabLst>
            </a:pPr>
            <a:r>
              <a:rPr lang="fr-FR" spc="-5" dirty="0"/>
              <a:t> </a:t>
            </a:r>
            <a:r>
              <a:rPr spc="-5" dirty="0"/>
              <a:t>Action autre est </a:t>
            </a:r>
            <a:r>
              <a:rPr spc="-10" dirty="0"/>
              <a:t>exécutée </a:t>
            </a:r>
            <a:r>
              <a:rPr spc="-5" dirty="0"/>
              <a:t>si  quelque </a:t>
            </a:r>
            <a:r>
              <a:rPr dirty="0"/>
              <a:t>soit i, v ≠</a:t>
            </a:r>
            <a:r>
              <a:rPr spc="-70" dirty="0"/>
              <a:t> </a:t>
            </a:r>
            <a:r>
              <a:rPr dirty="0"/>
              <a:t>vi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1985" y="948735"/>
            <a:ext cx="55143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/>
              <a:t>Tests: </a:t>
            </a:r>
            <a:r>
              <a:rPr sz="3000" spc="-5" dirty="0"/>
              <a:t>instructions</a:t>
            </a:r>
            <a:r>
              <a:rPr sz="3000" spc="65" dirty="0"/>
              <a:t> </a:t>
            </a:r>
            <a:r>
              <a:rPr sz="3000" spc="-5" dirty="0"/>
              <a:t>conditionnelles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18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47925" y="1949630"/>
            <a:ext cx="9415145" cy="26109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algn="just">
              <a:lnSpc>
                <a:spcPct val="100000"/>
              </a:lnSpc>
              <a:spcBef>
                <a:spcPts val="100"/>
              </a:spcBef>
            </a:pPr>
            <a:r>
              <a:rPr sz="2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Instruction </a:t>
            </a:r>
            <a:r>
              <a:rPr sz="2900" b="1" dirty="0">
                <a:solidFill>
                  <a:srgbClr val="C00000"/>
                </a:solidFill>
                <a:latin typeface="Times New Roman"/>
                <a:cs typeface="Times New Roman"/>
              </a:rPr>
              <a:t>« </a:t>
            </a:r>
            <a:r>
              <a:rPr sz="29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cas </a:t>
            </a:r>
            <a:r>
              <a:rPr sz="2900" b="1" dirty="0">
                <a:solidFill>
                  <a:srgbClr val="C00000"/>
                </a:solidFill>
                <a:latin typeface="Times New Roman"/>
                <a:cs typeface="Times New Roman"/>
              </a:rPr>
              <a:t>»: </a:t>
            </a:r>
            <a:r>
              <a:rPr sz="2900" b="1" spc="-15">
                <a:solidFill>
                  <a:srgbClr val="C00000"/>
                </a:solidFill>
                <a:latin typeface="Times New Roman"/>
                <a:cs typeface="Times New Roman"/>
              </a:rPr>
              <a:t>Exercice</a:t>
            </a:r>
            <a:r>
              <a:rPr sz="2900" b="1" spc="-65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900" b="1">
                <a:solidFill>
                  <a:srgbClr val="C00000"/>
                </a:solidFill>
                <a:latin typeface="Times New Roman"/>
                <a:cs typeface="Times New Roman"/>
              </a:rPr>
              <a:t>d’application</a:t>
            </a:r>
            <a:endParaRPr lang="fr-FR" sz="2900" b="1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155575" algn="just">
              <a:lnSpc>
                <a:spcPct val="100000"/>
              </a:lnSpc>
              <a:spcBef>
                <a:spcPts val="10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3100" spc="-5" dirty="0">
                <a:latin typeface="Times New Roman"/>
                <a:cs typeface="Times New Roman"/>
              </a:rPr>
              <a:t>Ecrire </a:t>
            </a:r>
            <a:r>
              <a:rPr sz="3100" dirty="0">
                <a:latin typeface="Times New Roman"/>
                <a:cs typeface="Times New Roman"/>
              </a:rPr>
              <a:t>un </a:t>
            </a:r>
            <a:r>
              <a:rPr sz="3100" spc="-5" dirty="0">
                <a:latin typeface="Times New Roman"/>
                <a:cs typeface="Times New Roman"/>
              </a:rPr>
              <a:t>algorithme </a:t>
            </a:r>
            <a:r>
              <a:rPr sz="3100" b="1" spc="-5" dirty="0">
                <a:latin typeface="Times New Roman"/>
                <a:cs typeface="Times New Roman"/>
              </a:rPr>
              <a:t>calculatrice</a:t>
            </a:r>
            <a:r>
              <a:rPr sz="3100" spc="-5" dirty="0">
                <a:latin typeface="Times New Roman"/>
                <a:cs typeface="Times New Roman"/>
              </a:rPr>
              <a:t> permettant la </a:t>
            </a:r>
            <a:r>
              <a:rPr sz="3100" dirty="0">
                <a:latin typeface="Times New Roman"/>
                <a:cs typeface="Times New Roman"/>
              </a:rPr>
              <a:t>saisie </a:t>
            </a:r>
            <a:r>
              <a:rPr sz="3100" spc="-5" dirty="0">
                <a:latin typeface="Times New Roman"/>
                <a:cs typeface="Times New Roman"/>
              </a:rPr>
              <a:t>du  premier entier </a:t>
            </a:r>
            <a:r>
              <a:rPr sz="3100" dirty="0">
                <a:latin typeface="Times New Roman"/>
                <a:cs typeface="Times New Roman"/>
              </a:rPr>
              <a:t>(a) de </a:t>
            </a:r>
            <a:r>
              <a:rPr sz="3100" spc="-5" dirty="0">
                <a:latin typeface="Times New Roman"/>
                <a:cs typeface="Times New Roman"/>
              </a:rPr>
              <a:t>l'opération </a:t>
            </a:r>
            <a:r>
              <a:rPr sz="3100" dirty="0">
                <a:latin typeface="Times New Roman"/>
                <a:cs typeface="Times New Roman"/>
              </a:rPr>
              <a:t>( + </a:t>
            </a:r>
            <a:r>
              <a:rPr sz="3100" spc="-5" dirty="0">
                <a:latin typeface="Times New Roman"/>
                <a:cs typeface="Times New Roman"/>
              </a:rPr>
              <a:t>ou </a:t>
            </a:r>
            <a:r>
              <a:rPr sz="3100" dirty="0">
                <a:latin typeface="Times New Roman"/>
                <a:cs typeface="Times New Roman"/>
              </a:rPr>
              <a:t>– ou * ou / : </a:t>
            </a:r>
            <a:r>
              <a:rPr sz="3100" spc="-5" dirty="0">
                <a:latin typeface="Times New Roman"/>
                <a:cs typeface="Times New Roman"/>
              </a:rPr>
              <a:t>sont  des caractères) et </a:t>
            </a:r>
            <a:r>
              <a:rPr sz="3100" dirty="0">
                <a:latin typeface="Times New Roman"/>
                <a:cs typeface="Times New Roman"/>
              </a:rPr>
              <a:t>du </a:t>
            </a:r>
            <a:r>
              <a:rPr sz="3100" spc="-5" dirty="0">
                <a:latin typeface="Times New Roman"/>
                <a:cs typeface="Times New Roman"/>
              </a:rPr>
              <a:t>deuxième entier </a:t>
            </a:r>
            <a:r>
              <a:rPr sz="3100" dirty="0">
                <a:latin typeface="Times New Roman"/>
                <a:cs typeface="Times New Roman"/>
              </a:rPr>
              <a:t>(b) </a:t>
            </a:r>
            <a:r>
              <a:rPr sz="3100" spc="-5" dirty="0">
                <a:latin typeface="Times New Roman"/>
                <a:cs typeface="Times New Roman"/>
              </a:rPr>
              <a:t>et qui </a:t>
            </a:r>
            <a:r>
              <a:rPr sz="3100" spc="-10" dirty="0">
                <a:latin typeface="Times New Roman"/>
                <a:cs typeface="Times New Roman"/>
              </a:rPr>
              <a:t>affiche </a:t>
            </a:r>
            <a:r>
              <a:rPr sz="3100" spc="-5" dirty="0">
                <a:latin typeface="Times New Roman"/>
                <a:cs typeface="Times New Roman"/>
              </a:rPr>
              <a:t>le  résultat.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Outils de</a:t>
            </a:r>
            <a:r>
              <a:rPr sz="2600" spc="-10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base</a:t>
            </a:r>
            <a:endParaRPr sz="26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19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33809" y="811193"/>
            <a:ext cx="6384290" cy="578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ALGORITHME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calculatrice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30" dirty="0">
                <a:latin typeface="Times New Roman"/>
                <a:cs typeface="Times New Roman"/>
              </a:rPr>
              <a:t>Variables </a:t>
            </a:r>
            <a:r>
              <a:rPr sz="1800" spc="-5" dirty="0">
                <a:latin typeface="Times New Roman"/>
                <a:cs typeface="Times New Roman"/>
              </a:rPr>
              <a:t>a, </a:t>
            </a:r>
            <a:r>
              <a:rPr sz="1800" dirty="0">
                <a:latin typeface="Times New Roman"/>
                <a:cs typeface="Times New Roman"/>
              </a:rPr>
              <a:t>b : </a:t>
            </a:r>
            <a:r>
              <a:rPr sz="1800" spc="-5" dirty="0">
                <a:latin typeface="Times New Roman"/>
                <a:cs typeface="Times New Roman"/>
              </a:rPr>
              <a:t>ENTIER; </a:t>
            </a:r>
            <a:r>
              <a:rPr sz="1800" dirty="0">
                <a:latin typeface="Times New Roman"/>
                <a:cs typeface="Times New Roman"/>
              </a:rPr>
              <a:t>op :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CARACTERE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DEBUT</a:t>
            </a:r>
            <a:endParaRPr sz="1800">
              <a:latin typeface="Times New Roman"/>
              <a:cs typeface="Times New Roman"/>
            </a:endParaRPr>
          </a:p>
          <a:p>
            <a:pPr marL="12700" marR="268605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ECRIRE (" saisissez le premier entier ")  LIRE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(a)</a:t>
            </a:r>
            <a:endParaRPr sz="1800">
              <a:latin typeface="Times New Roman"/>
              <a:cs typeface="Times New Roman"/>
            </a:endParaRPr>
          </a:p>
          <a:p>
            <a:pPr marL="12700" marR="319405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ECRIRE (" saisissez l’opération ")  LIRE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(op)</a:t>
            </a:r>
            <a:endParaRPr sz="1800">
              <a:latin typeface="Times New Roman"/>
              <a:cs typeface="Times New Roman"/>
            </a:endParaRPr>
          </a:p>
          <a:p>
            <a:pPr marL="12700" marR="256667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ECRIRE (" saisissez le deuxième entier")  LIRE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(b)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Cas </a:t>
            </a:r>
            <a:r>
              <a:rPr sz="1800" dirty="0">
                <a:latin typeface="Times New Roman"/>
                <a:cs typeface="Times New Roman"/>
              </a:rPr>
              <a:t>où op</a:t>
            </a:r>
            <a:r>
              <a:rPr sz="1800" spc="-5" dirty="0">
                <a:latin typeface="Times New Roman"/>
                <a:cs typeface="Times New Roman"/>
              </a:rPr>
              <a:t> vaut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‘+’ </a:t>
            </a:r>
            <a:r>
              <a:rPr sz="1800" dirty="0">
                <a:latin typeface="Times New Roman"/>
                <a:cs typeface="Times New Roman"/>
              </a:rPr>
              <a:t>: </a:t>
            </a:r>
            <a:r>
              <a:rPr sz="1800" spc="-5" dirty="0">
                <a:latin typeface="Times New Roman"/>
                <a:cs typeface="Times New Roman"/>
              </a:rPr>
              <a:t>ECRIRE ("la somme </a:t>
            </a:r>
            <a:r>
              <a:rPr sz="1800" dirty="0">
                <a:latin typeface="Times New Roman"/>
                <a:cs typeface="Times New Roman"/>
              </a:rPr>
              <a:t>de </a:t>
            </a:r>
            <a:r>
              <a:rPr sz="1800" spc="-5" dirty="0">
                <a:latin typeface="Times New Roman"/>
                <a:cs typeface="Times New Roman"/>
              </a:rPr>
              <a:t>",a, "et </a:t>
            </a:r>
            <a:r>
              <a:rPr sz="1800" dirty="0">
                <a:latin typeface="Times New Roman"/>
                <a:cs typeface="Times New Roman"/>
              </a:rPr>
              <a:t>de </a:t>
            </a:r>
            <a:r>
              <a:rPr sz="1800" spc="-5" dirty="0">
                <a:latin typeface="Times New Roman"/>
                <a:cs typeface="Times New Roman"/>
              </a:rPr>
              <a:t>",b, "est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égale",a+b)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‘-‘ : </a:t>
            </a:r>
            <a:r>
              <a:rPr sz="1800" spc="-5" dirty="0">
                <a:latin typeface="Times New Roman"/>
                <a:cs typeface="Times New Roman"/>
              </a:rPr>
              <a:t>ECRIRE ("la soustraction </a:t>
            </a:r>
            <a:r>
              <a:rPr sz="1800" dirty="0">
                <a:latin typeface="Times New Roman"/>
                <a:cs typeface="Times New Roman"/>
              </a:rPr>
              <a:t>de </a:t>
            </a:r>
            <a:r>
              <a:rPr sz="1800" spc="-5" dirty="0">
                <a:latin typeface="Times New Roman"/>
                <a:cs typeface="Times New Roman"/>
              </a:rPr>
              <a:t>",a, "et </a:t>
            </a:r>
            <a:r>
              <a:rPr sz="1800" dirty="0">
                <a:latin typeface="Times New Roman"/>
                <a:cs typeface="Times New Roman"/>
              </a:rPr>
              <a:t>de </a:t>
            </a:r>
            <a:r>
              <a:rPr sz="1800" spc="-5" dirty="0">
                <a:latin typeface="Times New Roman"/>
                <a:cs typeface="Times New Roman"/>
              </a:rPr>
              <a:t>",b, "est égale",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a-b)</a:t>
            </a:r>
            <a:endParaRPr sz="1800">
              <a:latin typeface="Times New Roman"/>
              <a:cs typeface="Times New Roman"/>
            </a:endParaRPr>
          </a:p>
          <a:p>
            <a:pPr marL="469900" marR="4495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‘*’ : </a:t>
            </a:r>
            <a:r>
              <a:rPr sz="1800" spc="-5" dirty="0">
                <a:latin typeface="Times New Roman"/>
                <a:cs typeface="Times New Roman"/>
              </a:rPr>
              <a:t>ECRIRE ("le produit </a:t>
            </a:r>
            <a:r>
              <a:rPr sz="1800" dirty="0">
                <a:latin typeface="Times New Roman"/>
                <a:cs typeface="Times New Roman"/>
              </a:rPr>
              <a:t>de </a:t>
            </a:r>
            <a:r>
              <a:rPr sz="1800" spc="-5" dirty="0">
                <a:latin typeface="Times New Roman"/>
                <a:cs typeface="Times New Roman"/>
              </a:rPr>
              <a:t>",a, "et </a:t>
            </a:r>
            <a:r>
              <a:rPr sz="1800" dirty="0">
                <a:latin typeface="Times New Roman"/>
                <a:cs typeface="Times New Roman"/>
              </a:rPr>
              <a:t>de </a:t>
            </a:r>
            <a:r>
              <a:rPr sz="1800" spc="-5" dirty="0">
                <a:latin typeface="Times New Roman"/>
                <a:cs typeface="Times New Roman"/>
              </a:rPr>
              <a:t>",b, "est égale",a*b)  ‘/’ </a:t>
            </a:r>
            <a:r>
              <a:rPr sz="1800" dirty="0">
                <a:latin typeface="Times New Roman"/>
                <a:cs typeface="Times New Roman"/>
              </a:rPr>
              <a:t>: </a:t>
            </a:r>
            <a:r>
              <a:rPr sz="1800" spc="-5" dirty="0">
                <a:latin typeface="Times New Roman"/>
                <a:cs typeface="Times New Roman"/>
              </a:rPr>
              <a:t>Si </a:t>
            </a:r>
            <a:r>
              <a:rPr sz="1800" dirty="0">
                <a:latin typeface="Times New Roman"/>
                <a:cs typeface="Times New Roman"/>
              </a:rPr>
              <a:t>(b= 0)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Alors</a:t>
            </a:r>
            <a:endParaRPr sz="1800">
              <a:latin typeface="Times New Roman"/>
              <a:cs typeface="Times New Roman"/>
            </a:endParaRPr>
          </a:p>
          <a:p>
            <a:pPr marL="925830" marR="2056764" indent="28575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ECRIRE (" division impossible ")  Sinon</a:t>
            </a:r>
            <a:endParaRPr sz="1800">
              <a:latin typeface="Times New Roman"/>
              <a:cs typeface="Times New Roman"/>
            </a:endParaRPr>
          </a:p>
          <a:p>
            <a:pPr marL="126873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ECRIRE ("la division </a:t>
            </a:r>
            <a:r>
              <a:rPr sz="1800" dirty="0">
                <a:latin typeface="Times New Roman"/>
                <a:cs typeface="Times New Roman"/>
              </a:rPr>
              <a:t>de </a:t>
            </a:r>
            <a:r>
              <a:rPr sz="1800" spc="-5" dirty="0">
                <a:latin typeface="Times New Roman"/>
                <a:cs typeface="Times New Roman"/>
              </a:rPr>
              <a:t>",a, "par ",b, "est égale",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a/b)</a:t>
            </a:r>
            <a:endParaRPr sz="1800">
              <a:latin typeface="Times New Roman"/>
              <a:cs typeface="Times New Roman"/>
            </a:endParaRPr>
          </a:p>
          <a:p>
            <a:pPr marL="92583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FinSi</a:t>
            </a:r>
            <a:endParaRPr sz="1800">
              <a:latin typeface="Times New Roman"/>
              <a:cs typeface="Times New Roman"/>
            </a:endParaRPr>
          </a:p>
          <a:p>
            <a:pPr marL="12700" marR="2279015" indent="45720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autre: ECRIRE((" Opération invalide ")  FinCas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FIN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8117" y="876537"/>
            <a:ext cx="9211310" cy="4777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68195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Outils de base </a:t>
            </a:r>
            <a:r>
              <a:rPr sz="3200" b="1" spc="-10" dirty="0">
                <a:solidFill>
                  <a:srgbClr val="0070C0"/>
                </a:solidFill>
                <a:latin typeface="Times New Roman"/>
                <a:cs typeface="Times New Roman"/>
              </a:rPr>
              <a:t>d’un </a:t>
            </a:r>
            <a:r>
              <a:rPr sz="3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algorithme</a:t>
            </a:r>
            <a:r>
              <a:rPr sz="3200" b="1" spc="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(Suite)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2350"/>
              </a:spcBef>
              <a:tabLst>
                <a:tab pos="721995" algn="l"/>
                <a:tab pos="2695575" algn="l"/>
                <a:tab pos="5006975" algn="l"/>
                <a:tab pos="5558155" algn="l"/>
                <a:tab pos="6967220" algn="l"/>
                <a:tab pos="8510905" algn="l"/>
                <a:tab pos="8903970" algn="l"/>
              </a:tabLst>
            </a:pPr>
            <a:r>
              <a:rPr sz="3200" spc="-5" dirty="0">
                <a:latin typeface="Times New Roman"/>
                <a:cs typeface="Times New Roman"/>
              </a:rPr>
              <a:t>Un	algo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ithme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-10" dirty="0">
                <a:latin typeface="Times New Roman"/>
                <a:cs typeface="Times New Roman"/>
              </a:rPr>
              <a:t>for</a:t>
            </a:r>
            <a:r>
              <a:rPr sz="3200" spc="-5" dirty="0">
                <a:latin typeface="Times New Roman"/>
                <a:cs typeface="Times New Roman"/>
              </a:rPr>
              <a:t>matique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s</a:t>
            </a:r>
            <a:r>
              <a:rPr sz="3200" spc="-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amène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tou</a:t>
            </a:r>
            <a:r>
              <a:rPr sz="3200" spc="-15" dirty="0">
                <a:latin typeface="Times New Roman"/>
                <a:cs typeface="Times New Roman"/>
              </a:rPr>
              <a:t>j</a:t>
            </a:r>
            <a:r>
              <a:rPr sz="3200" spc="-5" dirty="0">
                <a:latin typeface="Times New Roman"/>
                <a:cs typeface="Times New Roman"/>
              </a:rPr>
              <a:t>ou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à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la  combinaison de 4 briques de base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428750" indent="-502920">
              <a:lnSpc>
                <a:spcPct val="100000"/>
              </a:lnSpc>
              <a:spcBef>
                <a:spcPts val="2430"/>
              </a:spcBef>
              <a:buFont typeface="Wingdings"/>
              <a:buChar char=""/>
              <a:tabLst>
                <a:tab pos="1428750" algn="l"/>
                <a:tab pos="1429385" algn="l"/>
              </a:tabLst>
            </a:pPr>
            <a:r>
              <a:rPr sz="3200" spc="-10" dirty="0">
                <a:latin typeface="Times New Roman"/>
                <a:cs typeface="Times New Roman"/>
              </a:rPr>
              <a:t>Affectation </a:t>
            </a:r>
            <a:r>
              <a:rPr sz="3200" spc="-5" dirty="0">
                <a:latin typeface="Times New Roman"/>
                <a:cs typeface="Times New Roman"/>
              </a:rPr>
              <a:t>de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variables</a:t>
            </a:r>
            <a:endParaRPr sz="3200">
              <a:latin typeface="Times New Roman"/>
              <a:cs typeface="Times New Roman"/>
            </a:endParaRPr>
          </a:p>
          <a:p>
            <a:pPr marL="1451610" indent="-525780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1451610" algn="l"/>
                <a:tab pos="1452245" algn="l"/>
              </a:tabLst>
            </a:pPr>
            <a:r>
              <a:rPr sz="3200" spc="-5" dirty="0">
                <a:latin typeface="Times New Roman"/>
                <a:cs typeface="Times New Roman"/>
              </a:rPr>
              <a:t>Lecture /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écriture</a:t>
            </a:r>
            <a:endParaRPr sz="3200">
              <a:latin typeface="Times New Roman"/>
              <a:cs typeface="Times New Roman"/>
            </a:endParaRPr>
          </a:p>
          <a:p>
            <a:pPr marL="1451610" indent="-525780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1451610" algn="l"/>
                <a:tab pos="1452245" algn="l"/>
              </a:tabLst>
            </a:pPr>
            <a:r>
              <a:rPr sz="3200" spc="-5" dirty="0">
                <a:latin typeface="Times New Roman"/>
                <a:cs typeface="Times New Roman"/>
              </a:rPr>
              <a:t>Les tests</a:t>
            </a:r>
            <a:endParaRPr sz="3200">
              <a:latin typeface="Times New Roman"/>
              <a:cs typeface="Times New Roman"/>
            </a:endParaRPr>
          </a:p>
          <a:p>
            <a:pPr marL="1451610" indent="-525780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1451610" algn="l"/>
                <a:tab pos="1452245" algn="l"/>
              </a:tabLst>
            </a:pPr>
            <a:r>
              <a:rPr sz="3200" spc="-5" dirty="0">
                <a:solidFill>
                  <a:srgbClr val="C00000"/>
                </a:solidFill>
                <a:latin typeface="Times New Roman"/>
                <a:cs typeface="Times New Roman"/>
              </a:rPr>
              <a:t>Les boucles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Outils de</a:t>
            </a:r>
            <a:r>
              <a:rPr sz="2600" spc="-10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base</a:t>
            </a:r>
            <a:endParaRPr sz="26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20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9599" y="805097"/>
            <a:ext cx="60648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Les boucles: Instructions</a:t>
            </a:r>
            <a:r>
              <a:rPr dirty="0"/>
              <a:t> </a:t>
            </a:r>
            <a:r>
              <a:rPr spc="-5" dirty="0"/>
              <a:t>itératives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21</a:t>
            </a:fld>
            <a:endParaRPr spc="-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7859" y="1521001"/>
            <a:ext cx="1027239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0830" indent="-63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72440" algn="l"/>
                <a:tab pos="473075" algn="l"/>
              </a:tabLst>
            </a:pPr>
            <a:r>
              <a:rPr lang="fr-FR" sz="2800" spc="-5" dirty="0">
                <a:latin typeface="Times New Roman"/>
                <a:cs typeface="Times New Roman"/>
              </a:rPr>
              <a:t>  </a:t>
            </a:r>
            <a:r>
              <a:rPr sz="2800" spc="-5">
                <a:latin typeface="Times New Roman"/>
                <a:cs typeface="Times New Roman"/>
              </a:rPr>
              <a:t>Les </a:t>
            </a:r>
            <a:r>
              <a:rPr sz="2800" spc="-5" dirty="0">
                <a:latin typeface="Times New Roman"/>
                <a:cs typeface="Times New Roman"/>
              </a:rPr>
              <a:t>boucles servent </a:t>
            </a:r>
            <a:r>
              <a:rPr sz="2800" dirty="0">
                <a:latin typeface="Times New Roman"/>
                <a:cs typeface="Times New Roman"/>
              </a:rPr>
              <a:t>à </a:t>
            </a:r>
            <a:r>
              <a:rPr sz="2800" spc="-5" dirty="0">
                <a:latin typeface="Times New Roman"/>
                <a:cs typeface="Times New Roman"/>
              </a:rPr>
              <a:t>répéter l'exécution </a:t>
            </a:r>
            <a:r>
              <a:rPr sz="2800" dirty="0">
                <a:latin typeface="Times New Roman"/>
                <a:cs typeface="Times New Roman"/>
              </a:rPr>
              <a:t>d'un groupe </a:t>
            </a:r>
            <a:r>
              <a:rPr sz="2800" spc="-5" dirty="0">
                <a:latin typeface="Times New Roman"/>
                <a:cs typeface="Times New Roman"/>
              </a:rPr>
              <a:t>d'instructions  </a:t>
            </a:r>
            <a:r>
              <a:rPr sz="2800" dirty="0">
                <a:latin typeface="Times New Roman"/>
                <a:cs typeface="Times New Roman"/>
              </a:rPr>
              <a:t>un </a:t>
            </a:r>
            <a:r>
              <a:rPr sz="2800" spc="-5" dirty="0">
                <a:latin typeface="Times New Roman"/>
                <a:cs typeface="Times New Roman"/>
              </a:rPr>
              <a:t>certain </a:t>
            </a:r>
            <a:r>
              <a:rPr sz="2800" dirty="0">
                <a:latin typeface="Times New Roman"/>
                <a:cs typeface="Times New Roman"/>
              </a:rPr>
              <a:t>nombre de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fois.</a:t>
            </a:r>
            <a:endParaRPr sz="2800">
              <a:latin typeface="Times New Roman"/>
              <a:cs typeface="Times New Roman"/>
            </a:endParaRPr>
          </a:p>
          <a:p>
            <a:pPr marL="472440" indent="-46037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472440" algn="l"/>
                <a:tab pos="473075" algn="l"/>
              </a:tabLst>
            </a:pPr>
            <a:r>
              <a:rPr sz="2800" dirty="0">
                <a:latin typeface="Times New Roman"/>
                <a:cs typeface="Times New Roman"/>
              </a:rPr>
              <a:t>On </a:t>
            </a:r>
            <a:r>
              <a:rPr sz="2800" spc="-5" dirty="0">
                <a:latin typeface="Times New Roman"/>
                <a:cs typeface="Times New Roman"/>
              </a:rPr>
              <a:t>distingue </a:t>
            </a:r>
            <a:r>
              <a:rPr sz="2800" dirty="0">
                <a:latin typeface="Times New Roman"/>
                <a:cs typeface="Times New Roman"/>
              </a:rPr>
              <a:t>trois </a:t>
            </a:r>
            <a:r>
              <a:rPr sz="2800" spc="-5" dirty="0">
                <a:latin typeface="Times New Roman"/>
                <a:cs typeface="Times New Roman"/>
              </a:rPr>
              <a:t>sortes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boucles:</a:t>
            </a:r>
            <a:endParaRPr sz="2800">
              <a:latin typeface="Times New Roman"/>
              <a:cs typeface="Times New Roman"/>
            </a:endParaRPr>
          </a:p>
          <a:p>
            <a:pPr marL="983615" marR="5080" lvl="1" indent="-514350">
              <a:lnSpc>
                <a:spcPct val="100000"/>
              </a:lnSpc>
              <a:spcBef>
                <a:spcPts val="1200"/>
              </a:spcBef>
              <a:buFont typeface="Times New Roman"/>
              <a:buAutoNum type="arabicPeriod"/>
              <a:tabLst>
                <a:tab pos="1162050" algn="l"/>
                <a:tab pos="1162685" algn="l"/>
              </a:tabLst>
            </a:pPr>
            <a:r>
              <a:rPr sz="2800" b="1" spc="-10">
                <a:latin typeface="Times New Roman"/>
                <a:cs typeface="Times New Roman"/>
              </a:rPr>
              <a:t>Les </a:t>
            </a:r>
            <a:r>
              <a:rPr sz="2800" b="1" spc="-5" dirty="0">
                <a:latin typeface="Times New Roman"/>
                <a:cs typeface="Times New Roman"/>
              </a:rPr>
              <a:t>boucles </a:t>
            </a:r>
            <a:r>
              <a:rPr sz="2800" b="1" dirty="0">
                <a:solidFill>
                  <a:srgbClr val="0000CC"/>
                </a:solidFill>
                <a:latin typeface="Times New Roman"/>
                <a:cs typeface="Times New Roman"/>
              </a:rPr>
              <a:t>tant que </a:t>
            </a:r>
            <a:r>
              <a:rPr sz="2800" dirty="0">
                <a:latin typeface="Times New Roman"/>
                <a:cs typeface="Times New Roman"/>
              </a:rPr>
              <a:t>: </a:t>
            </a:r>
            <a:r>
              <a:rPr sz="2800" spc="-5" dirty="0">
                <a:latin typeface="Times New Roman"/>
                <a:cs typeface="Times New Roman"/>
              </a:rPr>
              <a:t>on </a:t>
            </a:r>
            <a:r>
              <a:rPr sz="2800" dirty="0">
                <a:latin typeface="Times New Roman"/>
                <a:cs typeface="Times New Roman"/>
              </a:rPr>
              <a:t>y </a:t>
            </a:r>
            <a:r>
              <a:rPr sz="2800" spc="-5" dirty="0">
                <a:latin typeface="Times New Roman"/>
                <a:cs typeface="Times New Roman"/>
              </a:rPr>
              <a:t>répète des instructions tant qu'une  certaine condition est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réalisée.</a:t>
            </a:r>
            <a:endParaRPr sz="2800">
              <a:latin typeface="Times New Roman"/>
              <a:cs typeface="Times New Roman"/>
            </a:endParaRPr>
          </a:p>
          <a:p>
            <a:pPr marL="983615" marR="6350" lvl="1" indent="-514350">
              <a:lnSpc>
                <a:spcPct val="100000"/>
              </a:lnSpc>
              <a:buFont typeface="Times New Roman"/>
              <a:buAutoNum type="arabicPeriod"/>
              <a:tabLst>
                <a:tab pos="1161415" algn="l"/>
                <a:tab pos="1162050" algn="l"/>
                <a:tab pos="1845945" algn="l"/>
                <a:tab pos="3123565" algn="l"/>
                <a:tab pos="5864225" algn="l"/>
                <a:tab pos="6115685" algn="l"/>
                <a:tab pos="6624320" algn="l"/>
                <a:tab pos="6954520" algn="l"/>
                <a:tab pos="7974330" algn="l"/>
                <a:tab pos="8599805" algn="l"/>
              </a:tabLst>
            </a:pPr>
            <a:r>
              <a:rPr sz="2800" b="1" spc="-10">
                <a:latin typeface="Times New Roman"/>
                <a:cs typeface="Times New Roman"/>
              </a:rPr>
              <a:t>Le</a:t>
            </a:r>
            <a:r>
              <a:rPr sz="2800" b="1">
                <a:latin typeface="Times New Roman"/>
                <a:cs typeface="Times New Roman"/>
              </a:rPr>
              <a:t>s</a:t>
            </a:r>
            <a:r>
              <a:rPr sz="2800" b="1" dirty="0">
                <a:latin typeface="Times New Roman"/>
                <a:cs typeface="Times New Roman"/>
              </a:rPr>
              <a:t>	bou</a:t>
            </a:r>
            <a:r>
              <a:rPr sz="2800" b="1" spc="-10" dirty="0">
                <a:latin typeface="Times New Roman"/>
                <a:cs typeface="Times New Roman"/>
              </a:rPr>
              <a:t>c</a:t>
            </a:r>
            <a:r>
              <a:rPr sz="2800" b="1" dirty="0">
                <a:latin typeface="Times New Roman"/>
                <a:cs typeface="Times New Roman"/>
              </a:rPr>
              <a:t>l</a:t>
            </a:r>
            <a:r>
              <a:rPr sz="2800" b="1" spc="-10" dirty="0">
                <a:latin typeface="Times New Roman"/>
                <a:cs typeface="Times New Roman"/>
              </a:rPr>
              <a:t>e</a:t>
            </a:r>
            <a:r>
              <a:rPr sz="2800" b="1" dirty="0">
                <a:latin typeface="Times New Roman"/>
                <a:cs typeface="Times New Roman"/>
              </a:rPr>
              <a:t>s	</a:t>
            </a:r>
            <a:r>
              <a:rPr sz="28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rép</a:t>
            </a:r>
            <a:r>
              <a:rPr sz="280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é</a:t>
            </a:r>
            <a:r>
              <a:rPr sz="2800" b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28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er</a:t>
            </a:r>
            <a:r>
              <a:rPr sz="2800" b="1" dirty="0">
                <a:solidFill>
                  <a:srgbClr val="0000CC"/>
                </a:solidFill>
                <a:latin typeface="Times New Roman"/>
                <a:cs typeface="Times New Roman"/>
              </a:rPr>
              <a:t>…jusqu</a:t>
            </a:r>
            <a:r>
              <a:rPr sz="280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'</a:t>
            </a:r>
            <a:r>
              <a:rPr sz="2800" b="1" dirty="0">
                <a:solidFill>
                  <a:srgbClr val="0000CC"/>
                </a:solidFill>
                <a:latin typeface="Times New Roman"/>
                <a:cs typeface="Times New Roman"/>
              </a:rPr>
              <a:t>à	</a:t>
            </a:r>
            <a:r>
              <a:rPr sz="2800" dirty="0">
                <a:latin typeface="Times New Roman"/>
                <a:cs typeface="Times New Roman"/>
              </a:rPr>
              <a:t>:	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n	y	r</a:t>
            </a:r>
            <a:r>
              <a:rPr sz="2800" spc="-5" dirty="0">
                <a:latin typeface="Times New Roman"/>
                <a:cs typeface="Times New Roman"/>
              </a:rPr>
              <a:t>ép</a:t>
            </a:r>
            <a:r>
              <a:rPr sz="2800" spc="-10" dirty="0">
                <a:latin typeface="Times New Roman"/>
                <a:cs typeface="Times New Roman"/>
              </a:rPr>
              <a:t>èt</a:t>
            </a:r>
            <a:r>
              <a:rPr sz="2800" dirty="0">
                <a:latin typeface="Times New Roman"/>
                <a:cs typeface="Times New Roman"/>
              </a:rPr>
              <a:t>e	</a:t>
            </a: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s	</a:t>
            </a:r>
            <a:r>
              <a:rPr sz="2800" spc="-10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tr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spc="-10" dirty="0">
                <a:latin typeface="Times New Roman"/>
                <a:cs typeface="Times New Roman"/>
              </a:rPr>
              <a:t>cti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s  jusqu'à </a:t>
            </a:r>
            <a:r>
              <a:rPr sz="2800" spc="-5" dirty="0">
                <a:latin typeface="Times New Roman"/>
                <a:cs typeface="Times New Roman"/>
              </a:rPr>
              <a:t>ce </a:t>
            </a:r>
            <a:r>
              <a:rPr sz="2800" dirty="0">
                <a:latin typeface="Times New Roman"/>
                <a:cs typeface="Times New Roman"/>
              </a:rPr>
              <a:t>qu'une </a:t>
            </a:r>
            <a:r>
              <a:rPr sz="2800" spc="-5" dirty="0">
                <a:latin typeface="Times New Roman"/>
                <a:cs typeface="Times New Roman"/>
              </a:rPr>
              <a:t>certaine condition </a:t>
            </a:r>
            <a:r>
              <a:rPr sz="2800" dirty="0">
                <a:latin typeface="Times New Roman"/>
                <a:cs typeface="Times New Roman"/>
              </a:rPr>
              <a:t>soit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réalisée.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4347" y="4812637"/>
            <a:ext cx="2933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3.</a:t>
            </a:r>
            <a:endParaRPr sz="2800" b="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21510" y="4812637"/>
            <a:ext cx="91211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2955" algn="l"/>
                <a:tab pos="2146935" algn="l"/>
                <a:tab pos="3117215" algn="l"/>
                <a:tab pos="3711575" algn="l"/>
                <a:tab pos="4600575" algn="l"/>
                <a:tab pos="6179820" algn="l"/>
                <a:tab pos="6517640" algn="l"/>
                <a:tab pos="7112000" algn="l"/>
                <a:tab pos="7528559" algn="l"/>
                <a:tab pos="8634095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Le</a:t>
            </a:r>
            <a:r>
              <a:rPr sz="2800" b="1" dirty="0">
                <a:latin typeface="Times New Roman"/>
                <a:cs typeface="Times New Roman"/>
              </a:rPr>
              <a:t>s	b</a:t>
            </a:r>
            <a:r>
              <a:rPr sz="2800" b="1" spc="-5" dirty="0">
                <a:latin typeface="Times New Roman"/>
                <a:cs typeface="Times New Roman"/>
              </a:rPr>
              <a:t>o</a:t>
            </a:r>
            <a:r>
              <a:rPr sz="2800" b="1" dirty="0">
                <a:latin typeface="Times New Roman"/>
                <a:cs typeface="Times New Roman"/>
              </a:rPr>
              <a:t>u</a:t>
            </a:r>
            <a:r>
              <a:rPr sz="2800" b="1" spc="-5" dirty="0">
                <a:latin typeface="Times New Roman"/>
                <a:cs typeface="Times New Roman"/>
              </a:rPr>
              <a:t>c</a:t>
            </a:r>
            <a:r>
              <a:rPr sz="2800" b="1" spc="-10" dirty="0">
                <a:latin typeface="Times New Roman"/>
                <a:cs typeface="Times New Roman"/>
              </a:rPr>
              <a:t>le</a:t>
            </a:r>
            <a:r>
              <a:rPr sz="2800" b="1" dirty="0">
                <a:latin typeface="Times New Roman"/>
                <a:cs typeface="Times New Roman"/>
              </a:rPr>
              <a:t>s	</a:t>
            </a:r>
            <a:r>
              <a:rPr sz="2800" b="1" dirty="0">
                <a:solidFill>
                  <a:srgbClr val="0000CC"/>
                </a:solidFill>
                <a:latin typeface="Times New Roman"/>
                <a:cs typeface="Times New Roman"/>
              </a:rPr>
              <a:t>p</a:t>
            </a:r>
            <a:r>
              <a:rPr sz="28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o</a:t>
            </a:r>
            <a:r>
              <a:rPr sz="2800" b="1" dirty="0">
                <a:solidFill>
                  <a:srgbClr val="0000CC"/>
                </a:solidFill>
                <a:latin typeface="Times New Roman"/>
                <a:cs typeface="Times New Roman"/>
              </a:rPr>
              <a:t>ur	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u	</a:t>
            </a:r>
            <a:r>
              <a:rPr sz="2800" spc="-5" dirty="0">
                <a:latin typeface="Times New Roman"/>
                <a:cs typeface="Times New Roman"/>
              </a:rPr>
              <a:t>ave</a:t>
            </a:r>
            <a:r>
              <a:rPr sz="2800" dirty="0">
                <a:latin typeface="Times New Roman"/>
                <a:cs typeface="Times New Roman"/>
              </a:rPr>
              <a:t>c	</a:t>
            </a:r>
            <a:r>
              <a:rPr sz="2800" spc="-10" dirty="0">
                <a:latin typeface="Times New Roman"/>
                <a:cs typeface="Times New Roman"/>
              </a:rPr>
              <a:t>c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1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spc="-1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ur	:	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n	y	r</a:t>
            </a:r>
            <a:r>
              <a:rPr sz="2800" spc="-5" dirty="0">
                <a:latin typeface="Times New Roman"/>
                <a:cs typeface="Times New Roman"/>
              </a:rPr>
              <a:t>ép</a:t>
            </a:r>
            <a:r>
              <a:rPr sz="2800" spc="-10" dirty="0">
                <a:latin typeface="Times New Roman"/>
                <a:cs typeface="Times New Roman"/>
              </a:rPr>
              <a:t>èt</a:t>
            </a:r>
            <a:r>
              <a:rPr sz="2800" dirty="0">
                <a:latin typeface="Times New Roman"/>
                <a:cs typeface="Times New Roman"/>
              </a:rPr>
              <a:t>e	</a:t>
            </a:r>
            <a:r>
              <a:rPr sz="2800" spc="-5" dirty="0">
                <a:latin typeface="Times New Roman"/>
                <a:cs typeface="Times New Roman"/>
              </a:rPr>
              <a:t>des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18556" y="5239306"/>
            <a:ext cx="929894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054860" algn="l"/>
                <a:tab pos="2774950" algn="l"/>
                <a:tab pos="4105910" algn="l"/>
                <a:tab pos="5556885" algn="l"/>
                <a:tab pos="6297295" algn="l"/>
                <a:tab pos="8023225" algn="l"/>
              </a:tabLst>
            </a:pP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ns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u</a:t>
            </a:r>
            <a:r>
              <a:rPr sz="2800" spc="-10" dirty="0">
                <a:latin typeface="Times New Roman"/>
                <a:cs typeface="Times New Roman"/>
              </a:rPr>
              <a:t>cti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ns	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n	f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nt	</a:t>
            </a:r>
            <a:r>
              <a:rPr sz="2800" spc="-5" dirty="0">
                <a:latin typeface="Times New Roman"/>
                <a:cs typeface="Times New Roman"/>
              </a:rPr>
              <a:t>évo</a:t>
            </a:r>
            <a:r>
              <a:rPr sz="2800" spc="-10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u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r	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n	</a:t>
            </a:r>
            <a:r>
              <a:rPr sz="2800" spc="-10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omp</a:t>
            </a:r>
            <a:r>
              <a:rPr sz="2800" spc="-10" dirty="0">
                <a:latin typeface="Times New Roman"/>
                <a:cs typeface="Times New Roman"/>
              </a:rPr>
              <a:t>te</a:t>
            </a:r>
            <a:r>
              <a:rPr sz="2800" dirty="0">
                <a:latin typeface="Times New Roman"/>
                <a:cs typeface="Times New Roman"/>
              </a:rPr>
              <a:t>ur	(v</a:t>
            </a:r>
            <a:r>
              <a:rPr sz="2800" spc="-5" dirty="0">
                <a:latin typeface="Times New Roman"/>
                <a:cs typeface="Times New Roman"/>
              </a:rPr>
              <a:t>ar</a:t>
            </a:r>
            <a:r>
              <a:rPr sz="2800" spc="-1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ab</a:t>
            </a:r>
            <a:r>
              <a:rPr sz="2800" spc="-10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e  </a:t>
            </a:r>
            <a:r>
              <a:rPr sz="2800" spc="-5" dirty="0">
                <a:latin typeface="Times New Roman"/>
                <a:cs typeface="Times New Roman"/>
              </a:rPr>
              <a:t>particulière) entre </a:t>
            </a:r>
            <a:r>
              <a:rPr sz="2800" dirty="0">
                <a:latin typeface="Times New Roman"/>
                <a:cs typeface="Times New Roman"/>
              </a:rPr>
              <a:t>une </a:t>
            </a:r>
            <a:r>
              <a:rPr sz="2800" spc="-5" dirty="0">
                <a:latin typeface="Times New Roman"/>
                <a:cs typeface="Times New Roman"/>
              </a:rPr>
              <a:t>valeur initiale et </a:t>
            </a:r>
            <a:r>
              <a:rPr sz="2800" dirty="0">
                <a:latin typeface="Times New Roman"/>
                <a:cs typeface="Times New Roman"/>
              </a:rPr>
              <a:t>une </a:t>
            </a:r>
            <a:r>
              <a:rPr sz="2800" spc="-5" dirty="0">
                <a:latin typeface="Times New Roman"/>
                <a:cs typeface="Times New Roman"/>
              </a:rPr>
              <a:t>valeur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finale.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6630" y="805097"/>
            <a:ext cx="39649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La boucle « </a:t>
            </a:r>
            <a:r>
              <a:rPr spc="-80" dirty="0"/>
              <a:t>Tant </a:t>
            </a:r>
            <a:r>
              <a:rPr spc="-5" dirty="0"/>
              <a:t>que</a:t>
            </a:r>
            <a:r>
              <a:rPr spc="-25" dirty="0"/>
              <a:t> </a:t>
            </a:r>
            <a:r>
              <a:rPr spc="-5" dirty="0"/>
              <a:t>»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22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7502" y="3164076"/>
            <a:ext cx="10552347" cy="23211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100"/>
              </a:spcBef>
              <a:spcAft>
                <a:spcPts val="600"/>
              </a:spcAft>
              <a:buFont typeface="Wingdings"/>
              <a:buChar char=""/>
              <a:tabLst>
                <a:tab pos="473075" algn="l"/>
                <a:tab pos="473709" algn="l"/>
              </a:tabLst>
            </a:pPr>
            <a:r>
              <a:rPr sz="2800" spc="-5" dirty="0">
                <a:latin typeface="Times New Roman"/>
                <a:cs typeface="Times New Roman"/>
              </a:rPr>
              <a:t>La condition est évaluée avant chaque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itération.</a:t>
            </a:r>
            <a:endParaRPr sz="2800" dirty="0">
              <a:latin typeface="Times New Roman"/>
              <a:cs typeface="Times New Roman"/>
            </a:endParaRPr>
          </a:p>
          <a:p>
            <a:pPr marL="13335" marR="5080" indent="-1270">
              <a:lnSpc>
                <a:spcPct val="100000"/>
              </a:lnSpc>
              <a:spcAft>
                <a:spcPts val="600"/>
              </a:spcAft>
              <a:buFont typeface="Wingdings"/>
              <a:buChar char=""/>
              <a:tabLst>
                <a:tab pos="384810" algn="l"/>
              </a:tabLst>
            </a:pPr>
            <a:r>
              <a:rPr lang="fr-FR" sz="280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Si la </a:t>
            </a:r>
            <a:r>
              <a:rPr sz="2800" spc="-5" dirty="0">
                <a:latin typeface="Times New Roman"/>
                <a:cs typeface="Times New Roman"/>
              </a:rPr>
              <a:t>condition est vraie, on exécute </a:t>
            </a:r>
            <a:r>
              <a:rPr sz="2800" spc="-10" dirty="0">
                <a:latin typeface="Times New Roman"/>
                <a:cs typeface="Times New Roman"/>
              </a:rPr>
              <a:t>les </a:t>
            </a:r>
            <a:r>
              <a:rPr sz="2800" spc="-5" dirty="0">
                <a:latin typeface="Times New Roman"/>
                <a:cs typeface="Times New Roman"/>
              </a:rPr>
              <a:t>instructions, puis,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spc="-5" dirty="0" err="1">
                <a:latin typeface="Times New Roman"/>
                <a:cs typeface="Times New Roman"/>
              </a:rPr>
              <a:t>retourne</a:t>
            </a:r>
            <a:r>
              <a:rPr sz="2800" spc="-5" dirty="0">
                <a:latin typeface="Times New Roman"/>
                <a:cs typeface="Times New Roman"/>
              </a:rPr>
              <a:t>  tester </a:t>
            </a:r>
            <a:r>
              <a:rPr sz="2800" dirty="0">
                <a:latin typeface="Times New Roman"/>
                <a:cs typeface="Times New Roman"/>
              </a:rPr>
              <a:t>la </a:t>
            </a:r>
            <a:r>
              <a:rPr sz="2800" spc="-5" dirty="0">
                <a:latin typeface="Times New Roman"/>
                <a:cs typeface="Times New Roman"/>
              </a:rPr>
              <a:t>condition. </a:t>
            </a:r>
            <a:r>
              <a:rPr sz="2800" dirty="0">
                <a:latin typeface="Times New Roman"/>
                <a:cs typeface="Times New Roman"/>
              </a:rPr>
              <a:t>Si </a:t>
            </a:r>
            <a:r>
              <a:rPr sz="2800" spc="-5" dirty="0">
                <a:latin typeface="Times New Roman"/>
                <a:cs typeface="Times New Roman"/>
              </a:rPr>
              <a:t>elle est encore vraie, </a:t>
            </a:r>
            <a:r>
              <a:rPr sz="2800" dirty="0">
                <a:latin typeface="Times New Roman"/>
                <a:cs typeface="Times New Roman"/>
              </a:rPr>
              <a:t>on </a:t>
            </a:r>
            <a:r>
              <a:rPr sz="2800" spc="-5" dirty="0">
                <a:latin typeface="Times New Roman"/>
                <a:cs typeface="Times New Roman"/>
              </a:rPr>
              <a:t>répète l'exécution,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…</a:t>
            </a:r>
          </a:p>
          <a:p>
            <a:pPr marL="13335" marR="5715">
              <a:lnSpc>
                <a:spcPct val="100000"/>
              </a:lnSpc>
              <a:spcAft>
                <a:spcPts val="600"/>
              </a:spcAft>
              <a:buFont typeface="Wingdings"/>
              <a:buChar char=""/>
              <a:tabLst>
                <a:tab pos="386080" algn="l"/>
                <a:tab pos="889635" algn="l"/>
                <a:tab pos="1353185" algn="l"/>
                <a:tab pos="2901315" algn="l"/>
                <a:tab pos="3503295" algn="l"/>
                <a:tab pos="4686935" algn="l"/>
                <a:tab pos="5249545" algn="l"/>
                <a:tab pos="5990590" algn="l"/>
                <a:tab pos="6532880" algn="l"/>
                <a:tab pos="6996430" algn="l"/>
                <a:tab pos="8150225" algn="l"/>
                <a:tab pos="8612505" algn="l"/>
                <a:tab pos="9175750" algn="l"/>
              </a:tabLst>
            </a:pPr>
            <a:r>
              <a:rPr lang="fr-FR" sz="280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Si	</a:t>
            </a:r>
            <a:r>
              <a:rPr sz="2800" spc="-10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a	</a:t>
            </a:r>
            <a:r>
              <a:rPr sz="2800" spc="-10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800" spc="-10" dirty="0">
                <a:latin typeface="Times New Roman"/>
                <a:cs typeface="Times New Roman"/>
              </a:rPr>
              <a:t>iti</a:t>
            </a:r>
            <a:r>
              <a:rPr sz="2800" dirty="0">
                <a:latin typeface="Times New Roman"/>
                <a:cs typeface="Times New Roman"/>
              </a:rPr>
              <a:t>on	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t	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u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spc="-1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,	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n	so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t	de	</a:t>
            </a:r>
            <a:r>
              <a:rPr sz="2800" spc="-10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a	</a:t>
            </a:r>
            <a:r>
              <a:rPr sz="2800" spc="-5" dirty="0">
                <a:latin typeface="Times New Roman"/>
                <a:cs typeface="Times New Roman"/>
              </a:rPr>
              <a:t>bo</a:t>
            </a:r>
            <a:r>
              <a:rPr sz="2800" dirty="0">
                <a:latin typeface="Times New Roman"/>
                <a:cs typeface="Times New Roman"/>
              </a:rPr>
              <a:t>u</a:t>
            </a:r>
            <a:r>
              <a:rPr sz="2800" spc="-10" dirty="0">
                <a:latin typeface="Times New Roman"/>
                <a:cs typeface="Times New Roman"/>
              </a:rPr>
              <a:t>cl</a:t>
            </a:r>
            <a:r>
              <a:rPr sz="2800" dirty="0">
                <a:latin typeface="Times New Roman"/>
                <a:cs typeface="Times New Roman"/>
              </a:rPr>
              <a:t>e	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t	on	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x</a:t>
            </a:r>
            <a:r>
              <a:rPr sz="2800" spc="-10" dirty="0">
                <a:latin typeface="Times New Roman"/>
                <a:cs typeface="Times New Roman"/>
              </a:rPr>
              <a:t>éc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spc="-10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e  </a:t>
            </a:r>
            <a:r>
              <a:rPr sz="2800" spc="-5" dirty="0">
                <a:latin typeface="Times New Roman"/>
                <a:cs typeface="Times New Roman"/>
              </a:rPr>
              <a:t>l'instruction </a:t>
            </a:r>
            <a:r>
              <a:rPr sz="2800" dirty="0">
                <a:latin typeface="Times New Roman"/>
                <a:cs typeface="Times New Roman"/>
              </a:rPr>
              <a:t>qui </a:t>
            </a:r>
            <a:r>
              <a:rPr sz="2800" spc="-5" dirty="0">
                <a:latin typeface="Times New Roman"/>
                <a:cs typeface="Times New Roman"/>
              </a:rPr>
              <a:t>est après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0" dirty="0" err="1">
                <a:latin typeface="Times New Roman"/>
                <a:cs typeface="Times New Roman"/>
              </a:rPr>
              <a:t>FinTantQue</a:t>
            </a:r>
            <a:r>
              <a:rPr lang="fr-FR" sz="2800" spc="-20" dirty="0">
                <a:latin typeface="Times New Roman"/>
                <a:cs typeface="Times New Roman"/>
              </a:rPr>
              <a:t>.</a:t>
            </a:r>
            <a:endParaRPr sz="2800" spc="-20" dirty="0" err="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5808" y="1357299"/>
            <a:ext cx="5963285" cy="173926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70180" rIns="0" bIns="0" rtlCol="0">
            <a:spAutoFit/>
          </a:bodyPr>
          <a:lstStyle/>
          <a:p>
            <a:pPr marR="1064260" algn="ctr">
              <a:lnSpc>
                <a:spcPct val="100000"/>
              </a:lnSpc>
              <a:spcBef>
                <a:spcPts val="1340"/>
              </a:spcBef>
            </a:pPr>
            <a:r>
              <a:rPr sz="2800" b="1" spc="-40" dirty="0">
                <a:latin typeface="Times New Roman"/>
                <a:cs typeface="Times New Roman"/>
              </a:rPr>
              <a:t>TantQue </a:t>
            </a:r>
            <a:r>
              <a:rPr sz="2800" spc="-5" dirty="0">
                <a:latin typeface="Times New Roman"/>
                <a:cs typeface="Times New Roman"/>
              </a:rPr>
              <a:t>(condition)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faire</a:t>
            </a:r>
            <a:endParaRPr sz="2800">
              <a:latin typeface="Times New Roman"/>
              <a:cs typeface="Times New Roman"/>
            </a:endParaRPr>
          </a:p>
          <a:p>
            <a:pPr marL="606425" algn="ctr">
              <a:lnSpc>
                <a:spcPct val="100000"/>
              </a:lnSpc>
              <a:spcBef>
                <a:spcPts val="605"/>
              </a:spcBef>
            </a:pPr>
            <a:r>
              <a:rPr sz="2800" spc="-5" dirty="0">
                <a:latin typeface="Times New Roman"/>
                <a:cs typeface="Times New Roman"/>
              </a:rPr>
              <a:t>instructions </a:t>
            </a:r>
            <a:r>
              <a:rPr sz="2800" dirty="0">
                <a:latin typeface="Times New Roman"/>
                <a:cs typeface="Times New Roman"/>
              </a:rPr>
              <a:t>(corps de la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boucle)</a:t>
            </a:r>
            <a:endParaRPr sz="2800">
              <a:latin typeface="Times New Roman"/>
              <a:cs typeface="Times New Roman"/>
            </a:endParaRPr>
          </a:p>
          <a:p>
            <a:pPr marR="3011170" algn="ctr">
              <a:lnSpc>
                <a:spcPct val="100000"/>
              </a:lnSpc>
            </a:pPr>
            <a:r>
              <a:rPr sz="2800" b="1" spc="-30" dirty="0">
                <a:latin typeface="Times New Roman"/>
                <a:cs typeface="Times New Roman"/>
              </a:rPr>
              <a:t>FinTantQue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6630" y="805097"/>
            <a:ext cx="39649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La boucle « </a:t>
            </a:r>
            <a:r>
              <a:rPr spc="-80" dirty="0"/>
              <a:t>Tant </a:t>
            </a:r>
            <a:r>
              <a:rPr spc="-5" dirty="0"/>
              <a:t>que</a:t>
            </a:r>
            <a:r>
              <a:rPr spc="-25" dirty="0"/>
              <a:t> </a:t>
            </a:r>
            <a:r>
              <a:rPr spc="-5" dirty="0"/>
              <a:t>»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23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19298" y="1340524"/>
            <a:ext cx="9987280" cy="4322445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435"/>
              </a:spcBef>
            </a:pPr>
            <a:r>
              <a:rPr sz="32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Remarque:</a:t>
            </a:r>
            <a:endParaRPr sz="3200" dirty="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ct val="100000"/>
              </a:lnSpc>
              <a:spcBef>
                <a:spcPts val="1295"/>
              </a:spcBef>
              <a:buFont typeface="Wingdings"/>
              <a:buChar char=""/>
              <a:tabLst>
                <a:tab pos="521970" algn="l"/>
              </a:tabLst>
            </a:pPr>
            <a:r>
              <a:rPr lang="fr-FR" sz="310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Le </a:t>
            </a:r>
            <a:r>
              <a:rPr sz="3100" spc="-5" dirty="0">
                <a:latin typeface="Times New Roman"/>
                <a:cs typeface="Times New Roman"/>
              </a:rPr>
              <a:t>nombre d'itérations dans </a:t>
            </a:r>
            <a:r>
              <a:rPr sz="3100" dirty="0">
                <a:latin typeface="Times New Roman"/>
                <a:cs typeface="Times New Roman"/>
              </a:rPr>
              <a:t>une </a:t>
            </a:r>
            <a:r>
              <a:rPr sz="3100" spc="-5" dirty="0">
                <a:latin typeface="Times New Roman"/>
                <a:cs typeface="Times New Roman"/>
              </a:rPr>
              <a:t>boucle </a:t>
            </a:r>
            <a:r>
              <a:rPr sz="3100" spc="-35" dirty="0">
                <a:latin typeface="Times New Roman"/>
                <a:cs typeface="Times New Roman"/>
              </a:rPr>
              <a:t>TantQue </a:t>
            </a:r>
            <a:r>
              <a:rPr sz="3100" spc="-5" dirty="0">
                <a:solidFill>
                  <a:srgbClr val="FF0000"/>
                </a:solidFill>
                <a:latin typeface="Times New Roman"/>
                <a:cs typeface="Times New Roman"/>
              </a:rPr>
              <a:t>n'est pas  connu au </a:t>
            </a:r>
            <a:r>
              <a:rPr sz="3100" dirty="0">
                <a:solidFill>
                  <a:srgbClr val="FF0000"/>
                </a:solidFill>
                <a:latin typeface="Times New Roman"/>
                <a:cs typeface="Times New Roman"/>
              </a:rPr>
              <a:t>moment </a:t>
            </a:r>
            <a:r>
              <a:rPr sz="3100" spc="-5" dirty="0">
                <a:solidFill>
                  <a:srgbClr val="FF0000"/>
                </a:solidFill>
                <a:latin typeface="Times New Roman"/>
                <a:cs typeface="Times New Roman"/>
              </a:rPr>
              <a:t>d'entrée dans </a:t>
            </a:r>
            <a:r>
              <a:rPr sz="3100" dirty="0">
                <a:solidFill>
                  <a:srgbClr val="FF0000"/>
                </a:solidFill>
                <a:latin typeface="Times New Roman"/>
                <a:cs typeface="Times New Roman"/>
              </a:rPr>
              <a:t>la </a:t>
            </a:r>
            <a:r>
              <a:rPr sz="3100" spc="-5" dirty="0">
                <a:solidFill>
                  <a:srgbClr val="FF0000"/>
                </a:solidFill>
                <a:latin typeface="Times New Roman"/>
                <a:cs typeface="Times New Roman"/>
              </a:rPr>
              <a:t>boucle</a:t>
            </a:r>
            <a:r>
              <a:rPr sz="3100" spc="-5" dirty="0">
                <a:latin typeface="Times New Roman"/>
                <a:cs typeface="Times New Roman"/>
              </a:rPr>
              <a:t>. </a:t>
            </a:r>
            <a:r>
              <a:rPr sz="3100" dirty="0">
                <a:latin typeface="Times New Roman"/>
                <a:cs typeface="Times New Roman"/>
              </a:rPr>
              <a:t>Il </a:t>
            </a:r>
            <a:r>
              <a:rPr sz="3100" spc="-5" dirty="0">
                <a:latin typeface="Times New Roman"/>
                <a:cs typeface="Times New Roman"/>
              </a:rPr>
              <a:t>dépend </a:t>
            </a:r>
            <a:r>
              <a:rPr sz="3100" dirty="0">
                <a:latin typeface="Times New Roman"/>
                <a:cs typeface="Times New Roman"/>
              </a:rPr>
              <a:t>de  l'évolution de la </a:t>
            </a:r>
            <a:r>
              <a:rPr sz="3100" spc="-5" dirty="0">
                <a:latin typeface="Times New Roman"/>
                <a:cs typeface="Times New Roman"/>
              </a:rPr>
              <a:t>valeur </a:t>
            </a:r>
            <a:r>
              <a:rPr sz="3100" dirty="0">
                <a:latin typeface="Times New Roman"/>
                <a:cs typeface="Times New Roman"/>
              </a:rPr>
              <a:t>de la</a:t>
            </a:r>
            <a:r>
              <a:rPr sz="3100" spc="-6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condition.</a:t>
            </a:r>
          </a:p>
          <a:p>
            <a:pPr marL="12700" marR="5080" indent="-635" algn="just">
              <a:lnSpc>
                <a:spcPct val="100200"/>
              </a:lnSpc>
              <a:spcBef>
                <a:spcPts val="1290"/>
              </a:spcBef>
              <a:buSzPct val="103225"/>
              <a:buFont typeface="Wingdings"/>
              <a:buChar char=""/>
              <a:tabLst>
                <a:tab pos="537845" algn="l"/>
              </a:tabLst>
            </a:pPr>
            <a:r>
              <a:rPr lang="fr-FR" sz="3100" spc="-5" dirty="0">
                <a:latin typeface="Times New Roman"/>
                <a:cs typeface="Times New Roman"/>
              </a:rPr>
              <a:t> </a:t>
            </a:r>
            <a:r>
              <a:rPr sz="3100" spc="-5" dirty="0" err="1">
                <a:latin typeface="Times New Roman"/>
                <a:cs typeface="Times New Roman"/>
              </a:rPr>
              <a:t>Une</a:t>
            </a:r>
            <a:r>
              <a:rPr sz="3100" spc="-5" dirty="0">
                <a:latin typeface="Times New Roman"/>
                <a:cs typeface="Times New Roman"/>
              </a:rPr>
              <a:t> des </a:t>
            </a:r>
            <a:r>
              <a:rPr sz="3100" dirty="0">
                <a:latin typeface="Times New Roman"/>
                <a:cs typeface="Times New Roman"/>
              </a:rPr>
              <a:t>instructions du </a:t>
            </a:r>
            <a:r>
              <a:rPr sz="3100" spc="-5" dirty="0">
                <a:latin typeface="Times New Roman"/>
                <a:cs typeface="Times New Roman"/>
              </a:rPr>
              <a:t>corps </a:t>
            </a:r>
            <a:r>
              <a:rPr sz="3100" dirty="0">
                <a:latin typeface="Times New Roman"/>
                <a:cs typeface="Times New Roman"/>
              </a:rPr>
              <a:t>de la </a:t>
            </a:r>
            <a:r>
              <a:rPr sz="3100" spc="-5" dirty="0">
                <a:latin typeface="Times New Roman"/>
                <a:cs typeface="Times New Roman"/>
              </a:rPr>
              <a:t>boucle doit absolument  changer </a:t>
            </a:r>
            <a:r>
              <a:rPr sz="3100" dirty="0">
                <a:latin typeface="Times New Roman"/>
                <a:cs typeface="Times New Roman"/>
              </a:rPr>
              <a:t>la </a:t>
            </a:r>
            <a:r>
              <a:rPr sz="3100" spc="-5" dirty="0">
                <a:latin typeface="Times New Roman"/>
                <a:cs typeface="Times New Roman"/>
              </a:rPr>
              <a:t>valeur </a:t>
            </a:r>
            <a:r>
              <a:rPr sz="3100" dirty="0">
                <a:latin typeface="Times New Roman"/>
                <a:cs typeface="Times New Roman"/>
              </a:rPr>
              <a:t>de la </a:t>
            </a:r>
            <a:r>
              <a:rPr sz="3100" spc="-5" dirty="0">
                <a:latin typeface="Times New Roman"/>
                <a:cs typeface="Times New Roman"/>
              </a:rPr>
              <a:t>condition </a:t>
            </a:r>
            <a:r>
              <a:rPr sz="3100" dirty="0">
                <a:latin typeface="Times New Roman"/>
                <a:cs typeface="Times New Roman"/>
              </a:rPr>
              <a:t>de </a:t>
            </a:r>
            <a:r>
              <a:rPr sz="3100" spc="-5" dirty="0">
                <a:latin typeface="Times New Roman"/>
                <a:cs typeface="Times New Roman"/>
              </a:rPr>
              <a:t>vrai </a:t>
            </a:r>
            <a:r>
              <a:rPr sz="3100" dirty="0">
                <a:latin typeface="Times New Roman"/>
                <a:cs typeface="Times New Roman"/>
              </a:rPr>
              <a:t>à faux </a:t>
            </a:r>
            <a:r>
              <a:rPr sz="3100" spc="-5" dirty="0">
                <a:latin typeface="Times New Roman"/>
                <a:cs typeface="Times New Roman"/>
              </a:rPr>
              <a:t>(après </a:t>
            </a:r>
            <a:r>
              <a:rPr sz="3100" spc="5" dirty="0">
                <a:latin typeface="Times New Roman"/>
                <a:cs typeface="Times New Roman"/>
              </a:rPr>
              <a:t>un  </a:t>
            </a:r>
            <a:r>
              <a:rPr sz="3100" spc="-5" dirty="0">
                <a:latin typeface="Times New Roman"/>
                <a:cs typeface="Times New Roman"/>
              </a:rPr>
              <a:t>certain nombre </a:t>
            </a:r>
            <a:r>
              <a:rPr sz="3100" dirty="0">
                <a:latin typeface="Times New Roman"/>
                <a:cs typeface="Times New Roman"/>
              </a:rPr>
              <a:t>d'itérations), </a:t>
            </a:r>
            <a:r>
              <a:rPr sz="3100" spc="-5" dirty="0">
                <a:latin typeface="Times New Roman"/>
                <a:cs typeface="Times New Roman"/>
              </a:rPr>
              <a:t>sinon </a:t>
            </a:r>
            <a:r>
              <a:rPr sz="3100" dirty="0">
                <a:latin typeface="Times New Roman"/>
                <a:cs typeface="Times New Roman"/>
              </a:rPr>
              <a:t>le programme va </a:t>
            </a:r>
            <a:r>
              <a:rPr sz="3100" spc="-5" dirty="0">
                <a:latin typeface="Times New Roman"/>
                <a:cs typeface="Times New Roman"/>
              </a:rPr>
              <a:t>tourner  </a:t>
            </a:r>
            <a:r>
              <a:rPr sz="3100" dirty="0">
                <a:latin typeface="Times New Roman"/>
                <a:cs typeface="Times New Roman"/>
              </a:rPr>
              <a:t>indéfiniment.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Outils de</a:t>
            </a:r>
            <a:r>
              <a:rPr sz="2600" spc="-10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base</a:t>
            </a:r>
            <a:endParaRPr sz="2600"/>
          </a:p>
        </p:txBody>
      </p:sp>
      <p:sp>
        <p:nvSpPr>
          <p:cNvPr id="5" name="object 5"/>
          <p:cNvSpPr txBox="1"/>
          <p:nvPr/>
        </p:nvSpPr>
        <p:spPr>
          <a:xfrm>
            <a:off x="1019298" y="805097"/>
            <a:ext cx="6842125" cy="158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89885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La boucle « </a:t>
            </a:r>
            <a:r>
              <a:rPr sz="3200" b="1" spc="-80" dirty="0">
                <a:solidFill>
                  <a:srgbClr val="0070C0"/>
                </a:solidFill>
                <a:latin typeface="Times New Roman"/>
                <a:cs typeface="Times New Roman"/>
              </a:rPr>
              <a:t>Tant </a:t>
            </a:r>
            <a:r>
              <a:rPr sz="3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que</a:t>
            </a:r>
            <a:r>
              <a:rPr sz="3200" b="1" spc="-2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»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b="1" spc="-5" dirty="0">
                <a:latin typeface="Times New Roman"/>
                <a:cs typeface="Times New Roman"/>
              </a:rPr>
              <a:t>Attention au boucle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infinie: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2843" y="3002571"/>
            <a:ext cx="4390517" cy="22628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28420" y="3137756"/>
            <a:ext cx="3031284" cy="21825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39255" y="3055620"/>
            <a:ext cx="121907" cy="222580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97615" y="3072603"/>
            <a:ext cx="1905" cy="2143760"/>
          </a:xfrm>
          <a:custGeom>
            <a:avLst/>
            <a:gdLst/>
            <a:ahLst/>
            <a:cxnLst/>
            <a:rect l="l" t="t" r="r" b="b"/>
            <a:pathLst>
              <a:path w="1904" h="2143760">
                <a:moveTo>
                  <a:pt x="1587" y="0"/>
                </a:moveTo>
                <a:lnTo>
                  <a:pt x="0" y="2143137"/>
                </a:lnTo>
              </a:path>
            </a:pathLst>
          </a:custGeom>
          <a:ln w="38100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24</a:t>
            </a:fld>
            <a:endParaRPr spc="-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6630" y="805097"/>
            <a:ext cx="39649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La boucle « </a:t>
            </a:r>
            <a:r>
              <a:rPr spc="-80" dirty="0"/>
              <a:t>Tant </a:t>
            </a:r>
            <a:r>
              <a:rPr spc="-5" dirty="0"/>
              <a:t>que</a:t>
            </a:r>
            <a:r>
              <a:rPr spc="-25" dirty="0"/>
              <a:t> </a:t>
            </a:r>
            <a:r>
              <a:rPr spc="-5" dirty="0"/>
              <a:t>»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25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33240" y="1665094"/>
            <a:ext cx="9986010" cy="45833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935">
              <a:lnSpc>
                <a:spcPct val="100000"/>
              </a:lnSpc>
              <a:spcBef>
                <a:spcPts val="5"/>
              </a:spcBef>
            </a:pPr>
            <a:r>
              <a:rPr lang="fr-FR" sz="2700" b="1" spc="-35" dirty="0">
                <a:latin typeface="Times New Roman"/>
                <a:cs typeface="Times New Roman"/>
              </a:rPr>
              <a:t>Algorithme</a:t>
            </a:r>
            <a:r>
              <a:rPr lang="fr-FR" sz="2700" spc="-35" dirty="0">
                <a:latin typeface="Times New Roman"/>
                <a:cs typeface="Times New Roman"/>
              </a:rPr>
              <a:t> Somme_inferieur_a_100</a:t>
            </a:r>
          </a:p>
          <a:p>
            <a:pPr marL="1384935">
              <a:lnSpc>
                <a:spcPct val="100000"/>
              </a:lnSpc>
              <a:spcBef>
                <a:spcPts val="5"/>
              </a:spcBef>
            </a:pPr>
            <a:r>
              <a:rPr sz="2700" b="1" spc="-35" dirty="0">
                <a:latin typeface="Times New Roman"/>
                <a:cs typeface="Times New Roman"/>
              </a:rPr>
              <a:t>Variables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spc="-5" dirty="0" err="1">
                <a:latin typeface="Times New Roman"/>
                <a:cs typeface="Times New Roman"/>
              </a:rPr>
              <a:t>som</a:t>
            </a:r>
            <a:r>
              <a:rPr sz="2700" spc="-5" dirty="0">
                <a:latin typeface="Times New Roman"/>
                <a:cs typeface="Times New Roman"/>
              </a:rPr>
              <a:t>, </a:t>
            </a:r>
            <a:r>
              <a:rPr lang="fr-FR" sz="2700" spc="-5" dirty="0">
                <a:latin typeface="Times New Roman"/>
                <a:cs typeface="Times New Roman"/>
              </a:rPr>
              <a:t>n</a:t>
            </a:r>
            <a:r>
              <a:rPr sz="2700" dirty="0">
                <a:latin typeface="Times New Roman"/>
                <a:cs typeface="Times New Roman"/>
              </a:rPr>
              <a:t> :</a:t>
            </a:r>
            <a:r>
              <a:rPr sz="2700" spc="30" dirty="0">
                <a:latin typeface="Times New Roman"/>
                <a:cs typeface="Times New Roman"/>
              </a:rPr>
              <a:t> </a:t>
            </a:r>
            <a:r>
              <a:rPr sz="2700" spc="-5" dirty="0" err="1">
                <a:latin typeface="Times New Roman"/>
                <a:cs typeface="Times New Roman"/>
              </a:rPr>
              <a:t>entier</a:t>
            </a:r>
            <a:endParaRPr sz="2700" dirty="0">
              <a:latin typeface="Times New Roman"/>
              <a:cs typeface="Times New Roman"/>
            </a:endParaRPr>
          </a:p>
          <a:p>
            <a:pPr marL="1384935">
              <a:lnSpc>
                <a:spcPct val="100000"/>
              </a:lnSpc>
            </a:pPr>
            <a:r>
              <a:rPr sz="2700" b="1" spc="-5" dirty="0">
                <a:latin typeface="Times New Roman"/>
                <a:cs typeface="Times New Roman"/>
              </a:rPr>
              <a:t>Debut</a:t>
            </a:r>
            <a:endParaRPr sz="2700" dirty="0">
              <a:latin typeface="Times New Roman"/>
              <a:cs typeface="Times New Roman"/>
            </a:endParaRPr>
          </a:p>
          <a:p>
            <a:pPr marL="1842135">
              <a:lnSpc>
                <a:spcPct val="100000"/>
              </a:lnSpc>
            </a:pPr>
            <a:r>
              <a:rPr lang="fr-FR" sz="2700" dirty="0">
                <a:latin typeface="Times New Roman"/>
                <a:cs typeface="Times New Roman"/>
              </a:rPr>
              <a:t>n</a:t>
            </a:r>
            <a:r>
              <a:rPr sz="2700" dirty="0">
                <a:latin typeface="Times New Roman"/>
                <a:cs typeface="Times New Roman"/>
              </a:rPr>
              <a:t> ←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lang="fr-FR" sz="2700" spc="-15" dirty="0">
                <a:latin typeface="Times New Roman"/>
                <a:cs typeface="Times New Roman"/>
              </a:rPr>
              <a:t>1</a:t>
            </a:r>
            <a:endParaRPr sz="2700" dirty="0">
              <a:latin typeface="Times New Roman"/>
              <a:cs typeface="Times New Roman"/>
            </a:endParaRPr>
          </a:p>
          <a:p>
            <a:pPr marL="1842135">
              <a:lnSpc>
                <a:spcPct val="100000"/>
              </a:lnSpc>
            </a:pPr>
            <a:r>
              <a:rPr lang="fr-FR" sz="2700" spc="-5" dirty="0">
                <a:latin typeface="Times New Roman"/>
                <a:cs typeface="Times New Roman"/>
              </a:rPr>
              <a:t>s</a:t>
            </a:r>
            <a:r>
              <a:rPr sz="2700" spc="-5" dirty="0" err="1">
                <a:latin typeface="Times New Roman"/>
                <a:cs typeface="Times New Roman"/>
              </a:rPr>
              <a:t>om</a:t>
            </a:r>
            <a:r>
              <a:rPr lang="fr-FR" sz="2700" spc="-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←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0</a:t>
            </a:r>
          </a:p>
          <a:p>
            <a:pPr marL="2299335" marR="4980305" indent="-457200">
              <a:lnSpc>
                <a:spcPct val="100000"/>
              </a:lnSpc>
            </a:pPr>
            <a:r>
              <a:rPr sz="2700" b="1" spc="-40" dirty="0" err="1">
                <a:latin typeface="Times New Roman"/>
                <a:cs typeface="Times New Roman"/>
              </a:rPr>
              <a:t>TantQue</a:t>
            </a:r>
            <a:r>
              <a:rPr sz="2700" b="1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(</a:t>
            </a:r>
            <a:r>
              <a:rPr sz="2700" dirty="0" err="1">
                <a:latin typeface="Times New Roman"/>
                <a:cs typeface="Times New Roman"/>
              </a:rPr>
              <a:t>som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&lt;=100) </a:t>
            </a:r>
            <a:r>
              <a:rPr sz="2700" spc="-5" dirty="0" err="1">
                <a:latin typeface="Times New Roman"/>
                <a:cs typeface="Times New Roman"/>
              </a:rPr>
              <a:t>som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←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 err="1">
                <a:latin typeface="Times New Roman"/>
                <a:cs typeface="Times New Roman"/>
              </a:rPr>
              <a:t>som</a:t>
            </a:r>
            <a:r>
              <a:rPr sz="2700" dirty="0">
                <a:latin typeface="Times New Roman"/>
                <a:cs typeface="Times New Roman"/>
              </a:rPr>
              <a:t>+</a:t>
            </a:r>
            <a:r>
              <a:rPr lang="fr-FR" sz="2700" dirty="0">
                <a:latin typeface="Times New Roman"/>
                <a:cs typeface="Times New Roman"/>
              </a:rPr>
              <a:t>n</a:t>
            </a:r>
          </a:p>
          <a:p>
            <a:pPr marL="2299335" marR="4980305" indent="-457200"/>
            <a:r>
              <a:rPr lang="fr-FR" sz="2700" dirty="0">
                <a:latin typeface="Times New Roman"/>
                <a:cs typeface="Times New Roman"/>
              </a:rPr>
              <a:t>	n ←</a:t>
            </a:r>
            <a:r>
              <a:rPr lang="fr-FR" sz="2700" spc="-20" dirty="0">
                <a:latin typeface="Times New Roman"/>
                <a:cs typeface="Times New Roman"/>
              </a:rPr>
              <a:t> n</a:t>
            </a:r>
            <a:r>
              <a:rPr lang="fr-FR" sz="2700" dirty="0">
                <a:latin typeface="Times New Roman"/>
                <a:cs typeface="Times New Roman"/>
              </a:rPr>
              <a:t>+1</a:t>
            </a:r>
            <a:endParaRPr sz="2700" dirty="0">
              <a:latin typeface="Times New Roman"/>
              <a:cs typeface="Times New Roman"/>
            </a:endParaRPr>
          </a:p>
          <a:p>
            <a:pPr marL="1842135">
              <a:lnSpc>
                <a:spcPct val="100000"/>
              </a:lnSpc>
            </a:pPr>
            <a:r>
              <a:rPr sz="2700" b="1" spc="-30" dirty="0" err="1">
                <a:latin typeface="Times New Roman"/>
                <a:cs typeface="Times New Roman"/>
              </a:rPr>
              <a:t>FinTantQue</a:t>
            </a:r>
            <a:endParaRPr sz="2700" dirty="0">
              <a:latin typeface="Times New Roman"/>
              <a:cs typeface="Times New Roman"/>
            </a:endParaRPr>
          </a:p>
          <a:p>
            <a:pPr marL="1842135">
              <a:lnSpc>
                <a:spcPct val="100000"/>
              </a:lnSpc>
            </a:pPr>
            <a:r>
              <a:rPr sz="2700" dirty="0" err="1">
                <a:latin typeface="Times New Roman"/>
                <a:cs typeface="Times New Roman"/>
              </a:rPr>
              <a:t>Ecrire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(" </a:t>
            </a:r>
            <a:r>
              <a:rPr sz="2700" dirty="0">
                <a:latin typeface="Times New Roman"/>
                <a:cs typeface="Times New Roman"/>
              </a:rPr>
              <a:t>La </a:t>
            </a:r>
            <a:r>
              <a:rPr sz="2700" dirty="0" err="1">
                <a:latin typeface="Times New Roman"/>
                <a:cs typeface="Times New Roman"/>
              </a:rPr>
              <a:t>valeur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dirty="0" err="1">
                <a:latin typeface="Times New Roman"/>
                <a:cs typeface="Times New Roman"/>
              </a:rPr>
              <a:t>cherchée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5" dirty="0" err="1">
                <a:latin typeface="Times New Roman"/>
                <a:cs typeface="Times New Roman"/>
              </a:rPr>
              <a:t>est</a:t>
            </a:r>
            <a:r>
              <a:rPr sz="2700" spc="-5" dirty="0">
                <a:latin typeface="Times New Roman"/>
                <a:cs typeface="Times New Roman"/>
              </a:rPr>
              <a:t> N= ", </a:t>
            </a:r>
            <a:r>
              <a:rPr lang="fr-FR" sz="2700" spc="-5" dirty="0">
                <a:latin typeface="Times New Roman"/>
                <a:cs typeface="Times New Roman"/>
              </a:rPr>
              <a:t>n</a:t>
            </a:r>
            <a:r>
              <a:rPr sz="2700" dirty="0">
                <a:latin typeface="Times New Roman"/>
                <a:cs typeface="Times New Roman"/>
              </a:rPr>
              <a:t>)</a:t>
            </a:r>
          </a:p>
          <a:p>
            <a:pPr marL="1385570">
              <a:lnSpc>
                <a:spcPct val="100000"/>
              </a:lnSpc>
            </a:pPr>
            <a:r>
              <a:rPr sz="2700" b="1" spc="-5" dirty="0">
                <a:latin typeface="Times New Roman"/>
                <a:cs typeface="Times New Roman"/>
              </a:rPr>
              <a:t>Fin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1661850"/>
            <a:ext cx="4260850" cy="2336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indent="635">
              <a:lnSpc>
                <a:spcPct val="100000"/>
              </a:lnSpc>
              <a:spcBef>
                <a:spcPts val="100"/>
              </a:spcBef>
              <a:spcAft>
                <a:spcPts val="1200"/>
              </a:spcAft>
            </a:pPr>
            <a:r>
              <a:rPr lang="fr-FR" sz="27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Exemple: </a:t>
            </a:r>
          </a:p>
          <a:p>
            <a:pPr marL="12700" marR="5080" indent="635" algn="just">
              <a:lnSpc>
                <a:spcPct val="100000"/>
              </a:lnSpc>
              <a:spcBef>
                <a:spcPts val="100"/>
              </a:spcBef>
            </a:pPr>
            <a:r>
              <a:rPr lang="fr-FR" sz="2700" dirty="0">
                <a:latin typeface="Times New Roman"/>
                <a:cs typeface="Times New Roman"/>
              </a:rPr>
              <a:t>Un </a:t>
            </a:r>
            <a:r>
              <a:rPr lang="fr-FR" sz="2700" spc="-5" dirty="0">
                <a:latin typeface="Times New Roman"/>
                <a:cs typeface="Times New Roman"/>
              </a:rPr>
              <a:t>algorithme qui </a:t>
            </a:r>
            <a:r>
              <a:rPr lang="fr-FR" sz="2700" spc="-10" dirty="0">
                <a:latin typeface="Times New Roman"/>
                <a:cs typeface="Times New Roman"/>
              </a:rPr>
              <a:t>détermine </a:t>
            </a:r>
            <a:r>
              <a:rPr lang="fr-FR" sz="2700" spc="-5" dirty="0">
                <a:latin typeface="Times New Roman"/>
                <a:cs typeface="Times New Roman"/>
              </a:rPr>
              <a:t>le premier nombre </a:t>
            </a:r>
            <a:r>
              <a:rPr lang="fr-FR" sz="2700" spc="-10" dirty="0">
                <a:latin typeface="Times New Roman"/>
                <a:cs typeface="Times New Roman"/>
              </a:rPr>
              <a:t>entier </a:t>
            </a:r>
            <a:r>
              <a:rPr lang="fr-FR" sz="2700" dirty="0">
                <a:latin typeface="Times New Roman"/>
                <a:cs typeface="Times New Roman"/>
              </a:rPr>
              <a:t>N  </a:t>
            </a:r>
            <a:r>
              <a:rPr lang="fr-FR" sz="2700" spc="-5" dirty="0">
                <a:latin typeface="Times New Roman"/>
                <a:cs typeface="Times New Roman"/>
              </a:rPr>
              <a:t>tel </a:t>
            </a:r>
            <a:r>
              <a:rPr lang="fr-FR" sz="2700" dirty="0">
                <a:latin typeface="Times New Roman"/>
                <a:cs typeface="Times New Roman"/>
              </a:rPr>
              <a:t>que la </a:t>
            </a:r>
            <a:r>
              <a:rPr lang="fr-FR" sz="2700" spc="-5" dirty="0">
                <a:latin typeface="Times New Roman"/>
                <a:cs typeface="Times New Roman"/>
              </a:rPr>
              <a:t>somme </a:t>
            </a:r>
            <a:r>
              <a:rPr lang="fr-FR" sz="2700" dirty="0">
                <a:latin typeface="Times New Roman"/>
                <a:cs typeface="Times New Roman"/>
              </a:rPr>
              <a:t>de 1 à N </a:t>
            </a:r>
            <a:r>
              <a:rPr lang="fr-FR" sz="2700" spc="-5" dirty="0">
                <a:latin typeface="Times New Roman"/>
                <a:cs typeface="Times New Roman"/>
              </a:rPr>
              <a:t>dépasse strictement</a:t>
            </a:r>
            <a:r>
              <a:rPr lang="fr-FR" sz="2700" spc="-120" dirty="0">
                <a:latin typeface="Times New Roman"/>
                <a:cs typeface="Times New Roman"/>
              </a:rPr>
              <a:t> </a:t>
            </a:r>
            <a:r>
              <a:rPr lang="fr-FR" sz="2700" dirty="0">
                <a:latin typeface="Times New Roman"/>
                <a:cs typeface="Times New Roman"/>
              </a:rPr>
              <a:t>100.</a:t>
            </a:r>
          </a:p>
        </p:txBody>
      </p:sp>
    </p:spTree>
    <p:extLst>
      <p:ext uri="{BB962C8B-B14F-4D97-AF65-F5344CB8AC3E}">
        <p14:creationId xmlns:p14="http://schemas.microsoft.com/office/powerpoint/2010/main" val="1331773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8442" y="805097"/>
            <a:ext cx="55111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La boucle « Répéter…jusqu'à</a:t>
            </a:r>
            <a:r>
              <a:rPr spc="-15" dirty="0"/>
              <a:t> </a:t>
            </a:r>
            <a:r>
              <a:rPr spc="-5" dirty="0"/>
              <a:t>»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26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40949" y="1439468"/>
            <a:ext cx="4358005" cy="184721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79070" rIns="0" bIns="0" rtlCol="0">
            <a:spAutoFit/>
          </a:bodyPr>
          <a:lstStyle/>
          <a:p>
            <a:pPr marR="1047750" algn="ctr">
              <a:lnSpc>
                <a:spcPct val="100000"/>
              </a:lnSpc>
              <a:spcBef>
                <a:spcPts val="1410"/>
              </a:spcBef>
            </a:pPr>
            <a:r>
              <a:rPr sz="3000" b="1" spc="-5" dirty="0">
                <a:latin typeface="Times New Roman"/>
                <a:cs typeface="Times New Roman"/>
              </a:rPr>
              <a:t>Répéter</a:t>
            </a:r>
            <a:endParaRPr sz="3000">
              <a:latin typeface="Times New Roman"/>
              <a:cs typeface="Times New Roman"/>
            </a:endParaRPr>
          </a:p>
          <a:p>
            <a:pPr marL="346710" algn="ctr">
              <a:lnSpc>
                <a:spcPct val="100000"/>
              </a:lnSpc>
              <a:spcBef>
                <a:spcPts val="645"/>
              </a:spcBef>
            </a:pPr>
            <a:r>
              <a:rPr sz="3000" dirty="0">
                <a:latin typeface="Times New Roman"/>
                <a:cs typeface="Times New Roman"/>
              </a:rPr>
              <a:t>instructions</a:t>
            </a:r>
            <a:endParaRPr sz="3000">
              <a:latin typeface="Times New Roman"/>
              <a:cs typeface="Times New Roman"/>
            </a:endParaRPr>
          </a:p>
          <a:p>
            <a:pPr marL="456565" algn="ctr">
              <a:lnSpc>
                <a:spcPct val="100000"/>
              </a:lnSpc>
            </a:pPr>
            <a:r>
              <a:rPr sz="3000" b="1" spc="-5" dirty="0">
                <a:latin typeface="Times New Roman"/>
                <a:cs typeface="Times New Roman"/>
              </a:rPr>
              <a:t>Jusqu'à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condition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5049" y="3489958"/>
            <a:ext cx="9344025" cy="21590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505459" indent="-493395" algn="just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506095" algn="l"/>
              </a:tabLst>
            </a:pPr>
            <a:r>
              <a:rPr sz="3000" spc="-5" dirty="0">
                <a:latin typeface="Times New Roman"/>
                <a:cs typeface="Times New Roman"/>
              </a:rPr>
              <a:t>La </a:t>
            </a:r>
            <a:r>
              <a:rPr sz="3000" dirty="0">
                <a:latin typeface="Times New Roman"/>
                <a:cs typeface="Times New Roman"/>
              </a:rPr>
              <a:t>condition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dirty="0">
                <a:latin typeface="Times New Roman"/>
                <a:cs typeface="Times New Roman"/>
              </a:rPr>
              <a:t>évaluée </a:t>
            </a:r>
            <a:r>
              <a:rPr sz="3000" spc="-5" dirty="0">
                <a:latin typeface="Times New Roman"/>
                <a:cs typeface="Times New Roman"/>
              </a:rPr>
              <a:t>après </a:t>
            </a:r>
            <a:r>
              <a:rPr sz="3000" dirty="0">
                <a:latin typeface="Times New Roman"/>
                <a:cs typeface="Times New Roman"/>
              </a:rPr>
              <a:t>chaque</a:t>
            </a:r>
            <a:r>
              <a:rPr sz="3000" spc="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itération.</a:t>
            </a:r>
            <a:endParaRPr sz="3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195"/>
              </a:spcBef>
              <a:buFont typeface="Wingdings"/>
              <a:buChar char=""/>
              <a:tabLst>
                <a:tab pos="506730" algn="l"/>
              </a:tabLst>
            </a:pPr>
            <a:r>
              <a:rPr lang="fr-FR" sz="3000" spc="-5" dirty="0">
                <a:latin typeface="Times New Roman"/>
                <a:cs typeface="Times New Roman"/>
              </a:rPr>
              <a:t>  </a:t>
            </a:r>
            <a:r>
              <a:rPr sz="3000" spc="-5">
                <a:latin typeface="Times New Roman"/>
                <a:cs typeface="Times New Roman"/>
              </a:rPr>
              <a:t>Les </a:t>
            </a:r>
            <a:r>
              <a:rPr sz="3000" dirty="0">
                <a:latin typeface="Times New Roman"/>
                <a:cs typeface="Times New Roman"/>
              </a:rPr>
              <a:t>instructions entre </a:t>
            </a:r>
            <a:r>
              <a:rPr sz="3000" b="1" spc="-5" dirty="0">
                <a:latin typeface="Times New Roman"/>
                <a:cs typeface="Times New Roman"/>
              </a:rPr>
              <a:t>Répéter </a:t>
            </a:r>
            <a:r>
              <a:rPr sz="3000" dirty="0">
                <a:latin typeface="Times New Roman"/>
                <a:cs typeface="Times New Roman"/>
              </a:rPr>
              <a:t>et </a:t>
            </a:r>
            <a:r>
              <a:rPr sz="3000" b="1" spc="-5" dirty="0">
                <a:latin typeface="Times New Roman"/>
                <a:cs typeface="Times New Roman"/>
              </a:rPr>
              <a:t>jusqu’à </a:t>
            </a:r>
            <a:r>
              <a:rPr sz="3000" spc="-5" dirty="0">
                <a:latin typeface="Times New Roman"/>
                <a:cs typeface="Times New Roman"/>
              </a:rPr>
              <a:t>sont </a:t>
            </a:r>
            <a:r>
              <a:rPr sz="3000" dirty="0">
                <a:latin typeface="Times New Roman"/>
                <a:cs typeface="Times New Roman"/>
              </a:rPr>
              <a:t>exécutées  au moins </a:t>
            </a:r>
            <a:r>
              <a:rPr sz="3000" spc="-5" dirty="0">
                <a:latin typeface="Times New Roman"/>
                <a:cs typeface="Times New Roman"/>
              </a:rPr>
              <a:t>une fois </a:t>
            </a:r>
            <a:r>
              <a:rPr sz="3000" dirty="0">
                <a:latin typeface="Times New Roman"/>
                <a:cs typeface="Times New Roman"/>
              </a:rPr>
              <a:t>et leur exécution est répétée </a:t>
            </a:r>
            <a:r>
              <a:rPr sz="3000" spc="-5" dirty="0">
                <a:latin typeface="Times New Roman"/>
                <a:cs typeface="Times New Roman"/>
              </a:rPr>
              <a:t>jusqu’à </a:t>
            </a:r>
            <a:r>
              <a:rPr sz="3000" spc="5" dirty="0">
                <a:latin typeface="Times New Roman"/>
                <a:cs typeface="Times New Roman"/>
              </a:rPr>
              <a:t>ce  </a:t>
            </a:r>
            <a:r>
              <a:rPr sz="3000" dirty="0">
                <a:latin typeface="Times New Roman"/>
                <a:cs typeface="Times New Roman"/>
              </a:rPr>
              <a:t>que la condition </a:t>
            </a:r>
            <a:r>
              <a:rPr sz="3000" spc="-5" dirty="0">
                <a:latin typeface="Times New Roman"/>
                <a:cs typeface="Times New Roman"/>
              </a:rPr>
              <a:t>soit </a:t>
            </a:r>
            <a:r>
              <a:rPr sz="3000" dirty="0">
                <a:latin typeface="Times New Roman"/>
                <a:cs typeface="Times New Roman"/>
              </a:rPr>
              <a:t>vraie (tant qu'elle </a:t>
            </a:r>
            <a:r>
              <a:rPr sz="3000" spc="-5" dirty="0">
                <a:latin typeface="Times New Roman"/>
                <a:cs typeface="Times New Roman"/>
              </a:rPr>
              <a:t>est</a:t>
            </a:r>
            <a:r>
              <a:rPr sz="3000" spc="5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fausse).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4395" y="796925"/>
            <a:ext cx="534225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/>
              <a:t>La </a:t>
            </a:r>
            <a:r>
              <a:rPr sz="3100" spc="-5" dirty="0"/>
              <a:t>boucle </a:t>
            </a:r>
            <a:r>
              <a:rPr sz="3100" dirty="0"/>
              <a:t>« </a:t>
            </a:r>
            <a:r>
              <a:rPr sz="3100" spc="-5" dirty="0"/>
              <a:t>Répéter…jusqu'à</a:t>
            </a:r>
            <a:r>
              <a:rPr sz="3100" spc="-25" dirty="0"/>
              <a:t> </a:t>
            </a:r>
            <a:r>
              <a:rPr sz="3100" dirty="0"/>
              <a:t>»</a:t>
            </a:r>
            <a:endParaRPr sz="3100"/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27</a:t>
            </a:fld>
            <a:endParaRPr spc="-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5650" y="1828800"/>
            <a:ext cx="4267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3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Exemple précédent avec la boucle répéter … jusqu’à</a:t>
            </a:r>
            <a:endParaRPr lang="fr-FR" sz="3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51450" y="1676400"/>
            <a:ext cx="5461080" cy="45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050" y="1661400"/>
            <a:ext cx="226285" cy="3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278335" y="5410200"/>
            <a:ext cx="58428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,n)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304" y="878653"/>
            <a:ext cx="687895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5" dirty="0"/>
              <a:t>Les boucles </a:t>
            </a:r>
            <a:r>
              <a:rPr sz="3100" spc="-75" dirty="0"/>
              <a:t>Tant </a:t>
            </a:r>
            <a:r>
              <a:rPr sz="3100" dirty="0"/>
              <a:t>que vs. </a:t>
            </a:r>
            <a:r>
              <a:rPr sz="3100" spc="-5" dirty="0"/>
              <a:t>Répéter</a:t>
            </a:r>
            <a:r>
              <a:rPr sz="3100" spc="-80" dirty="0"/>
              <a:t> </a:t>
            </a:r>
            <a:r>
              <a:rPr sz="3100" dirty="0"/>
              <a:t>jusqu’à</a:t>
            </a:r>
            <a:endParaRPr sz="3100"/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28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7859" y="1508955"/>
            <a:ext cx="9986645" cy="447548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72440" indent="-460375" algn="just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473075" algn="l"/>
              </a:tabLst>
            </a:pPr>
            <a:r>
              <a:rPr sz="2800" spc="-10" dirty="0">
                <a:solidFill>
                  <a:srgbClr val="C00000"/>
                </a:solidFill>
                <a:latin typeface="Times New Roman"/>
                <a:cs typeface="Times New Roman"/>
              </a:rPr>
              <a:t>Différences 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entre les boucles </a:t>
            </a:r>
            <a:r>
              <a:rPr sz="2800" spc="-55" dirty="0">
                <a:solidFill>
                  <a:srgbClr val="C00000"/>
                </a:solidFill>
                <a:latin typeface="Times New Roman"/>
                <a:cs typeface="Times New Roman"/>
              </a:rPr>
              <a:t>Tant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que 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et Répéter</a:t>
            </a:r>
            <a:r>
              <a:rPr sz="2800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jusqu'à:</a:t>
            </a:r>
            <a:endParaRPr sz="2800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469900" marR="5080" lvl="1" indent="-635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0895" algn="l"/>
              </a:tabLst>
            </a:pPr>
            <a:r>
              <a:rPr lang="fr-FR" sz="2800" spc="-5" dirty="0">
                <a:latin typeface="Times New Roman"/>
                <a:cs typeface="Times New Roman"/>
              </a:rPr>
              <a:t>  </a:t>
            </a:r>
            <a:r>
              <a:rPr sz="2800" spc="-5" dirty="0">
                <a:latin typeface="Times New Roman"/>
                <a:cs typeface="Times New Roman"/>
              </a:rPr>
              <a:t>La séquence d'instructions est </a:t>
            </a:r>
            <a:r>
              <a:rPr sz="2800" spc="-10" dirty="0">
                <a:latin typeface="Times New Roman"/>
                <a:cs typeface="Times New Roman"/>
              </a:rPr>
              <a:t>exécutée </a:t>
            </a:r>
            <a:r>
              <a:rPr sz="2800" spc="-5" dirty="0">
                <a:latin typeface="Times New Roman"/>
                <a:cs typeface="Times New Roman"/>
              </a:rPr>
              <a:t>au moins une fois dans  la boucle </a:t>
            </a:r>
            <a:r>
              <a:rPr sz="2800" spc="-10" dirty="0">
                <a:latin typeface="Times New Roman"/>
                <a:cs typeface="Times New Roman"/>
              </a:rPr>
              <a:t>Répéter </a:t>
            </a:r>
            <a:r>
              <a:rPr sz="2800" spc="-5" dirty="0">
                <a:latin typeface="Times New Roman"/>
                <a:cs typeface="Times New Roman"/>
              </a:rPr>
              <a:t>jusqu'à, alors qu'elle peut ne pas être </a:t>
            </a:r>
            <a:r>
              <a:rPr sz="2800" spc="-10" dirty="0">
                <a:latin typeface="Times New Roman"/>
                <a:cs typeface="Times New Roman"/>
              </a:rPr>
              <a:t>exécutée  </a:t>
            </a:r>
            <a:r>
              <a:rPr sz="2800" spc="-5" dirty="0">
                <a:latin typeface="Times New Roman"/>
                <a:cs typeface="Times New Roman"/>
              </a:rPr>
              <a:t>dans </a:t>
            </a:r>
            <a:r>
              <a:rPr sz="2800" dirty="0">
                <a:latin typeface="Times New Roman"/>
                <a:cs typeface="Times New Roman"/>
              </a:rPr>
              <a:t>le </a:t>
            </a:r>
            <a:r>
              <a:rPr sz="2800" spc="-5" dirty="0">
                <a:latin typeface="Times New Roman"/>
                <a:cs typeface="Times New Roman"/>
              </a:rPr>
              <a:t>cas </a:t>
            </a:r>
            <a:r>
              <a:rPr sz="2800" dirty="0">
                <a:latin typeface="Times New Roman"/>
                <a:cs typeface="Times New Roman"/>
              </a:rPr>
              <a:t>du </a:t>
            </a:r>
            <a:r>
              <a:rPr sz="2800" spc="-55" dirty="0">
                <a:latin typeface="Times New Roman"/>
                <a:cs typeface="Times New Roman"/>
              </a:rPr>
              <a:t>Tant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que.</a:t>
            </a:r>
            <a:endParaRPr sz="2800" dirty="0">
              <a:latin typeface="Times New Roman"/>
              <a:cs typeface="Times New Roman"/>
            </a:endParaRPr>
          </a:p>
          <a:p>
            <a:pPr marL="469265" marR="5080" lvl="1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0895" algn="l"/>
              </a:tabLst>
            </a:pPr>
            <a:r>
              <a:rPr lang="fr-FR" sz="2800" spc="-5" dirty="0">
                <a:latin typeface="Times New Roman"/>
                <a:cs typeface="Times New Roman"/>
              </a:rPr>
              <a:t>  </a:t>
            </a:r>
            <a:r>
              <a:rPr sz="2800" spc="-5" dirty="0">
                <a:latin typeface="Times New Roman"/>
                <a:cs typeface="Times New Roman"/>
              </a:rPr>
              <a:t>La séquence d'instructions est </a:t>
            </a:r>
            <a:r>
              <a:rPr sz="2800" spc="-10" dirty="0">
                <a:latin typeface="Times New Roman"/>
                <a:cs typeface="Times New Roman"/>
              </a:rPr>
              <a:t>exécutée </a:t>
            </a:r>
            <a:r>
              <a:rPr sz="2800" spc="-5" dirty="0">
                <a:latin typeface="Times New Roman"/>
                <a:cs typeface="Times New Roman"/>
              </a:rPr>
              <a:t>si la condition est </a:t>
            </a:r>
            <a:r>
              <a:rPr sz="2800" spc="-10" dirty="0">
                <a:latin typeface="Times New Roman"/>
                <a:cs typeface="Times New Roman"/>
              </a:rPr>
              <a:t>vraie  </a:t>
            </a:r>
            <a:r>
              <a:rPr sz="2800" dirty="0">
                <a:latin typeface="Times New Roman"/>
                <a:cs typeface="Times New Roman"/>
              </a:rPr>
              <a:t>pour </a:t>
            </a:r>
            <a:r>
              <a:rPr sz="2800" spc="-55" dirty="0">
                <a:latin typeface="Times New Roman"/>
                <a:cs typeface="Times New Roman"/>
              </a:rPr>
              <a:t>Tant </a:t>
            </a:r>
            <a:r>
              <a:rPr sz="2800" dirty="0">
                <a:latin typeface="Times New Roman"/>
                <a:cs typeface="Times New Roman"/>
              </a:rPr>
              <a:t>que </a:t>
            </a:r>
            <a:r>
              <a:rPr sz="2800" spc="-5" dirty="0">
                <a:latin typeface="Times New Roman"/>
                <a:cs typeface="Times New Roman"/>
              </a:rPr>
              <a:t>et </a:t>
            </a:r>
            <a:r>
              <a:rPr sz="2800" dirty="0">
                <a:latin typeface="Times New Roman"/>
                <a:cs typeface="Times New Roman"/>
              </a:rPr>
              <a:t>si la </a:t>
            </a:r>
            <a:r>
              <a:rPr sz="2800" spc="-5" dirty="0">
                <a:latin typeface="Times New Roman"/>
                <a:cs typeface="Times New Roman"/>
              </a:rPr>
              <a:t>condition est fausse </a:t>
            </a:r>
            <a:r>
              <a:rPr sz="2800" dirty="0">
                <a:latin typeface="Times New Roman"/>
                <a:cs typeface="Times New Roman"/>
              </a:rPr>
              <a:t>pour </a:t>
            </a:r>
            <a:r>
              <a:rPr sz="2800" spc="-5" dirty="0">
                <a:latin typeface="Times New Roman"/>
                <a:cs typeface="Times New Roman"/>
              </a:rPr>
              <a:t>Répéter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jusqu'à.</a:t>
            </a:r>
            <a:endParaRPr sz="2800" dirty="0">
              <a:latin typeface="Times New Roman"/>
              <a:cs typeface="Times New Roman"/>
            </a:endParaRPr>
          </a:p>
          <a:p>
            <a:pPr marL="468630" marR="5715" lvl="1" indent="635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0895" algn="l"/>
              </a:tabLst>
            </a:pPr>
            <a:r>
              <a:rPr lang="fr-FR" sz="2800" spc="-5" dirty="0">
                <a:latin typeface="Times New Roman"/>
                <a:cs typeface="Times New Roman"/>
              </a:rPr>
              <a:t>  </a:t>
            </a:r>
            <a:r>
              <a:rPr sz="2800" spc="-5" dirty="0" err="1">
                <a:latin typeface="Times New Roman"/>
                <a:cs typeface="Times New Roman"/>
              </a:rPr>
              <a:t>Dans</a:t>
            </a:r>
            <a:r>
              <a:rPr sz="2800" spc="-5" dirty="0">
                <a:latin typeface="Times New Roman"/>
                <a:cs typeface="Times New Roman"/>
              </a:rPr>
              <a:t> les deux cas, la séquence d'instructions doit  nécessairement faire évoluer la condition, </a:t>
            </a:r>
            <a:r>
              <a:rPr lang="fr-FR" sz="2800" spc="-5" dirty="0">
                <a:latin typeface="Times New Roman"/>
                <a:cs typeface="Times New Roman"/>
              </a:rPr>
              <a:t>sinon </a:t>
            </a:r>
            <a:r>
              <a:rPr sz="2800" dirty="0">
                <a:latin typeface="Times New Roman"/>
                <a:cs typeface="Times New Roman"/>
              </a:rPr>
              <a:t>on </a:t>
            </a:r>
            <a:r>
              <a:rPr sz="2800" spc="-10" dirty="0">
                <a:latin typeface="Times New Roman"/>
                <a:cs typeface="Times New Roman"/>
              </a:rPr>
              <a:t>obtient  </a:t>
            </a:r>
            <a:r>
              <a:rPr sz="2800" dirty="0">
                <a:latin typeface="Times New Roman"/>
                <a:cs typeface="Times New Roman"/>
              </a:rPr>
              <a:t>une boucle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infinie.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9965" y="1090849"/>
            <a:ext cx="318833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/>
              <a:t>La </a:t>
            </a:r>
            <a:r>
              <a:rPr sz="3100" spc="-5" dirty="0"/>
              <a:t>boucle </a:t>
            </a:r>
            <a:r>
              <a:rPr sz="3100" dirty="0"/>
              <a:t>« Pour</a:t>
            </a:r>
            <a:r>
              <a:rPr sz="3100" spc="-160" dirty="0"/>
              <a:t> </a:t>
            </a:r>
            <a:r>
              <a:rPr sz="3100" dirty="0"/>
              <a:t>»</a:t>
            </a:r>
            <a:endParaRPr sz="3100"/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29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3251" y="1928799"/>
            <a:ext cx="10624946" cy="197233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463040" marR="464820" indent="-915035">
              <a:lnSpc>
                <a:spcPts val="5220"/>
              </a:lnSpc>
              <a:spcBef>
                <a:spcPts val="100"/>
              </a:spcBef>
            </a:pPr>
            <a:r>
              <a:rPr sz="2900" b="1" spc="-5" dirty="0">
                <a:latin typeface="Times New Roman"/>
                <a:cs typeface="Times New Roman"/>
              </a:rPr>
              <a:t>Pour </a:t>
            </a:r>
            <a:r>
              <a:rPr lang="en-US" sz="2900" spc="-5" dirty="0" err="1">
                <a:latin typeface="Times New Roman"/>
                <a:cs typeface="Times New Roman"/>
              </a:rPr>
              <a:t>C</a:t>
            </a:r>
            <a:r>
              <a:rPr sz="2900" spc="-5" dirty="0" err="1">
                <a:latin typeface="Times New Roman"/>
                <a:cs typeface="Times New Roman"/>
              </a:rPr>
              <a:t>ompteur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←</a:t>
            </a:r>
            <a:r>
              <a:rPr sz="2900" b="1" spc="-5" dirty="0">
                <a:latin typeface="Times New Roman"/>
                <a:cs typeface="Times New Roman"/>
              </a:rPr>
              <a:t> </a:t>
            </a:r>
            <a:r>
              <a:rPr lang="en-US" sz="2900" spc="-5" dirty="0" err="1">
                <a:latin typeface="Times New Roman"/>
                <a:cs typeface="Times New Roman"/>
              </a:rPr>
              <a:t>I</a:t>
            </a:r>
            <a:r>
              <a:rPr sz="2900" spc="-5" dirty="0" err="1">
                <a:latin typeface="Times New Roman"/>
                <a:cs typeface="Times New Roman"/>
              </a:rPr>
              <a:t>nitiale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b="1" spc="-5" dirty="0">
                <a:latin typeface="Times New Roman"/>
                <a:cs typeface="Times New Roman"/>
              </a:rPr>
              <a:t>à </a:t>
            </a:r>
            <a:r>
              <a:rPr lang="en-US" sz="2900" spc="-5" dirty="0">
                <a:latin typeface="Times New Roman"/>
                <a:cs typeface="Times New Roman"/>
              </a:rPr>
              <a:t>F</a:t>
            </a:r>
            <a:r>
              <a:rPr sz="2900" spc="-5" dirty="0">
                <a:latin typeface="Times New Roman"/>
                <a:cs typeface="Times New Roman"/>
              </a:rPr>
              <a:t>inale </a:t>
            </a:r>
            <a:r>
              <a:rPr sz="2900" b="1" spc="-5" dirty="0">
                <a:latin typeface="Times New Roman"/>
                <a:cs typeface="Times New Roman"/>
              </a:rPr>
              <a:t>pas </a:t>
            </a:r>
            <a:r>
              <a:rPr lang="en-US" sz="2900" spc="-5" dirty="0" err="1">
                <a:latin typeface="Times New Roman"/>
                <a:cs typeface="Times New Roman"/>
              </a:rPr>
              <a:t>V</a:t>
            </a:r>
            <a:r>
              <a:rPr sz="2900" spc="-5" dirty="0" err="1">
                <a:latin typeface="Times New Roman"/>
                <a:cs typeface="Times New Roman"/>
              </a:rPr>
              <a:t>aleur</a:t>
            </a:r>
            <a:r>
              <a:rPr lang="fr-FR" sz="2900" spc="-5" dirty="0">
                <a:latin typeface="Times New Roman"/>
                <a:cs typeface="Times New Roman"/>
              </a:rPr>
              <a:t>D</a:t>
            </a:r>
            <a:r>
              <a:rPr sz="2900" spc="-5" dirty="0">
                <a:latin typeface="Times New Roman"/>
                <a:cs typeface="Times New Roman"/>
              </a:rPr>
              <a:t>u</a:t>
            </a:r>
            <a:r>
              <a:rPr lang="fr-FR" sz="2900" spc="-5" dirty="0">
                <a:latin typeface="Times New Roman"/>
                <a:cs typeface="Times New Roman"/>
              </a:rPr>
              <a:t>P</a:t>
            </a:r>
            <a:r>
              <a:rPr sz="2900" spc="-5" dirty="0">
                <a:latin typeface="Times New Roman"/>
                <a:cs typeface="Times New Roman"/>
              </a:rPr>
              <a:t>as </a:t>
            </a:r>
            <a:r>
              <a:rPr lang="en-US" sz="2900" b="1" spc="-5" dirty="0">
                <a:latin typeface="Times New Roman"/>
                <a:cs typeface="Times New Roman"/>
              </a:rPr>
              <a:t>faire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endParaRPr lang="en-US" sz="2900" spc="-5" dirty="0">
              <a:latin typeface="Times New Roman"/>
              <a:cs typeface="Times New Roman"/>
            </a:endParaRPr>
          </a:p>
          <a:p>
            <a:pPr marL="1463040" marR="464820" indent="-915035">
              <a:lnSpc>
                <a:spcPts val="5220"/>
              </a:lnSpc>
              <a:spcBef>
                <a:spcPts val="100"/>
              </a:spcBef>
            </a:pPr>
            <a:r>
              <a:rPr sz="2900" spc="-5" dirty="0">
                <a:latin typeface="Times New Roman"/>
                <a:cs typeface="Times New Roman"/>
              </a:rPr>
              <a:t>instructions</a:t>
            </a:r>
            <a:endParaRPr sz="2900" dirty="0">
              <a:latin typeface="Times New Roman"/>
              <a:cs typeface="Times New Roman"/>
            </a:endParaRPr>
          </a:p>
          <a:p>
            <a:pPr marL="549275">
              <a:lnSpc>
                <a:spcPct val="100000"/>
              </a:lnSpc>
              <a:spcBef>
                <a:spcPts val="1275"/>
              </a:spcBef>
            </a:pPr>
            <a:r>
              <a:rPr sz="2900" b="1" spc="-5" dirty="0">
                <a:latin typeface="Times New Roman"/>
                <a:cs typeface="Times New Roman"/>
              </a:rPr>
              <a:t>FinPour</a:t>
            </a:r>
            <a:endParaRPr sz="2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9965" y="807214"/>
            <a:ext cx="318833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/>
              <a:t>La </a:t>
            </a:r>
            <a:r>
              <a:rPr sz="3100" spc="-5" dirty="0"/>
              <a:t>boucle </a:t>
            </a:r>
            <a:r>
              <a:rPr sz="3100" dirty="0"/>
              <a:t>« Pour</a:t>
            </a:r>
            <a:r>
              <a:rPr sz="3100" spc="-160" dirty="0"/>
              <a:t> </a:t>
            </a:r>
            <a:r>
              <a:rPr sz="3100" dirty="0"/>
              <a:t>»</a:t>
            </a:r>
            <a:endParaRPr sz="3100"/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30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18928" y="1449563"/>
            <a:ext cx="9987280" cy="4451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 marR="5080" indent="-635" algn="just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489584" algn="l"/>
              </a:tabLst>
            </a:pPr>
            <a:r>
              <a:rPr lang="fr-FR" sz="2900" spc="-5" dirty="0">
                <a:latin typeface="Times New Roman"/>
                <a:cs typeface="Times New Roman"/>
              </a:rPr>
              <a:t>  L</a:t>
            </a:r>
            <a:r>
              <a:rPr sz="2900" spc="-5" dirty="0">
                <a:latin typeface="Times New Roman"/>
                <a:cs typeface="Times New Roman"/>
              </a:rPr>
              <a:t>e nombre d'itérations dans une boucle Pour est  connu avant le début de la boucle.</a:t>
            </a:r>
            <a:endParaRPr sz="29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Wingdings"/>
              <a:buChar char=""/>
              <a:tabLst>
                <a:tab pos="489584" algn="l"/>
              </a:tabLst>
            </a:pPr>
            <a:r>
              <a:rPr lang="fr-FR" sz="29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2900" b="1" spc="-5" dirty="0" err="1">
                <a:solidFill>
                  <a:srgbClr val="0000CC"/>
                </a:solidFill>
                <a:latin typeface="Times New Roman"/>
                <a:cs typeface="Times New Roman"/>
              </a:rPr>
              <a:t>Compteur</a:t>
            </a:r>
            <a:r>
              <a:rPr sz="29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est une variable de type </a:t>
            </a:r>
            <a:r>
              <a:rPr sz="2900" spc="-30" dirty="0">
                <a:latin typeface="Times New Roman"/>
                <a:cs typeface="Times New Roman"/>
              </a:rPr>
              <a:t>entier. </a:t>
            </a:r>
            <a:r>
              <a:rPr sz="2900" spc="-5" dirty="0">
                <a:latin typeface="Times New Roman"/>
                <a:cs typeface="Times New Roman"/>
              </a:rPr>
              <a:t>Elle doit être  déclarée.</a:t>
            </a:r>
            <a:endParaRPr sz="29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Wingdings"/>
              <a:buChar char=""/>
              <a:tabLst>
                <a:tab pos="489584" algn="l"/>
              </a:tabLst>
            </a:pPr>
            <a:r>
              <a:rPr lang="fr-FR" sz="29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29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Pas </a:t>
            </a:r>
            <a:r>
              <a:rPr sz="2900" spc="-5" dirty="0">
                <a:latin typeface="Times New Roman"/>
                <a:cs typeface="Times New Roman"/>
              </a:rPr>
              <a:t>est un </a:t>
            </a:r>
            <a:r>
              <a:rPr sz="2900" spc="-10" dirty="0">
                <a:latin typeface="Times New Roman"/>
                <a:cs typeface="Times New Roman"/>
              </a:rPr>
              <a:t>entier </a:t>
            </a:r>
            <a:r>
              <a:rPr sz="2900" spc="-5" dirty="0">
                <a:latin typeface="Times New Roman"/>
                <a:cs typeface="Times New Roman"/>
              </a:rPr>
              <a:t>qui peut être </a:t>
            </a:r>
            <a:r>
              <a:rPr sz="2900" spc="-10" dirty="0">
                <a:latin typeface="Times New Roman"/>
                <a:cs typeface="Times New Roman"/>
              </a:rPr>
              <a:t>positif </a:t>
            </a:r>
            <a:r>
              <a:rPr sz="2900" spc="-5" dirty="0">
                <a:latin typeface="Times New Roman"/>
                <a:cs typeface="Times New Roman"/>
              </a:rPr>
              <a:t>ou négatif. </a:t>
            </a:r>
            <a:r>
              <a:rPr sz="2900" b="1" spc="-5" dirty="0">
                <a:latin typeface="Times New Roman"/>
                <a:cs typeface="Times New Roman"/>
              </a:rPr>
              <a:t>Pas</a:t>
            </a:r>
            <a:r>
              <a:rPr sz="2900" spc="-5" dirty="0">
                <a:latin typeface="Times New Roman"/>
                <a:cs typeface="Times New Roman"/>
              </a:rPr>
              <a:t> peut ne pas  être mentionné, car par défaut sa valeur </a:t>
            </a:r>
            <a:r>
              <a:rPr sz="2900" spc="-10" dirty="0">
                <a:latin typeface="Times New Roman"/>
                <a:cs typeface="Times New Roman"/>
              </a:rPr>
              <a:t>est </a:t>
            </a:r>
            <a:r>
              <a:rPr sz="2900" spc="-5" dirty="0">
                <a:latin typeface="Times New Roman"/>
                <a:cs typeface="Times New Roman"/>
              </a:rPr>
              <a:t>égal à 1. Dans ce cas, </a:t>
            </a:r>
            <a:r>
              <a:rPr sz="2900" spc="-10" dirty="0">
                <a:latin typeface="Times New Roman"/>
                <a:cs typeface="Times New Roman"/>
              </a:rPr>
              <a:t>le  </a:t>
            </a:r>
            <a:r>
              <a:rPr sz="2900" spc="-5" dirty="0">
                <a:latin typeface="Times New Roman"/>
                <a:cs typeface="Times New Roman"/>
              </a:rPr>
              <a:t>nombre d'itérations est égal à </a:t>
            </a:r>
            <a:r>
              <a:rPr sz="2900" i="1" spc="-5" dirty="0">
                <a:latin typeface="Times New Roman"/>
                <a:cs typeface="Times New Roman"/>
              </a:rPr>
              <a:t>finale - initiale+</a:t>
            </a:r>
            <a:r>
              <a:rPr sz="2900" i="1" spc="-30" dirty="0">
                <a:latin typeface="Times New Roman"/>
                <a:cs typeface="Times New Roman"/>
              </a:rPr>
              <a:t> </a:t>
            </a:r>
            <a:r>
              <a:rPr sz="2900" i="1" spc="-5" dirty="0">
                <a:latin typeface="Times New Roman"/>
                <a:cs typeface="Times New Roman"/>
              </a:rPr>
              <a:t>1</a:t>
            </a:r>
            <a:r>
              <a:rPr sz="2900" spc="-5" dirty="0">
                <a:latin typeface="Times New Roman"/>
                <a:cs typeface="Times New Roman"/>
              </a:rPr>
              <a:t>.</a:t>
            </a:r>
            <a:endParaRPr sz="2900" dirty="0">
              <a:latin typeface="Times New Roman"/>
              <a:cs typeface="Times New Roman"/>
            </a:endParaRPr>
          </a:p>
          <a:p>
            <a:pPr marL="13335" marR="5080" indent="-635" algn="just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Wingdings"/>
              <a:buChar char=""/>
              <a:tabLst>
                <a:tab pos="397510" algn="l"/>
              </a:tabLst>
            </a:pPr>
            <a:r>
              <a:rPr lang="fr-FR" sz="290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900" b="1" spc="-10" dirty="0" err="1">
                <a:solidFill>
                  <a:srgbClr val="0000CC"/>
                </a:solidFill>
                <a:latin typeface="Times New Roman"/>
                <a:cs typeface="Times New Roman"/>
              </a:rPr>
              <a:t>Initiale</a:t>
            </a:r>
            <a:r>
              <a:rPr sz="290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et </a:t>
            </a:r>
            <a:r>
              <a:rPr sz="29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finale </a:t>
            </a:r>
            <a:r>
              <a:rPr sz="2900" spc="-5" dirty="0">
                <a:latin typeface="Times New Roman"/>
                <a:cs typeface="Times New Roman"/>
              </a:rPr>
              <a:t>peuvent être des </a:t>
            </a:r>
            <a:r>
              <a:rPr sz="2900" spc="-5" dirty="0" err="1">
                <a:latin typeface="Times New Roman"/>
                <a:cs typeface="Times New Roman"/>
              </a:rPr>
              <a:t>valeurs</a:t>
            </a:r>
            <a:r>
              <a:rPr lang="fr-FR" sz="2900" spc="-5" dirty="0">
                <a:latin typeface="Times New Roman"/>
                <a:cs typeface="Times New Roman"/>
              </a:rPr>
              <a:t> ou</a:t>
            </a:r>
            <a:r>
              <a:rPr sz="2900" spc="-5" dirty="0">
                <a:latin typeface="Times New Roman"/>
                <a:cs typeface="Times New Roman"/>
              </a:rPr>
              <a:t> des variables définies  avant le début de la boucle</a:t>
            </a:r>
            <a:r>
              <a:rPr lang="fr-FR" sz="2900" spc="-5" dirty="0">
                <a:latin typeface="Times New Roman"/>
                <a:cs typeface="Times New Roman"/>
              </a:rPr>
              <a:t>.</a:t>
            </a:r>
            <a:endParaRPr sz="2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9965" y="807214"/>
            <a:ext cx="318833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/>
              <a:t>La </a:t>
            </a:r>
            <a:r>
              <a:rPr sz="3100" spc="-5" dirty="0"/>
              <a:t>boucle </a:t>
            </a:r>
            <a:r>
              <a:rPr sz="3100" dirty="0"/>
              <a:t>« Pour</a:t>
            </a:r>
            <a:r>
              <a:rPr sz="3100" spc="-160" dirty="0"/>
              <a:t> </a:t>
            </a:r>
            <a:r>
              <a:rPr sz="3100" dirty="0"/>
              <a:t>»</a:t>
            </a:r>
            <a:endParaRPr sz="3100"/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31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6421" y="1357361"/>
            <a:ext cx="10343515" cy="485648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3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Déroulement </a:t>
            </a:r>
            <a:r>
              <a:rPr sz="3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des </a:t>
            </a:r>
            <a:r>
              <a:rPr sz="3000" b="1" spc="-5" dirty="0" err="1">
                <a:solidFill>
                  <a:srgbClr val="C00000"/>
                </a:solidFill>
                <a:latin typeface="Times New Roman"/>
                <a:cs typeface="Times New Roman"/>
              </a:rPr>
              <a:t>boucles</a:t>
            </a:r>
            <a:r>
              <a:rPr sz="3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Pour</a:t>
            </a:r>
            <a:endParaRPr sz="30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26415" algn="l"/>
                <a:tab pos="527050" algn="l"/>
              </a:tabLst>
            </a:pPr>
            <a:r>
              <a:rPr sz="3000" spc="-5" dirty="0">
                <a:latin typeface="Times New Roman"/>
                <a:cs typeface="Times New Roman"/>
              </a:rPr>
              <a:t>La </a:t>
            </a:r>
            <a:r>
              <a:rPr sz="3000" dirty="0">
                <a:latin typeface="Times New Roman"/>
                <a:cs typeface="Times New Roman"/>
              </a:rPr>
              <a:t>valeur initiale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spc="-10" dirty="0">
                <a:latin typeface="Times New Roman"/>
                <a:cs typeface="Times New Roman"/>
              </a:rPr>
              <a:t>affectée </a:t>
            </a:r>
            <a:r>
              <a:rPr sz="3000" dirty="0">
                <a:latin typeface="Times New Roman"/>
                <a:cs typeface="Times New Roman"/>
              </a:rPr>
              <a:t>à la variable</a:t>
            </a:r>
            <a:r>
              <a:rPr sz="3000" spc="114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compteur.</a:t>
            </a:r>
            <a:endParaRPr sz="30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526415" algn="l"/>
                <a:tab pos="527050" algn="l"/>
              </a:tabLst>
            </a:pPr>
            <a:r>
              <a:rPr sz="3000" spc="-5" dirty="0">
                <a:latin typeface="Times New Roman"/>
                <a:cs typeface="Times New Roman"/>
              </a:rPr>
              <a:t>On </a:t>
            </a:r>
            <a:r>
              <a:rPr sz="3000" dirty="0">
                <a:latin typeface="Times New Roman"/>
                <a:cs typeface="Times New Roman"/>
              </a:rPr>
              <a:t>compare la valeur du compteur et la valeur</a:t>
            </a:r>
            <a:r>
              <a:rPr sz="3000" spc="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finale:</a:t>
            </a:r>
          </a:p>
          <a:p>
            <a:pPr marL="984250" marR="5080" lvl="1" indent="-514350" algn="just">
              <a:lnSpc>
                <a:spcPct val="100000"/>
              </a:lnSpc>
              <a:buFont typeface="Wingdings"/>
              <a:buChar char=""/>
              <a:tabLst>
                <a:tab pos="984250" algn="l"/>
              </a:tabLst>
            </a:pPr>
            <a:r>
              <a:rPr sz="3000" spc="-5" dirty="0">
                <a:latin typeface="Times New Roman"/>
                <a:cs typeface="Times New Roman"/>
              </a:rPr>
              <a:t>Si </a:t>
            </a:r>
            <a:r>
              <a:rPr sz="3000" dirty="0">
                <a:latin typeface="Times New Roman"/>
                <a:cs typeface="Times New Roman"/>
              </a:rPr>
              <a:t>la valeur du compteur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dirty="0">
                <a:latin typeface="Times New Roman"/>
                <a:cs typeface="Times New Roman"/>
              </a:rPr>
              <a:t>&gt; à la valeur finale dans le cas  </a:t>
            </a:r>
            <a:r>
              <a:rPr sz="3000" spc="-5" dirty="0">
                <a:latin typeface="Times New Roman"/>
                <a:cs typeface="Times New Roman"/>
              </a:rPr>
              <a:t>d'un </a:t>
            </a:r>
            <a:r>
              <a:rPr lang="en-US" sz="3000" b="1" spc="-5" dirty="0">
                <a:latin typeface="Times New Roman"/>
                <a:cs typeface="Times New Roman"/>
              </a:rPr>
              <a:t>P</a:t>
            </a:r>
            <a:r>
              <a:rPr sz="3000" b="1" spc="-5" dirty="0">
                <a:latin typeface="Times New Roman"/>
                <a:cs typeface="Times New Roman"/>
              </a:rPr>
              <a:t>as </a:t>
            </a:r>
            <a:r>
              <a:rPr sz="3000" spc="-5" dirty="0">
                <a:latin typeface="Times New Roman"/>
                <a:cs typeface="Times New Roman"/>
              </a:rPr>
              <a:t>positif </a:t>
            </a:r>
            <a:r>
              <a:rPr sz="3000" dirty="0">
                <a:latin typeface="Times New Roman"/>
                <a:cs typeface="Times New Roman"/>
              </a:rPr>
              <a:t>(ou </a:t>
            </a:r>
            <a:r>
              <a:rPr sz="3000" spc="-5" dirty="0">
                <a:latin typeface="Times New Roman"/>
                <a:cs typeface="Times New Roman"/>
              </a:rPr>
              <a:t>si </a:t>
            </a:r>
            <a:r>
              <a:rPr sz="3000" dirty="0">
                <a:latin typeface="Times New Roman"/>
                <a:cs typeface="Times New Roman"/>
              </a:rPr>
              <a:t>compteur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dirty="0">
                <a:latin typeface="Times New Roman"/>
                <a:cs typeface="Times New Roman"/>
              </a:rPr>
              <a:t>&lt; à finale pour un </a:t>
            </a:r>
            <a:r>
              <a:rPr lang="en-US" sz="3000" b="1" spc="-5" dirty="0">
                <a:latin typeface="Times New Roman"/>
                <a:cs typeface="Times New Roman"/>
              </a:rPr>
              <a:t>P</a:t>
            </a:r>
            <a:r>
              <a:rPr sz="3000" b="1" spc="-5" dirty="0">
                <a:latin typeface="Times New Roman"/>
                <a:cs typeface="Times New Roman"/>
              </a:rPr>
              <a:t>as</a:t>
            </a:r>
            <a:r>
              <a:rPr sz="3000" spc="-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négatif), on </a:t>
            </a:r>
            <a:r>
              <a:rPr sz="3000" spc="-5" dirty="0">
                <a:latin typeface="Times New Roman"/>
                <a:cs typeface="Times New Roman"/>
              </a:rPr>
              <a:t>sort </a:t>
            </a:r>
            <a:r>
              <a:rPr sz="3000" dirty="0">
                <a:latin typeface="Times New Roman"/>
                <a:cs typeface="Times New Roman"/>
              </a:rPr>
              <a:t>de la boucle et on continue avec l'instruction  qui </a:t>
            </a:r>
            <a:r>
              <a:rPr sz="3000" spc="-5" dirty="0">
                <a:latin typeface="Times New Roman"/>
                <a:cs typeface="Times New Roman"/>
              </a:rPr>
              <a:t>suit </a:t>
            </a:r>
            <a:r>
              <a:rPr sz="3000" b="1" spc="-25" dirty="0">
                <a:latin typeface="Times New Roman"/>
                <a:cs typeface="Times New Roman"/>
              </a:rPr>
              <a:t>FinPour</a:t>
            </a:r>
            <a:r>
              <a:rPr sz="3000" spc="-25" dirty="0"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  <a:p>
            <a:pPr marL="983615" marR="5080" lvl="1" indent="-514350" algn="just">
              <a:lnSpc>
                <a:spcPct val="100000"/>
              </a:lnSpc>
              <a:buFont typeface="Wingdings"/>
              <a:buChar char=""/>
              <a:tabLst>
                <a:tab pos="984250" algn="l"/>
              </a:tabLst>
            </a:pPr>
            <a:r>
              <a:rPr sz="3000" spc="-5" dirty="0">
                <a:latin typeface="Times New Roman"/>
                <a:cs typeface="Times New Roman"/>
              </a:rPr>
              <a:t>Si </a:t>
            </a:r>
            <a:r>
              <a:rPr sz="3000" dirty="0">
                <a:latin typeface="Times New Roman"/>
                <a:cs typeface="Times New Roman"/>
              </a:rPr>
              <a:t>compteur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dirty="0">
                <a:latin typeface="Times New Roman"/>
                <a:cs typeface="Times New Roman"/>
              </a:rPr>
              <a:t>&lt;= à finale dans le cas </a:t>
            </a:r>
            <a:r>
              <a:rPr sz="3000" spc="-5" dirty="0">
                <a:latin typeface="Times New Roman"/>
                <a:cs typeface="Times New Roman"/>
              </a:rPr>
              <a:t>d'un </a:t>
            </a:r>
            <a:r>
              <a:rPr lang="en-US" sz="3000" b="1" spc="-5" dirty="0">
                <a:latin typeface="Times New Roman"/>
                <a:cs typeface="Times New Roman"/>
              </a:rPr>
              <a:t>P</a:t>
            </a:r>
            <a:r>
              <a:rPr sz="3000" b="1" spc="-5" dirty="0">
                <a:latin typeface="Times New Roman"/>
                <a:cs typeface="Times New Roman"/>
              </a:rPr>
              <a:t>as </a:t>
            </a:r>
            <a:r>
              <a:rPr sz="3000" spc="-5" dirty="0">
                <a:latin typeface="Times New Roman"/>
                <a:cs typeface="Times New Roman"/>
              </a:rPr>
              <a:t>positif </a:t>
            </a:r>
            <a:r>
              <a:rPr sz="3000" dirty="0">
                <a:latin typeface="Times New Roman"/>
                <a:cs typeface="Times New Roman"/>
              </a:rPr>
              <a:t>(ou </a:t>
            </a:r>
            <a:r>
              <a:rPr sz="3000" spc="-10" dirty="0">
                <a:latin typeface="Times New Roman"/>
                <a:cs typeface="Times New Roman"/>
              </a:rPr>
              <a:t>si  </a:t>
            </a:r>
            <a:r>
              <a:rPr sz="3000" dirty="0">
                <a:latin typeface="Times New Roman"/>
                <a:cs typeface="Times New Roman"/>
              </a:rPr>
              <a:t>compteur </a:t>
            </a:r>
            <a:r>
              <a:rPr sz="3000" spc="-5" dirty="0">
                <a:latin typeface="Times New Roman"/>
                <a:cs typeface="Times New Roman"/>
              </a:rPr>
              <a:t>est &gt;= </a:t>
            </a:r>
            <a:r>
              <a:rPr sz="3000" dirty="0">
                <a:latin typeface="Times New Roman"/>
                <a:cs typeface="Times New Roman"/>
              </a:rPr>
              <a:t>à finale pour un </a:t>
            </a:r>
            <a:r>
              <a:rPr lang="en-US" sz="3000" b="1" spc="-5" dirty="0">
                <a:latin typeface="Times New Roman"/>
                <a:cs typeface="Times New Roman"/>
              </a:rPr>
              <a:t>P</a:t>
            </a:r>
            <a:r>
              <a:rPr sz="3000" b="1" spc="-5" dirty="0">
                <a:latin typeface="Times New Roman"/>
                <a:cs typeface="Times New Roman"/>
              </a:rPr>
              <a:t>as </a:t>
            </a:r>
            <a:r>
              <a:rPr sz="3000" dirty="0">
                <a:latin typeface="Times New Roman"/>
                <a:cs typeface="Times New Roman"/>
              </a:rPr>
              <a:t>négatif), </a:t>
            </a:r>
            <a:r>
              <a:rPr sz="3000" spc="-5" dirty="0">
                <a:latin typeface="Times New Roman"/>
                <a:cs typeface="Times New Roman"/>
              </a:rPr>
              <a:t>instructions  seront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exécutées.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9965" y="876536"/>
            <a:ext cx="318833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/>
              <a:t>La </a:t>
            </a:r>
            <a:r>
              <a:rPr sz="3100" spc="-5" dirty="0"/>
              <a:t>boucle </a:t>
            </a:r>
            <a:r>
              <a:rPr sz="3100" dirty="0"/>
              <a:t>« Pour</a:t>
            </a:r>
            <a:r>
              <a:rPr sz="3100" spc="-160" dirty="0"/>
              <a:t> </a:t>
            </a:r>
            <a:r>
              <a:rPr sz="3100" dirty="0"/>
              <a:t>»</a:t>
            </a:r>
            <a:endParaRPr sz="3100"/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32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6421" y="1579374"/>
            <a:ext cx="10344150" cy="2951480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3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Déroulement </a:t>
            </a:r>
            <a:r>
              <a:rPr sz="3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des boucles Pour</a:t>
            </a:r>
            <a:r>
              <a:rPr sz="30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(suite)</a:t>
            </a:r>
            <a:endParaRPr sz="3000" dirty="0">
              <a:latin typeface="Times New Roman"/>
              <a:cs typeface="Times New Roman"/>
            </a:endParaRPr>
          </a:p>
          <a:p>
            <a:pPr marL="527050" marR="5080" indent="-514350">
              <a:lnSpc>
                <a:spcPct val="100000"/>
              </a:lnSpc>
              <a:spcBef>
                <a:spcPts val="1920"/>
              </a:spcBef>
              <a:buFont typeface="Wingdings"/>
              <a:buChar char=""/>
              <a:tabLst>
                <a:tab pos="526415" algn="l"/>
                <a:tab pos="527050" algn="l"/>
              </a:tabLst>
            </a:pPr>
            <a:r>
              <a:rPr sz="3000" spc="-5" dirty="0">
                <a:latin typeface="Times New Roman"/>
                <a:cs typeface="Times New Roman"/>
              </a:rPr>
              <a:t>Ensuite, </a:t>
            </a:r>
            <a:r>
              <a:rPr sz="3000" dirty="0">
                <a:latin typeface="Times New Roman"/>
                <a:cs typeface="Times New Roman"/>
              </a:rPr>
              <a:t>la valeur du compteur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dirty="0">
                <a:latin typeface="Times New Roman"/>
                <a:cs typeface="Times New Roman"/>
              </a:rPr>
              <a:t>incrémentée de la valeur du  </a:t>
            </a:r>
            <a:r>
              <a:rPr lang="en-US" sz="3000" b="1" spc="-5" dirty="0">
                <a:latin typeface="Times New Roman"/>
                <a:cs typeface="Times New Roman"/>
              </a:rPr>
              <a:t>P</a:t>
            </a:r>
            <a:r>
              <a:rPr sz="3000" b="1" spc="-5" dirty="0">
                <a:latin typeface="Times New Roman"/>
                <a:cs typeface="Times New Roman"/>
              </a:rPr>
              <a:t>as </a:t>
            </a:r>
            <a:r>
              <a:rPr sz="3000" spc="-5" dirty="0">
                <a:latin typeface="Times New Roman"/>
                <a:cs typeface="Times New Roman"/>
              </a:rPr>
              <a:t>si pas est positif </a:t>
            </a:r>
            <a:r>
              <a:rPr sz="3000" dirty="0">
                <a:latin typeface="Times New Roman"/>
                <a:cs typeface="Times New Roman"/>
              </a:rPr>
              <a:t>(ou décrémenté </a:t>
            </a:r>
            <a:r>
              <a:rPr sz="3000" spc="-5" dirty="0">
                <a:latin typeface="Times New Roman"/>
                <a:cs typeface="Times New Roman"/>
              </a:rPr>
              <a:t>si pas est</a:t>
            </a:r>
            <a:r>
              <a:rPr sz="3000" spc="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négatif).</a:t>
            </a:r>
          </a:p>
          <a:p>
            <a:pPr marL="526415" marR="6350" indent="-5143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526415" algn="l"/>
                <a:tab pos="527050" algn="l"/>
              </a:tabLst>
            </a:pPr>
            <a:r>
              <a:rPr sz="3000" spc="-5" dirty="0">
                <a:latin typeface="Times New Roman"/>
                <a:cs typeface="Times New Roman"/>
              </a:rPr>
              <a:t>On </a:t>
            </a:r>
            <a:r>
              <a:rPr sz="3000" dirty="0">
                <a:latin typeface="Times New Roman"/>
                <a:cs typeface="Times New Roman"/>
              </a:rPr>
              <a:t>recommence l'étape 2 : La comparaison entre compteur et  finale </a:t>
            </a:r>
            <a:r>
              <a:rPr sz="3000" spc="-5" dirty="0">
                <a:latin typeface="Times New Roman"/>
                <a:cs typeface="Times New Roman"/>
              </a:rPr>
              <a:t>est </a:t>
            </a:r>
            <a:r>
              <a:rPr sz="3000" dirty="0">
                <a:latin typeface="Times New Roman"/>
                <a:cs typeface="Times New Roman"/>
              </a:rPr>
              <a:t>de nouveau </a:t>
            </a:r>
            <a:r>
              <a:rPr sz="3000" spc="-10" dirty="0">
                <a:latin typeface="Times New Roman"/>
                <a:cs typeface="Times New Roman"/>
              </a:rPr>
              <a:t>effectuée, </a:t>
            </a:r>
            <a:r>
              <a:rPr sz="3000" dirty="0">
                <a:latin typeface="Times New Roman"/>
                <a:cs typeface="Times New Roman"/>
              </a:rPr>
              <a:t>et ainsi de </a:t>
            </a:r>
            <a:r>
              <a:rPr sz="3000" spc="-5" dirty="0">
                <a:latin typeface="Times New Roman"/>
                <a:cs typeface="Times New Roman"/>
              </a:rPr>
              <a:t>suite</a:t>
            </a:r>
            <a:r>
              <a:rPr sz="3000" spc="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8527" y="735777"/>
            <a:ext cx="318833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/>
              <a:t>La </a:t>
            </a:r>
            <a:r>
              <a:rPr sz="3100" spc="-5" dirty="0"/>
              <a:t>boucle </a:t>
            </a:r>
            <a:r>
              <a:rPr sz="3100" dirty="0"/>
              <a:t>« Pour</a:t>
            </a:r>
            <a:r>
              <a:rPr sz="3100" spc="-160" dirty="0"/>
              <a:t> </a:t>
            </a:r>
            <a:r>
              <a:rPr sz="3100" dirty="0"/>
              <a:t>»</a:t>
            </a:r>
            <a:endParaRPr sz="3100"/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33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6421" y="1306687"/>
            <a:ext cx="10343515" cy="5157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0" marR="5080" indent="-514984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Exemple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1: </a:t>
            </a:r>
            <a:r>
              <a:rPr sz="2800" spc="-5" dirty="0">
                <a:latin typeface="Times New Roman"/>
                <a:cs typeface="Times New Roman"/>
              </a:rPr>
              <a:t>Calcul de </a:t>
            </a:r>
            <a:r>
              <a:rPr sz="2800" dirty="0">
                <a:latin typeface="Times New Roman"/>
                <a:cs typeface="Times New Roman"/>
              </a:rPr>
              <a:t>x à </a:t>
            </a:r>
            <a:r>
              <a:rPr sz="2800" spc="-5" dirty="0">
                <a:latin typeface="Times New Roman"/>
                <a:cs typeface="Times New Roman"/>
              </a:rPr>
              <a:t>la puissance </a:t>
            </a:r>
            <a:r>
              <a:rPr sz="2800" dirty="0">
                <a:latin typeface="Times New Roman"/>
                <a:cs typeface="Times New Roman"/>
              </a:rPr>
              <a:t>n </a:t>
            </a:r>
            <a:r>
              <a:rPr sz="2800" spc="-5" dirty="0">
                <a:latin typeface="Times New Roman"/>
                <a:cs typeface="Times New Roman"/>
              </a:rPr>
              <a:t>où </a:t>
            </a:r>
            <a:r>
              <a:rPr sz="2800" dirty="0">
                <a:latin typeface="Times New Roman"/>
                <a:cs typeface="Times New Roman"/>
              </a:rPr>
              <a:t>x </a:t>
            </a:r>
            <a:r>
              <a:rPr sz="2800" spc="-5" dirty="0">
                <a:latin typeface="Times New Roman"/>
                <a:cs typeface="Times New Roman"/>
              </a:rPr>
              <a:t>est </a:t>
            </a:r>
            <a:r>
              <a:rPr sz="2800" dirty="0">
                <a:latin typeface="Times New Roman"/>
                <a:cs typeface="Times New Roman"/>
              </a:rPr>
              <a:t>un </a:t>
            </a:r>
            <a:r>
              <a:rPr sz="2800" spc="-10" dirty="0">
                <a:latin typeface="Times New Roman"/>
                <a:cs typeface="Times New Roman"/>
              </a:rPr>
              <a:t>réel </a:t>
            </a:r>
            <a:r>
              <a:rPr sz="2800" spc="-5" dirty="0">
                <a:latin typeface="Times New Roman"/>
                <a:cs typeface="Times New Roman"/>
              </a:rPr>
              <a:t>non nul et </a:t>
            </a:r>
            <a:r>
              <a:rPr sz="2800" dirty="0">
                <a:latin typeface="Times New Roman"/>
                <a:cs typeface="Times New Roman"/>
              </a:rPr>
              <a:t>n </a:t>
            </a:r>
            <a:r>
              <a:rPr sz="2800" spc="-5" dirty="0">
                <a:latin typeface="Times New Roman"/>
                <a:cs typeface="Times New Roman"/>
              </a:rPr>
              <a:t>un  entier </a:t>
            </a:r>
            <a:r>
              <a:rPr sz="2800" dirty="0" err="1">
                <a:latin typeface="Times New Roman"/>
                <a:cs typeface="Times New Roman"/>
              </a:rPr>
              <a:t>positif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dirty="0" err="1">
                <a:latin typeface="Times New Roman"/>
                <a:cs typeface="Times New Roman"/>
              </a:rPr>
              <a:t>ou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 err="1">
                <a:latin typeface="Times New Roman"/>
                <a:cs typeface="Times New Roman"/>
              </a:rPr>
              <a:t>nul</a:t>
            </a:r>
            <a:endParaRPr sz="2800" dirty="0">
              <a:latin typeface="Times New Roman"/>
              <a:cs typeface="Times New Roman"/>
            </a:endParaRPr>
          </a:p>
          <a:p>
            <a:pPr marL="1384300">
              <a:lnSpc>
                <a:spcPct val="100000"/>
              </a:lnSpc>
            </a:pPr>
            <a:r>
              <a:rPr sz="2500" spc="-40" dirty="0">
                <a:latin typeface="Times New Roman"/>
                <a:cs typeface="Times New Roman"/>
              </a:rPr>
              <a:t>Variables </a:t>
            </a:r>
            <a:r>
              <a:rPr sz="2500" dirty="0">
                <a:latin typeface="Times New Roman"/>
                <a:cs typeface="Times New Roman"/>
              </a:rPr>
              <a:t>x, puiss : </a:t>
            </a:r>
            <a:r>
              <a:rPr sz="2500" spc="-5" dirty="0" err="1">
                <a:latin typeface="Times New Roman"/>
                <a:cs typeface="Times New Roman"/>
              </a:rPr>
              <a:t>réel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endParaRPr lang="fr-FR" sz="2500" spc="-5" dirty="0">
              <a:latin typeface="Times New Roman"/>
              <a:cs typeface="Times New Roman"/>
            </a:endParaRPr>
          </a:p>
          <a:p>
            <a:pPr marL="1384300">
              <a:lnSpc>
                <a:spcPct val="100000"/>
              </a:lnSpc>
            </a:pPr>
            <a:r>
              <a:rPr lang="fr-FR" sz="2500" spc="-5" dirty="0">
                <a:latin typeface="Times New Roman"/>
                <a:cs typeface="Times New Roman"/>
              </a:rPr>
              <a:t>                       </a:t>
            </a:r>
            <a:r>
              <a:rPr sz="2500" dirty="0">
                <a:latin typeface="Times New Roman"/>
                <a:cs typeface="Times New Roman"/>
              </a:rPr>
              <a:t>n, i :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entier</a:t>
            </a:r>
            <a:endParaRPr sz="2500" dirty="0">
              <a:latin typeface="Times New Roman"/>
              <a:cs typeface="Times New Roman"/>
            </a:endParaRPr>
          </a:p>
          <a:p>
            <a:pPr marL="1384300">
              <a:lnSpc>
                <a:spcPct val="100000"/>
              </a:lnSpc>
            </a:pPr>
            <a:r>
              <a:rPr sz="2500" b="1" spc="-5" dirty="0">
                <a:latin typeface="Times New Roman"/>
                <a:cs typeface="Times New Roman"/>
              </a:rPr>
              <a:t>Debut</a:t>
            </a:r>
            <a:endParaRPr sz="2500" dirty="0">
              <a:latin typeface="Times New Roman"/>
              <a:cs typeface="Times New Roman"/>
            </a:endParaRPr>
          </a:p>
          <a:p>
            <a:pPr marL="1840864" marR="768985" indent="635">
              <a:lnSpc>
                <a:spcPct val="100000"/>
              </a:lnSpc>
            </a:pPr>
            <a:r>
              <a:rPr sz="2500" spc="-5" dirty="0">
                <a:latin typeface="Times New Roman"/>
                <a:cs typeface="Times New Roman"/>
              </a:rPr>
              <a:t>Ecrire </a:t>
            </a:r>
            <a:r>
              <a:rPr sz="2500" dirty="0">
                <a:latin typeface="Times New Roman"/>
                <a:cs typeface="Times New Roman"/>
              </a:rPr>
              <a:t>(" </a:t>
            </a:r>
            <a:r>
              <a:rPr sz="2500" spc="-5" dirty="0">
                <a:latin typeface="Times New Roman"/>
                <a:cs typeface="Times New Roman"/>
              </a:rPr>
              <a:t>Entrez respectivement les valeurs </a:t>
            </a:r>
            <a:r>
              <a:rPr sz="2500" dirty="0">
                <a:latin typeface="Times New Roman"/>
                <a:cs typeface="Times New Roman"/>
              </a:rPr>
              <a:t>de x </a:t>
            </a:r>
            <a:r>
              <a:rPr sz="2500" spc="-5" dirty="0">
                <a:latin typeface="Times New Roman"/>
                <a:cs typeface="Times New Roman"/>
              </a:rPr>
              <a:t>et </a:t>
            </a:r>
            <a:r>
              <a:rPr sz="2500" dirty="0">
                <a:latin typeface="Times New Roman"/>
                <a:cs typeface="Times New Roman"/>
              </a:rPr>
              <a:t>n ")  </a:t>
            </a:r>
            <a:endParaRPr lang="fr-FR" sz="2500" dirty="0">
              <a:latin typeface="Times New Roman"/>
              <a:cs typeface="Times New Roman"/>
            </a:endParaRPr>
          </a:p>
          <a:p>
            <a:pPr marL="1840864" marR="768985" indent="635">
              <a:lnSpc>
                <a:spcPct val="100000"/>
              </a:lnSpc>
            </a:pPr>
            <a:r>
              <a:rPr sz="2500" spc="-5" dirty="0">
                <a:latin typeface="Times New Roman"/>
                <a:cs typeface="Times New Roman"/>
              </a:rPr>
              <a:t>Lire </a:t>
            </a:r>
            <a:r>
              <a:rPr sz="2500" dirty="0">
                <a:latin typeface="Times New Roman"/>
                <a:cs typeface="Times New Roman"/>
              </a:rPr>
              <a:t>(x,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n)</a:t>
            </a:r>
          </a:p>
          <a:p>
            <a:pPr marL="1840864">
              <a:lnSpc>
                <a:spcPct val="100000"/>
              </a:lnSpc>
            </a:pPr>
            <a:r>
              <a:rPr sz="2500" dirty="0">
                <a:latin typeface="Times New Roman"/>
                <a:cs typeface="Times New Roman"/>
              </a:rPr>
              <a:t>puiss ←</a:t>
            </a:r>
            <a:r>
              <a:rPr sz="2500" spc="-1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1</a:t>
            </a:r>
          </a:p>
          <a:p>
            <a:pPr marL="1840230" marR="5360035">
              <a:lnSpc>
                <a:spcPct val="100000"/>
              </a:lnSpc>
            </a:pPr>
            <a:r>
              <a:rPr sz="2500" b="1" spc="-5" dirty="0">
                <a:latin typeface="Times New Roman"/>
                <a:cs typeface="Times New Roman"/>
              </a:rPr>
              <a:t>Pour </a:t>
            </a:r>
            <a:r>
              <a:rPr sz="2500" dirty="0">
                <a:latin typeface="Times New Roman"/>
                <a:cs typeface="Times New Roman"/>
              </a:rPr>
              <a:t>i </a:t>
            </a:r>
            <a:r>
              <a:rPr lang="fr-FR" sz="2500" dirty="0">
                <a:latin typeface="Times New Roman"/>
                <a:cs typeface="Times New Roman"/>
              </a:rPr>
              <a:t>←</a:t>
            </a:r>
            <a:r>
              <a:rPr sz="2500" b="1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1 </a:t>
            </a:r>
            <a:r>
              <a:rPr sz="2500" b="1" dirty="0">
                <a:latin typeface="Times New Roman"/>
                <a:cs typeface="Times New Roman"/>
              </a:rPr>
              <a:t>à</a:t>
            </a:r>
            <a:r>
              <a:rPr lang="fr-FR" sz="2500" b="1" dirty="0">
                <a:latin typeface="Times New Roman"/>
                <a:cs typeface="Times New Roman"/>
              </a:rPr>
              <a:t> </a:t>
            </a:r>
            <a:r>
              <a:rPr sz="2500" b="1" spc="-1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 </a:t>
            </a:r>
            <a:r>
              <a:rPr lang="fr-FR" sz="2500" b="1" dirty="0">
                <a:latin typeface="Times New Roman"/>
                <a:cs typeface="Times New Roman"/>
              </a:rPr>
              <a:t>faire</a:t>
            </a:r>
            <a:r>
              <a:rPr lang="fr-FR" sz="2500" dirty="0">
                <a:latin typeface="Times New Roman"/>
                <a:cs typeface="Times New Roman"/>
              </a:rPr>
              <a:t>    </a:t>
            </a:r>
            <a:r>
              <a:rPr sz="2500" dirty="0" err="1">
                <a:latin typeface="Times New Roman"/>
                <a:cs typeface="Times New Roman"/>
              </a:rPr>
              <a:t>puiss</a:t>
            </a:r>
            <a:r>
              <a:rPr sz="2500" dirty="0">
                <a:latin typeface="Times New Roman"/>
                <a:cs typeface="Times New Roman"/>
              </a:rPr>
              <a:t>← </a:t>
            </a:r>
            <a:r>
              <a:rPr sz="2500" spc="-5" dirty="0">
                <a:latin typeface="Times New Roman"/>
                <a:cs typeface="Times New Roman"/>
              </a:rPr>
              <a:t>puiss*x  </a:t>
            </a:r>
            <a:r>
              <a:rPr sz="2500" b="1" spc="-5" dirty="0">
                <a:latin typeface="Times New Roman"/>
                <a:cs typeface="Times New Roman"/>
              </a:rPr>
              <a:t>FinPour</a:t>
            </a:r>
            <a:endParaRPr sz="2500" dirty="0">
              <a:latin typeface="Times New Roman"/>
              <a:cs typeface="Times New Roman"/>
            </a:endParaRPr>
          </a:p>
          <a:p>
            <a:pPr marL="1840230">
              <a:lnSpc>
                <a:spcPts val="3360"/>
              </a:lnSpc>
            </a:pPr>
            <a:r>
              <a:rPr sz="2500" spc="-5" dirty="0">
                <a:latin typeface="Times New Roman"/>
                <a:cs typeface="Times New Roman"/>
              </a:rPr>
              <a:t>Ecrire </a:t>
            </a:r>
            <a:r>
              <a:rPr sz="2500" dirty="0">
                <a:latin typeface="Times New Roman"/>
                <a:cs typeface="Times New Roman"/>
              </a:rPr>
              <a:t>(x, " à la </a:t>
            </a:r>
            <a:r>
              <a:rPr sz="2500" spc="-5" dirty="0">
                <a:latin typeface="Times New Roman"/>
                <a:cs typeface="Times New Roman"/>
              </a:rPr>
              <a:t>puissance </a:t>
            </a:r>
            <a:r>
              <a:rPr sz="2500" dirty="0">
                <a:latin typeface="Times New Roman"/>
                <a:cs typeface="Times New Roman"/>
              </a:rPr>
              <a:t>", n, " </a:t>
            </a:r>
            <a:r>
              <a:rPr sz="2500" spc="-5" dirty="0">
                <a:latin typeface="Times New Roman"/>
                <a:cs typeface="Times New Roman"/>
              </a:rPr>
              <a:t>est égal </a:t>
            </a:r>
            <a:r>
              <a:rPr sz="2500" dirty="0">
                <a:latin typeface="Times New Roman"/>
                <a:cs typeface="Times New Roman"/>
              </a:rPr>
              <a:t>à ",</a:t>
            </a:r>
            <a:r>
              <a:rPr sz="2500" spc="-1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puiss)</a:t>
            </a:r>
          </a:p>
          <a:p>
            <a:pPr marL="1383665">
              <a:lnSpc>
                <a:spcPct val="100000"/>
              </a:lnSpc>
            </a:pPr>
            <a:r>
              <a:rPr sz="2500" b="1" spc="-5" dirty="0">
                <a:latin typeface="Times New Roman"/>
                <a:cs typeface="Times New Roman"/>
              </a:rPr>
              <a:t>Fin</a:t>
            </a:r>
            <a:endParaRPr sz="2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8527" y="685800"/>
            <a:ext cx="318833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/>
              <a:t>La </a:t>
            </a:r>
            <a:r>
              <a:rPr sz="3100" spc="-5" dirty="0"/>
              <a:t>boucle </a:t>
            </a:r>
            <a:r>
              <a:rPr sz="3100" dirty="0"/>
              <a:t>« Pour</a:t>
            </a:r>
            <a:r>
              <a:rPr sz="3100" spc="-160" dirty="0"/>
              <a:t> </a:t>
            </a:r>
            <a:r>
              <a:rPr sz="3100" dirty="0"/>
              <a:t>»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34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6421" y="1015043"/>
            <a:ext cx="10343515" cy="5614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0" marR="5080" indent="-514984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Exemple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2: </a:t>
            </a:r>
            <a:r>
              <a:rPr sz="2800" spc="-5" dirty="0">
                <a:latin typeface="Times New Roman"/>
                <a:cs typeface="Times New Roman"/>
              </a:rPr>
              <a:t>Calcul de </a:t>
            </a:r>
            <a:r>
              <a:rPr sz="2800" dirty="0">
                <a:latin typeface="Times New Roman"/>
                <a:cs typeface="Times New Roman"/>
              </a:rPr>
              <a:t>x à </a:t>
            </a:r>
            <a:r>
              <a:rPr sz="2800" spc="-5" dirty="0">
                <a:latin typeface="Times New Roman"/>
                <a:cs typeface="Times New Roman"/>
              </a:rPr>
              <a:t>la puissance </a:t>
            </a:r>
            <a:r>
              <a:rPr sz="2800" dirty="0">
                <a:latin typeface="Times New Roman"/>
                <a:cs typeface="Times New Roman"/>
              </a:rPr>
              <a:t>n </a:t>
            </a:r>
            <a:r>
              <a:rPr sz="2800" spc="-5" dirty="0">
                <a:latin typeface="Times New Roman"/>
                <a:cs typeface="Times New Roman"/>
              </a:rPr>
              <a:t>où </a:t>
            </a:r>
            <a:r>
              <a:rPr sz="2800" dirty="0">
                <a:latin typeface="Times New Roman"/>
                <a:cs typeface="Times New Roman"/>
              </a:rPr>
              <a:t>x </a:t>
            </a:r>
            <a:r>
              <a:rPr sz="2800" spc="-5" dirty="0">
                <a:latin typeface="Times New Roman"/>
                <a:cs typeface="Times New Roman"/>
              </a:rPr>
              <a:t>est </a:t>
            </a:r>
            <a:r>
              <a:rPr sz="2800" dirty="0">
                <a:latin typeface="Times New Roman"/>
                <a:cs typeface="Times New Roman"/>
              </a:rPr>
              <a:t>un </a:t>
            </a:r>
            <a:r>
              <a:rPr sz="2800" spc="-10" dirty="0">
                <a:latin typeface="Times New Roman"/>
                <a:cs typeface="Times New Roman"/>
              </a:rPr>
              <a:t>réel </a:t>
            </a:r>
            <a:r>
              <a:rPr sz="2800" spc="-5" dirty="0">
                <a:latin typeface="Times New Roman"/>
                <a:cs typeface="Times New Roman"/>
              </a:rPr>
              <a:t>non nul et </a:t>
            </a:r>
            <a:r>
              <a:rPr sz="2800" dirty="0">
                <a:latin typeface="Times New Roman"/>
                <a:cs typeface="Times New Roman"/>
              </a:rPr>
              <a:t>n </a:t>
            </a:r>
            <a:r>
              <a:rPr sz="2800" spc="-5" dirty="0">
                <a:latin typeface="Times New Roman"/>
                <a:cs typeface="Times New Roman"/>
              </a:rPr>
              <a:t>un  entier </a:t>
            </a:r>
            <a:r>
              <a:rPr sz="2800" dirty="0">
                <a:latin typeface="Times New Roman"/>
                <a:cs typeface="Times New Roman"/>
              </a:rPr>
              <a:t>positif ou nul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(forme 2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avec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un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pas</a:t>
            </a:r>
            <a:r>
              <a:rPr sz="28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négatif)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800" spc="-40" dirty="0">
                <a:latin typeface="Times New Roman"/>
                <a:cs typeface="Times New Roman"/>
              </a:rPr>
              <a:t>Variables </a:t>
            </a:r>
            <a:r>
              <a:rPr lang="fr-FR" sz="2800" spc="-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x, puiss : </a:t>
            </a:r>
            <a:r>
              <a:rPr sz="2800" spc="-5" dirty="0" err="1">
                <a:latin typeface="Times New Roman"/>
                <a:cs typeface="Times New Roman"/>
              </a:rPr>
              <a:t>réel</a:t>
            </a:r>
            <a:endParaRPr lang="fr-FR" sz="2800" spc="-5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lang="fr-FR" sz="2800" spc="-5" dirty="0">
                <a:latin typeface="Times New Roman"/>
                <a:cs typeface="Times New Roman"/>
              </a:rPr>
              <a:t>	       </a:t>
            </a:r>
            <a:r>
              <a:rPr sz="2800" dirty="0">
                <a:latin typeface="Times New Roman"/>
                <a:cs typeface="Times New Roman"/>
              </a:rPr>
              <a:t>n, i :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entier</a:t>
            </a:r>
            <a:endParaRPr sz="28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800" b="1" spc="-5" dirty="0">
                <a:latin typeface="Times New Roman"/>
                <a:cs typeface="Times New Roman"/>
              </a:rPr>
              <a:t>Début</a:t>
            </a:r>
            <a:endParaRPr sz="2800" dirty="0">
              <a:latin typeface="Times New Roman"/>
              <a:cs typeface="Times New Roman"/>
            </a:endParaRPr>
          </a:p>
          <a:p>
            <a:pPr marL="1383665" marR="1226185" indent="635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Ecrire </a:t>
            </a:r>
            <a:r>
              <a:rPr sz="2800" dirty="0">
                <a:latin typeface="Times New Roman"/>
                <a:cs typeface="Times New Roman"/>
              </a:rPr>
              <a:t>(" </a:t>
            </a:r>
            <a:r>
              <a:rPr sz="2800" spc="-5" dirty="0">
                <a:latin typeface="Times New Roman"/>
                <a:cs typeface="Times New Roman"/>
              </a:rPr>
              <a:t>Entrez respectivement les valeurs </a:t>
            </a:r>
            <a:r>
              <a:rPr sz="2800" dirty="0">
                <a:latin typeface="Times New Roman"/>
                <a:cs typeface="Times New Roman"/>
              </a:rPr>
              <a:t>de x </a:t>
            </a:r>
            <a:r>
              <a:rPr sz="2800" spc="-5" dirty="0">
                <a:latin typeface="Times New Roman"/>
                <a:cs typeface="Times New Roman"/>
              </a:rPr>
              <a:t>et </a:t>
            </a:r>
            <a:r>
              <a:rPr sz="2800" dirty="0">
                <a:latin typeface="Times New Roman"/>
                <a:cs typeface="Times New Roman"/>
              </a:rPr>
              <a:t>n ")  </a:t>
            </a:r>
            <a:r>
              <a:rPr sz="2800" spc="-5" dirty="0">
                <a:latin typeface="Times New Roman"/>
                <a:cs typeface="Times New Roman"/>
              </a:rPr>
              <a:t>Lire </a:t>
            </a:r>
            <a:r>
              <a:rPr sz="2800" dirty="0">
                <a:latin typeface="Times New Roman"/>
                <a:cs typeface="Times New Roman"/>
              </a:rPr>
              <a:t>(x,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n)</a:t>
            </a:r>
          </a:p>
          <a:p>
            <a:pPr marL="138366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puiss ←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</a:p>
          <a:p>
            <a:pPr marL="1383030" marR="4212590" indent="635">
              <a:lnSpc>
                <a:spcPct val="100000"/>
              </a:lnSpc>
            </a:pPr>
            <a:r>
              <a:rPr sz="2800" b="1" spc="-5" dirty="0">
                <a:latin typeface="Times New Roman"/>
                <a:cs typeface="Times New Roman"/>
              </a:rPr>
              <a:t>Pour </a:t>
            </a:r>
            <a:r>
              <a:rPr sz="2800" dirty="0">
                <a:latin typeface="Times New Roman"/>
                <a:cs typeface="Times New Roman"/>
              </a:rPr>
              <a:t>i </a:t>
            </a:r>
            <a:r>
              <a:rPr lang="fr-FR" sz="2800" dirty="0">
                <a:latin typeface="Times New Roman"/>
                <a:cs typeface="Times New Roman"/>
              </a:rPr>
              <a:t>←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 </a:t>
            </a:r>
            <a:r>
              <a:rPr sz="2800" b="1" dirty="0">
                <a:latin typeface="Times New Roman"/>
                <a:cs typeface="Times New Roman"/>
              </a:rPr>
              <a:t>à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 pas</a:t>
            </a:r>
            <a:r>
              <a:rPr sz="2800" b="1" spc="-2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-1 </a:t>
            </a:r>
            <a:r>
              <a:rPr lang="fr-FR" sz="2800" b="1" dirty="0">
                <a:latin typeface="Times New Roman"/>
                <a:cs typeface="Times New Roman"/>
              </a:rPr>
              <a:t>faire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endParaRPr lang="fr-FR" sz="2800" b="1" dirty="0">
              <a:latin typeface="Times New Roman"/>
              <a:cs typeface="Times New Roman"/>
            </a:endParaRPr>
          </a:p>
          <a:p>
            <a:pPr marL="1383030" marR="4212590" indent="635">
              <a:lnSpc>
                <a:spcPct val="100000"/>
              </a:lnSpc>
            </a:pPr>
            <a:r>
              <a:rPr sz="2800" dirty="0" err="1">
                <a:latin typeface="Times New Roman"/>
                <a:cs typeface="Times New Roman"/>
              </a:rPr>
              <a:t>puiss</a:t>
            </a:r>
            <a:r>
              <a:rPr sz="2800" dirty="0">
                <a:latin typeface="Times New Roman"/>
                <a:cs typeface="Times New Roman"/>
              </a:rPr>
              <a:t>←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puiss*x</a:t>
            </a:r>
            <a:endParaRPr sz="2800" dirty="0">
              <a:latin typeface="Times New Roman"/>
              <a:cs typeface="Times New Roman"/>
            </a:endParaRPr>
          </a:p>
          <a:p>
            <a:pPr marL="1383030">
              <a:lnSpc>
                <a:spcPct val="100000"/>
              </a:lnSpc>
            </a:pPr>
            <a:r>
              <a:rPr sz="2800" b="1" spc="-5" dirty="0">
                <a:latin typeface="Times New Roman"/>
                <a:cs typeface="Times New Roman"/>
              </a:rPr>
              <a:t>FinPour</a:t>
            </a:r>
            <a:endParaRPr sz="2800" dirty="0">
              <a:latin typeface="Times New Roman"/>
              <a:cs typeface="Times New Roman"/>
            </a:endParaRPr>
          </a:p>
          <a:p>
            <a:pPr marL="138303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Ecrire </a:t>
            </a:r>
            <a:r>
              <a:rPr sz="2800" dirty="0">
                <a:latin typeface="Times New Roman"/>
                <a:cs typeface="Times New Roman"/>
              </a:rPr>
              <a:t>(x, " à la </a:t>
            </a:r>
            <a:r>
              <a:rPr sz="2800" spc="-5" dirty="0">
                <a:latin typeface="Times New Roman"/>
                <a:cs typeface="Times New Roman"/>
              </a:rPr>
              <a:t>puissance </a:t>
            </a:r>
            <a:r>
              <a:rPr sz="2800" dirty="0">
                <a:latin typeface="Times New Roman"/>
                <a:cs typeface="Times New Roman"/>
              </a:rPr>
              <a:t>", n, " </a:t>
            </a:r>
            <a:r>
              <a:rPr sz="2800" spc="-5" dirty="0">
                <a:latin typeface="Times New Roman"/>
                <a:cs typeface="Times New Roman"/>
              </a:rPr>
              <a:t>est égal </a:t>
            </a:r>
            <a:r>
              <a:rPr sz="2800" dirty="0">
                <a:latin typeface="Times New Roman"/>
                <a:cs typeface="Times New Roman"/>
              </a:rPr>
              <a:t>à ",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puiss)</a:t>
            </a:r>
          </a:p>
          <a:p>
            <a:pPr marL="925830">
              <a:lnSpc>
                <a:spcPct val="100000"/>
              </a:lnSpc>
            </a:pPr>
            <a:r>
              <a:rPr sz="2800" b="1" spc="-5" dirty="0">
                <a:latin typeface="Times New Roman"/>
                <a:cs typeface="Times New Roman"/>
              </a:rPr>
              <a:t>Fin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8527" y="735777"/>
            <a:ext cx="318833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/>
              <a:t>La </a:t>
            </a:r>
            <a:r>
              <a:rPr sz="3100" spc="-5" dirty="0"/>
              <a:t>boucle </a:t>
            </a:r>
            <a:r>
              <a:rPr sz="3100" dirty="0"/>
              <a:t>« Pour</a:t>
            </a:r>
            <a:r>
              <a:rPr sz="3100" spc="-160" dirty="0"/>
              <a:t> </a:t>
            </a:r>
            <a:r>
              <a:rPr sz="3100" dirty="0"/>
              <a:t>»</a:t>
            </a:r>
            <a:endParaRPr sz="3100"/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5049" y="1346160"/>
            <a:ext cx="9629140" cy="3013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  <a:buSzPct val="93333"/>
              <a:tabLst>
                <a:tab pos="473075" algn="l"/>
                <a:tab pos="473709" algn="l"/>
                <a:tab pos="902335" algn="l"/>
                <a:tab pos="1691005" algn="l"/>
                <a:tab pos="2757170" algn="l"/>
                <a:tab pos="3312795" algn="l"/>
                <a:tab pos="4822825" algn="l"/>
                <a:tab pos="5294630" algn="l"/>
                <a:tab pos="6443345" algn="l"/>
                <a:tab pos="7020559" algn="l"/>
                <a:tab pos="8656955" algn="l"/>
                <a:tab pos="9256395" algn="l"/>
              </a:tabLst>
            </a:pPr>
            <a:r>
              <a:rPr lang="fr-FR" sz="3000" b="1" dirty="0">
                <a:solidFill>
                  <a:srgbClr val="C00000"/>
                </a:solidFill>
                <a:latin typeface="Times New Roman"/>
                <a:cs typeface="Times New Roman"/>
              </a:rPr>
              <a:t>Remarque : </a:t>
            </a:r>
            <a:r>
              <a:rPr sz="3000" dirty="0">
                <a:latin typeface="Times New Roman"/>
                <a:cs typeface="Times New Roman"/>
              </a:rPr>
              <a:t>Il</a:t>
            </a:r>
            <a:r>
              <a:rPr lang="fr-FR" sz="3000" dirty="0">
                <a:latin typeface="Times New Roman"/>
                <a:cs typeface="Times New Roman"/>
              </a:rPr>
              <a:t> </a:t>
            </a:r>
            <a:r>
              <a:rPr sz="3000" spc="-5" dirty="0" err="1">
                <a:latin typeface="Times New Roman"/>
                <a:cs typeface="Times New Roman"/>
              </a:rPr>
              <a:t>f</a:t>
            </a:r>
            <a:r>
              <a:rPr sz="3000" dirty="0" err="1">
                <a:latin typeface="Times New Roman"/>
                <a:cs typeface="Times New Roman"/>
              </a:rPr>
              <a:t>a</a:t>
            </a:r>
            <a:r>
              <a:rPr sz="3000" spc="5" dirty="0" err="1">
                <a:latin typeface="Times New Roman"/>
                <a:cs typeface="Times New Roman"/>
              </a:rPr>
              <a:t>u</a:t>
            </a:r>
            <a:r>
              <a:rPr sz="3000" dirty="0" err="1">
                <a:latin typeface="Times New Roman"/>
                <a:cs typeface="Times New Roman"/>
              </a:rPr>
              <a:t>t</a:t>
            </a:r>
            <a:r>
              <a:rPr lang="fr-FR" sz="3000" dirty="0">
                <a:latin typeface="Times New Roman"/>
                <a:cs typeface="Times New Roman"/>
              </a:rPr>
              <a:t> </a:t>
            </a:r>
            <a:r>
              <a:rPr sz="30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é</a:t>
            </a:r>
            <a:r>
              <a:rPr sz="3000" b="1" spc="5" dirty="0" err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30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3000" b="1" spc="5" dirty="0" err="1">
                <a:solidFill>
                  <a:srgbClr val="FF0000"/>
                </a:solidFill>
                <a:latin typeface="Times New Roman"/>
                <a:cs typeface="Times New Roman"/>
              </a:rPr>
              <a:t>te</a:t>
            </a:r>
            <a:r>
              <a:rPr sz="30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fr-FR"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lang="fr-FR"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modif</a:t>
            </a:r>
            <a:r>
              <a:rPr sz="3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ie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fr-FR"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lang="fr-FR"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va</a:t>
            </a:r>
            <a:r>
              <a:rPr sz="3000" b="1" spc="5" dirty="0" err="1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30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eur</a:t>
            </a:r>
            <a:r>
              <a:rPr lang="fr-FR"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lang="fr-FR"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com</a:t>
            </a:r>
            <a:r>
              <a:rPr sz="3000" b="1" spc="5" dirty="0" err="1">
                <a:solidFill>
                  <a:srgbClr val="FF0000"/>
                </a:solidFill>
                <a:latin typeface="Times New Roman"/>
                <a:cs typeface="Times New Roman"/>
              </a:rPr>
              <a:t>pt</a:t>
            </a:r>
            <a:r>
              <a:rPr sz="30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eur</a:t>
            </a:r>
            <a:r>
              <a:rPr lang="fr-FR" sz="30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à l'intérieur de la boucle. </a:t>
            </a:r>
            <a:r>
              <a:rPr sz="3000" spc="-5" dirty="0">
                <a:latin typeface="Times New Roman"/>
                <a:cs typeface="Times New Roman"/>
              </a:rPr>
              <a:t>En </a:t>
            </a:r>
            <a:r>
              <a:rPr sz="3000" spc="-10" dirty="0">
                <a:latin typeface="Times New Roman"/>
                <a:cs typeface="Times New Roman"/>
              </a:rPr>
              <a:t>effet, </a:t>
            </a:r>
            <a:r>
              <a:rPr sz="3000" dirty="0" err="1">
                <a:latin typeface="Times New Roman"/>
                <a:cs typeface="Times New Roman"/>
              </a:rPr>
              <a:t>une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dirty="0" err="1">
                <a:latin typeface="Times New Roman"/>
                <a:cs typeface="Times New Roman"/>
              </a:rPr>
              <a:t>telle</a:t>
            </a:r>
            <a:r>
              <a:rPr lang="fr-FR" sz="30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action</a:t>
            </a:r>
            <a:r>
              <a:rPr sz="3000" spc="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:</a:t>
            </a:r>
          </a:p>
          <a:p>
            <a:pPr marL="984250" marR="5715" lvl="1" indent="-514350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1174115" algn="l"/>
                <a:tab pos="1174750" algn="l"/>
                <a:tab pos="2663190" algn="l"/>
                <a:tab pos="3136265" algn="l"/>
                <a:tab pos="4497705" algn="l"/>
                <a:tab pos="6374765" algn="l"/>
                <a:tab pos="7440295" algn="l"/>
                <a:tab pos="8124825" algn="l"/>
                <a:tab pos="8597265" algn="l"/>
              </a:tabLst>
            </a:pPr>
            <a:r>
              <a:rPr sz="3000" spc="-5" dirty="0" err="1">
                <a:latin typeface="Times New Roman"/>
                <a:cs typeface="Times New Roman"/>
              </a:rPr>
              <a:t>Perturbe</a:t>
            </a:r>
            <a:r>
              <a:rPr sz="3000" spc="-5" dirty="0">
                <a:latin typeface="Times New Roman"/>
                <a:cs typeface="Times New Roman"/>
              </a:rPr>
              <a:t>	</a:t>
            </a:r>
            <a:r>
              <a:rPr sz="3000" dirty="0">
                <a:latin typeface="Times New Roman"/>
                <a:cs typeface="Times New Roman"/>
              </a:rPr>
              <a:t>le	nombre 	 d'itérations	</a:t>
            </a:r>
            <a:r>
              <a:rPr sz="3000" dirty="0" err="1">
                <a:latin typeface="Times New Roman"/>
                <a:cs typeface="Times New Roman"/>
              </a:rPr>
              <a:t>prévu</a:t>
            </a:r>
            <a:r>
              <a:rPr sz="3000" dirty="0">
                <a:latin typeface="Times New Roman"/>
                <a:cs typeface="Times New Roman"/>
              </a:rPr>
              <a:t>	par	la	boucle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b="1" spc="-35" dirty="0">
                <a:latin typeface="Times New Roman"/>
                <a:cs typeface="Times New Roman"/>
              </a:rPr>
              <a:t>Pour</a:t>
            </a:r>
            <a:r>
              <a:rPr sz="3000" spc="-35" dirty="0">
                <a:latin typeface="Times New Roman"/>
                <a:cs typeface="Times New Roman"/>
              </a:rPr>
              <a:t>.</a:t>
            </a:r>
            <a:endParaRPr lang="fr-FR" sz="3000" spc="-35" dirty="0">
              <a:latin typeface="Times New Roman"/>
              <a:cs typeface="Times New Roman"/>
            </a:endParaRPr>
          </a:p>
          <a:p>
            <a:pPr marL="984250" marR="5715" lvl="1" indent="-514350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1174115" algn="l"/>
                <a:tab pos="1174750" algn="l"/>
                <a:tab pos="2663190" algn="l"/>
                <a:tab pos="3136265" algn="l"/>
                <a:tab pos="4497705" algn="l"/>
                <a:tab pos="6374765" algn="l"/>
                <a:tab pos="7440295" algn="l"/>
                <a:tab pos="8124825" algn="l"/>
                <a:tab pos="8597265" algn="l"/>
              </a:tabLst>
            </a:pPr>
            <a:r>
              <a:rPr sz="3000" spc="-5" dirty="0">
                <a:latin typeface="Times New Roman"/>
                <a:cs typeface="Times New Roman"/>
              </a:rPr>
              <a:t>Rend </a:t>
            </a:r>
            <a:r>
              <a:rPr sz="3000" spc="-10" dirty="0">
                <a:latin typeface="Times New Roman"/>
                <a:cs typeface="Times New Roman"/>
              </a:rPr>
              <a:t>difficile </a:t>
            </a:r>
            <a:r>
              <a:rPr sz="3000" dirty="0">
                <a:latin typeface="Times New Roman"/>
                <a:cs typeface="Times New Roman"/>
              </a:rPr>
              <a:t>la lecture de</a:t>
            </a:r>
            <a:r>
              <a:rPr sz="3000" spc="65" dirty="0">
                <a:latin typeface="Times New Roman"/>
                <a:cs typeface="Times New Roman"/>
              </a:rPr>
              <a:t> </a:t>
            </a:r>
            <a:r>
              <a:rPr sz="3000" dirty="0" err="1">
                <a:latin typeface="Times New Roman"/>
                <a:cs typeface="Times New Roman"/>
              </a:rPr>
              <a:t>l'algorithme</a:t>
            </a:r>
            <a:r>
              <a:rPr sz="3000" dirty="0">
                <a:latin typeface="Times New Roman"/>
                <a:cs typeface="Times New Roman"/>
              </a:rPr>
              <a:t>.</a:t>
            </a:r>
            <a:endParaRPr lang="fr-FR" sz="3000" dirty="0">
              <a:latin typeface="Times New Roman"/>
              <a:cs typeface="Times New Roman"/>
            </a:endParaRPr>
          </a:p>
          <a:p>
            <a:pPr marL="984250" marR="5715" lvl="1" indent="-514350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1174115" algn="l"/>
                <a:tab pos="1174750" algn="l"/>
                <a:tab pos="2663190" algn="l"/>
                <a:tab pos="3136265" algn="l"/>
                <a:tab pos="4497705" algn="l"/>
                <a:tab pos="6374765" algn="l"/>
                <a:tab pos="7440295" algn="l"/>
                <a:tab pos="8124825" algn="l"/>
                <a:tab pos="8597265" algn="l"/>
              </a:tabLst>
            </a:pPr>
            <a:r>
              <a:rPr sz="3000" spc="-5" dirty="0" err="1">
                <a:latin typeface="Times New Roman"/>
                <a:cs typeface="Times New Roman"/>
              </a:rPr>
              <a:t>Présente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le </a:t>
            </a:r>
            <a:r>
              <a:rPr sz="3000" spc="-5" dirty="0">
                <a:latin typeface="Times New Roman"/>
                <a:cs typeface="Times New Roman"/>
              </a:rPr>
              <a:t>risque </a:t>
            </a:r>
            <a:r>
              <a:rPr sz="3000" dirty="0">
                <a:latin typeface="Times New Roman"/>
                <a:cs typeface="Times New Roman"/>
              </a:rPr>
              <a:t>d'aboutir à une boucle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infinie.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35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7462" y="4833190"/>
            <a:ext cx="36757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52898"/>
                </a:solidFill>
              </a:rPr>
              <a:t>Pour </a:t>
            </a:r>
            <a:r>
              <a:rPr lang="en-US" sz="2400" b="1" dirty="0" err="1">
                <a:solidFill>
                  <a:srgbClr val="352898"/>
                </a:solidFill>
              </a:rPr>
              <a:t>i</a:t>
            </a:r>
            <a:r>
              <a:rPr lang="en-US" sz="2400" b="1" dirty="0">
                <a:solidFill>
                  <a:srgbClr val="352898"/>
                </a:solidFill>
              </a:rPr>
              <a:t> </a:t>
            </a:r>
            <a:r>
              <a:rPr lang="en-US" sz="2400" b="1" dirty="0">
                <a:solidFill>
                  <a:srgbClr val="352898"/>
                </a:solidFill>
                <a:latin typeface="Times New Roman"/>
                <a:cs typeface="Times New Roman"/>
              </a:rPr>
              <a:t>← 0 à 5 faire</a:t>
            </a:r>
          </a:p>
          <a:p>
            <a:r>
              <a:rPr lang="en-US" sz="2400" b="1" dirty="0">
                <a:solidFill>
                  <a:srgbClr val="352898"/>
                </a:solidFill>
                <a:latin typeface="Times New Roman"/>
                <a:cs typeface="Times New Roman"/>
              </a:rPr>
              <a:t>	i ← </a:t>
            </a:r>
            <a:r>
              <a:rPr lang="en-US" sz="2400" b="1" dirty="0" err="1">
                <a:solidFill>
                  <a:srgbClr val="352898"/>
                </a:solidFill>
                <a:latin typeface="Times New Roman"/>
                <a:cs typeface="Times New Roman"/>
              </a:rPr>
              <a:t>i</a:t>
            </a:r>
            <a:r>
              <a:rPr lang="en-US" sz="2400" b="1" dirty="0">
                <a:solidFill>
                  <a:srgbClr val="352898"/>
                </a:solidFill>
                <a:latin typeface="Times New Roman"/>
                <a:cs typeface="Times New Roman"/>
              </a:rPr>
              <a:t> - 1</a:t>
            </a:r>
          </a:p>
          <a:p>
            <a:r>
              <a:rPr lang="en-US" sz="2400" b="1" dirty="0">
                <a:solidFill>
                  <a:srgbClr val="352898"/>
                </a:solidFill>
                <a:latin typeface="Times New Roman"/>
                <a:cs typeface="Times New Roman"/>
              </a:rPr>
              <a:t>	</a:t>
            </a:r>
            <a:r>
              <a:rPr lang="en-US" sz="2400" b="1" dirty="0" err="1">
                <a:solidFill>
                  <a:srgbClr val="352898"/>
                </a:solidFill>
                <a:latin typeface="Times New Roman"/>
                <a:cs typeface="Times New Roman"/>
              </a:rPr>
              <a:t>Ecrire</a:t>
            </a:r>
            <a:r>
              <a:rPr lang="en-US" sz="2400" b="1" dirty="0">
                <a:solidFill>
                  <a:srgbClr val="352898"/>
                </a:solidFill>
                <a:latin typeface="Times New Roman"/>
                <a:cs typeface="Times New Roman"/>
              </a:rPr>
              <a:t> (“ </a:t>
            </a:r>
            <a:r>
              <a:rPr lang="en-US" sz="2400" b="1" dirty="0" err="1">
                <a:solidFill>
                  <a:srgbClr val="352898"/>
                </a:solidFill>
                <a:latin typeface="Times New Roman"/>
                <a:cs typeface="Times New Roman"/>
              </a:rPr>
              <a:t>i</a:t>
            </a:r>
            <a:r>
              <a:rPr lang="en-US" sz="2400" b="1" dirty="0">
                <a:solidFill>
                  <a:srgbClr val="352898"/>
                </a:solidFill>
                <a:latin typeface="Times New Roman"/>
                <a:cs typeface="Times New Roman"/>
              </a:rPr>
              <a:t>=”, </a:t>
            </a:r>
            <a:r>
              <a:rPr lang="en-US" sz="2400" b="1" dirty="0" err="1">
                <a:solidFill>
                  <a:srgbClr val="352898"/>
                </a:solidFill>
                <a:latin typeface="Times New Roman"/>
                <a:cs typeface="Times New Roman"/>
              </a:rPr>
              <a:t>i</a:t>
            </a:r>
            <a:r>
              <a:rPr lang="en-US" sz="2400" b="1" dirty="0">
                <a:solidFill>
                  <a:srgbClr val="352898"/>
                </a:solidFill>
                <a:latin typeface="Times New Roman"/>
                <a:cs typeface="Times New Roman"/>
              </a:rPr>
              <a:t>)</a:t>
            </a:r>
          </a:p>
          <a:p>
            <a:r>
              <a:rPr lang="en-US" sz="2400" b="1" dirty="0" err="1">
                <a:solidFill>
                  <a:srgbClr val="352898"/>
                </a:solidFill>
                <a:latin typeface="Times New Roman"/>
                <a:cs typeface="Times New Roman"/>
              </a:rPr>
              <a:t>Finpour</a:t>
            </a:r>
            <a:endParaRPr lang="en-US" sz="2400" b="1" dirty="0">
              <a:solidFill>
                <a:srgbClr val="35289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55850" y="4442043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352898"/>
                </a:solidFill>
              </a:rPr>
              <a:t>Exemple</a:t>
            </a:r>
            <a:r>
              <a:rPr lang="en-US" sz="2400" b="1" dirty="0">
                <a:solidFill>
                  <a:srgbClr val="352898"/>
                </a:solidFill>
              </a:rPr>
              <a:t> 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8464" y="735777"/>
            <a:ext cx="471233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/>
              <a:t>La </a:t>
            </a:r>
            <a:r>
              <a:rPr sz="3100" spc="-5" dirty="0"/>
              <a:t>boucle </a:t>
            </a:r>
            <a:r>
              <a:rPr sz="3100" dirty="0"/>
              <a:t>Pour vs.</a:t>
            </a:r>
            <a:r>
              <a:rPr sz="3100" spc="-185" dirty="0"/>
              <a:t> </a:t>
            </a:r>
            <a:r>
              <a:rPr sz="3100" spc="-45" dirty="0"/>
              <a:t>TantQue</a:t>
            </a:r>
            <a:endParaRPr sz="3100"/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0735" y="1306687"/>
            <a:ext cx="991489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84810" algn="l"/>
                <a:tab pos="935990" algn="l"/>
                <a:tab pos="2059305" algn="l"/>
                <a:tab pos="2909570" algn="l"/>
                <a:tab pos="3481070" algn="l"/>
                <a:tab pos="4013835" algn="l"/>
                <a:tab pos="4643120" algn="l"/>
                <a:tab pos="6278880" algn="l"/>
                <a:tab pos="6791959" algn="l"/>
                <a:tab pos="7594600" algn="l"/>
                <a:tab pos="8364855" algn="l"/>
                <a:tab pos="9112885" algn="l"/>
                <a:tab pos="9646285" algn="l"/>
              </a:tabLst>
            </a:pPr>
            <a:r>
              <a:rPr lang="fr-FR" sz="2800" spc="-5" dirty="0">
                <a:latin typeface="Times New Roman"/>
                <a:cs typeface="Times New Roman"/>
              </a:rPr>
              <a:t>      </a:t>
            </a:r>
            <a:r>
              <a:rPr sz="2800" spc="-5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</a:t>
            </a:r>
            <a:r>
              <a:rPr sz="2800" spc="-5" dirty="0">
                <a:latin typeface="Times New Roman"/>
                <a:cs typeface="Times New Roman"/>
              </a:rPr>
              <a:t>ou</a:t>
            </a:r>
            <a:r>
              <a:rPr sz="2800" spc="-10" dirty="0">
                <a:latin typeface="Times New Roman"/>
                <a:cs typeface="Times New Roman"/>
              </a:rPr>
              <a:t>cl</a:t>
            </a:r>
            <a:r>
              <a:rPr sz="2800" dirty="0">
                <a:latin typeface="Times New Roman"/>
                <a:cs typeface="Times New Roman"/>
              </a:rPr>
              <a:t>e	</a:t>
            </a:r>
            <a:r>
              <a:rPr sz="2800" b="1" spc="-5" dirty="0">
                <a:latin typeface="Times New Roman"/>
                <a:cs typeface="Times New Roman"/>
              </a:rPr>
              <a:t>P</a:t>
            </a:r>
            <a:r>
              <a:rPr sz="2800" b="1" dirty="0">
                <a:latin typeface="Times New Roman"/>
                <a:cs typeface="Times New Roman"/>
              </a:rPr>
              <a:t>our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es</a:t>
            </a:r>
            <a:r>
              <a:rPr sz="2800" dirty="0">
                <a:latin typeface="Times New Roman"/>
                <a:cs typeface="Times New Roman"/>
              </a:rPr>
              <a:t>t	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n	</a:t>
            </a:r>
            <a:r>
              <a:rPr sz="2800" spc="-10" dirty="0">
                <a:latin typeface="Times New Roman"/>
                <a:cs typeface="Times New Roman"/>
              </a:rPr>
              <a:t>ca</a:t>
            </a:r>
            <a:r>
              <a:rPr sz="2800" dirty="0">
                <a:latin typeface="Times New Roman"/>
                <a:cs typeface="Times New Roman"/>
              </a:rPr>
              <a:t>s	</a:t>
            </a:r>
            <a:r>
              <a:rPr sz="2800" spc="-5" dirty="0">
                <a:latin typeface="Times New Roman"/>
                <a:cs typeface="Times New Roman"/>
              </a:rPr>
              <a:t>pa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10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10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spc="-10" dirty="0">
                <a:latin typeface="Times New Roman"/>
                <a:cs typeface="Times New Roman"/>
              </a:rPr>
              <a:t>li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r	</a:t>
            </a: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sz="2800" dirty="0">
                <a:latin typeface="Times New Roman"/>
                <a:cs typeface="Times New Roman"/>
              </a:rPr>
              <a:t>e	</a:t>
            </a:r>
            <a:r>
              <a:rPr sz="2800" b="1" spc="-200" dirty="0">
                <a:latin typeface="Times New Roman"/>
                <a:cs typeface="Times New Roman"/>
              </a:rPr>
              <a:t>T</a:t>
            </a:r>
            <a:r>
              <a:rPr sz="2800" b="1" spc="-10" dirty="0">
                <a:latin typeface="Times New Roman"/>
                <a:cs typeface="Times New Roman"/>
              </a:rPr>
              <a:t>a</a:t>
            </a:r>
            <a:r>
              <a:rPr sz="2800" b="1" dirty="0">
                <a:latin typeface="Times New Roman"/>
                <a:cs typeface="Times New Roman"/>
              </a:rPr>
              <a:t>nt	Que</a:t>
            </a:r>
            <a:r>
              <a:rPr sz="2800" dirty="0">
                <a:latin typeface="Times New Roman"/>
                <a:cs typeface="Times New Roman"/>
              </a:rPr>
              <a:t>	(</a:t>
            </a:r>
            <a:r>
              <a:rPr lang="fr-FR" sz="2800" dirty="0">
                <a:latin typeface="Times New Roman"/>
                <a:cs typeface="Times New Roman"/>
              </a:rPr>
              <a:t>le </a:t>
            </a:r>
            <a:r>
              <a:rPr sz="2800" spc="-5" dirty="0" err="1">
                <a:latin typeface="Times New Roman"/>
                <a:cs typeface="Times New Roman"/>
              </a:rPr>
              <a:t>c</a:t>
            </a:r>
            <a:r>
              <a:rPr sz="2800" spc="-10" dirty="0" err="1">
                <a:latin typeface="Times New Roman"/>
                <a:cs typeface="Times New Roman"/>
              </a:rPr>
              <a:t>a</a:t>
            </a:r>
            <a:r>
              <a:rPr sz="2800" dirty="0" err="1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où	</a:t>
            </a:r>
            <a:r>
              <a:rPr sz="2800" spc="-10" dirty="0">
                <a:latin typeface="Times New Roman"/>
                <a:cs typeface="Times New Roman"/>
              </a:rPr>
              <a:t>le  </a:t>
            </a:r>
            <a:r>
              <a:rPr sz="2800" dirty="0">
                <a:latin typeface="Times New Roman"/>
                <a:cs typeface="Times New Roman"/>
              </a:rPr>
              <a:t>nombre </a:t>
            </a:r>
            <a:r>
              <a:rPr sz="2800" spc="-5" dirty="0">
                <a:latin typeface="Times New Roman"/>
                <a:cs typeface="Times New Roman"/>
              </a:rPr>
              <a:t>d'itérations est </a:t>
            </a:r>
            <a:r>
              <a:rPr sz="2800" dirty="0">
                <a:latin typeface="Times New Roman"/>
                <a:cs typeface="Times New Roman"/>
              </a:rPr>
              <a:t>connu </a:t>
            </a:r>
            <a:r>
              <a:rPr sz="2800" spc="-5" dirty="0">
                <a:latin typeface="Times New Roman"/>
                <a:cs typeface="Times New Roman"/>
              </a:rPr>
              <a:t>et fixé)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8" name="object 8"/>
          <p:cNvSpPr/>
          <p:nvPr/>
        </p:nvSpPr>
        <p:spPr>
          <a:xfrm>
            <a:off x="3783797" y="4420656"/>
            <a:ext cx="4991100" cy="20859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84650" y="3677082"/>
            <a:ext cx="664464" cy="6675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48386" y="3571935"/>
            <a:ext cx="297006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peut 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être remplacé 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par</a:t>
            </a:r>
            <a:r>
              <a:rPr sz="22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:  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lang="en-US"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un </a:t>
            </a:r>
            <a:r>
              <a:rPr sz="2200" spc="-5" dirty="0" err="1">
                <a:solidFill>
                  <a:srgbClr val="C00000"/>
                </a:solidFill>
                <a:latin typeface="Times New Roman"/>
                <a:cs typeface="Times New Roman"/>
              </a:rPr>
              <a:t>cas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d'un pas</a:t>
            </a:r>
            <a:r>
              <a:rPr sz="22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positif)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36</a:t>
            </a:fld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5022850" y="4781928"/>
            <a:ext cx="22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473090"/>
                </a:solidFill>
              </a:rPr>
              <a:t>(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7689849" y="4761146"/>
            <a:ext cx="22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473090"/>
                </a:solidFill>
              </a:rPr>
              <a:t>)</a:t>
            </a:r>
          </a:p>
        </p:txBody>
      </p:sp>
      <p:sp>
        <p:nvSpPr>
          <p:cNvPr id="16" name="object 6"/>
          <p:cNvSpPr txBox="1"/>
          <p:nvPr/>
        </p:nvSpPr>
        <p:spPr>
          <a:xfrm>
            <a:off x="1696114" y="2245810"/>
            <a:ext cx="8351715" cy="1300356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463040" marR="464820" indent="-915035">
              <a:spcBef>
                <a:spcPts val="100"/>
              </a:spcBef>
            </a:pPr>
            <a:r>
              <a:rPr sz="2400" b="1" spc="-5" dirty="0">
                <a:solidFill>
                  <a:srgbClr val="352898"/>
                </a:solidFill>
                <a:latin typeface="Times New Roman"/>
                <a:cs typeface="Times New Roman"/>
              </a:rPr>
              <a:t>Pour </a:t>
            </a:r>
            <a:r>
              <a:rPr lang="en-US" sz="2400" spc="-5" dirty="0" err="1">
                <a:solidFill>
                  <a:srgbClr val="352898"/>
                </a:solidFill>
                <a:latin typeface="Times New Roman"/>
                <a:cs typeface="Times New Roman"/>
              </a:rPr>
              <a:t>C</a:t>
            </a:r>
            <a:r>
              <a:rPr sz="2400" spc="-5" dirty="0" err="1">
                <a:solidFill>
                  <a:srgbClr val="352898"/>
                </a:solidFill>
                <a:latin typeface="Times New Roman"/>
                <a:cs typeface="Times New Roman"/>
              </a:rPr>
              <a:t>ompteur</a:t>
            </a:r>
            <a:r>
              <a:rPr sz="2400" spc="-5" dirty="0">
                <a:solidFill>
                  <a:srgbClr val="352898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352898"/>
                </a:solidFill>
                <a:latin typeface="Times New Roman"/>
                <a:cs typeface="Times New Roman"/>
              </a:rPr>
              <a:t>←</a:t>
            </a:r>
            <a:r>
              <a:rPr sz="2400" b="1" spc="-5" dirty="0">
                <a:solidFill>
                  <a:srgbClr val="352898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 err="1">
                <a:solidFill>
                  <a:srgbClr val="352898"/>
                </a:solidFill>
                <a:latin typeface="Times New Roman"/>
                <a:cs typeface="Times New Roman"/>
              </a:rPr>
              <a:t>I</a:t>
            </a:r>
            <a:r>
              <a:rPr sz="2400" spc="-5" dirty="0" err="1">
                <a:solidFill>
                  <a:srgbClr val="352898"/>
                </a:solidFill>
                <a:latin typeface="Times New Roman"/>
                <a:cs typeface="Times New Roman"/>
              </a:rPr>
              <a:t>nitiale</a:t>
            </a:r>
            <a:r>
              <a:rPr sz="2400" spc="-5" dirty="0">
                <a:solidFill>
                  <a:srgbClr val="352898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352898"/>
                </a:solidFill>
                <a:latin typeface="Times New Roman"/>
                <a:cs typeface="Times New Roman"/>
              </a:rPr>
              <a:t>à </a:t>
            </a:r>
            <a:r>
              <a:rPr lang="en-US" sz="2400" spc="-5" dirty="0">
                <a:solidFill>
                  <a:srgbClr val="352898"/>
                </a:solidFill>
                <a:latin typeface="Times New Roman"/>
                <a:cs typeface="Times New Roman"/>
              </a:rPr>
              <a:t>F</a:t>
            </a:r>
            <a:r>
              <a:rPr sz="2400" spc="-5" dirty="0">
                <a:solidFill>
                  <a:srgbClr val="352898"/>
                </a:solidFill>
                <a:latin typeface="Times New Roman"/>
                <a:cs typeface="Times New Roman"/>
              </a:rPr>
              <a:t>inale </a:t>
            </a:r>
            <a:r>
              <a:rPr sz="2400" b="1" spc="-5" dirty="0">
                <a:solidFill>
                  <a:srgbClr val="352898"/>
                </a:solidFill>
                <a:latin typeface="Times New Roman"/>
                <a:cs typeface="Times New Roman"/>
              </a:rPr>
              <a:t>pas </a:t>
            </a:r>
            <a:r>
              <a:rPr lang="en-US" sz="2400" spc="-5" dirty="0" err="1">
                <a:solidFill>
                  <a:srgbClr val="352898"/>
                </a:solidFill>
                <a:latin typeface="Times New Roman"/>
                <a:cs typeface="Times New Roman"/>
              </a:rPr>
              <a:t>V</a:t>
            </a:r>
            <a:r>
              <a:rPr sz="2400" spc="-5" dirty="0" err="1">
                <a:solidFill>
                  <a:srgbClr val="352898"/>
                </a:solidFill>
                <a:latin typeface="Times New Roman"/>
                <a:cs typeface="Times New Roman"/>
              </a:rPr>
              <a:t>aleur</a:t>
            </a:r>
            <a:r>
              <a:rPr lang="fr-FR" sz="2400" spc="-5" dirty="0">
                <a:solidFill>
                  <a:srgbClr val="352898"/>
                </a:solidFill>
                <a:latin typeface="Times New Roman"/>
                <a:cs typeface="Times New Roman"/>
              </a:rPr>
              <a:t>D</a:t>
            </a:r>
            <a:r>
              <a:rPr sz="2400" spc="-5" dirty="0">
                <a:solidFill>
                  <a:srgbClr val="352898"/>
                </a:solidFill>
                <a:latin typeface="Times New Roman"/>
                <a:cs typeface="Times New Roman"/>
              </a:rPr>
              <a:t>u</a:t>
            </a:r>
            <a:r>
              <a:rPr lang="fr-FR" sz="2400" spc="-5" dirty="0">
                <a:solidFill>
                  <a:srgbClr val="352898"/>
                </a:solidFill>
                <a:latin typeface="Times New Roman"/>
                <a:cs typeface="Times New Roman"/>
              </a:rPr>
              <a:t>P</a:t>
            </a:r>
            <a:r>
              <a:rPr sz="2400" spc="-5" dirty="0">
                <a:solidFill>
                  <a:srgbClr val="352898"/>
                </a:solidFill>
                <a:latin typeface="Times New Roman"/>
                <a:cs typeface="Times New Roman"/>
              </a:rPr>
              <a:t>as </a:t>
            </a:r>
            <a:r>
              <a:rPr lang="en-US" sz="2400" b="1" spc="-5" dirty="0">
                <a:solidFill>
                  <a:srgbClr val="352898"/>
                </a:solidFill>
                <a:latin typeface="Times New Roman"/>
                <a:cs typeface="Times New Roman"/>
              </a:rPr>
              <a:t>faire</a:t>
            </a:r>
            <a:r>
              <a:rPr sz="2400" spc="-5" dirty="0">
                <a:solidFill>
                  <a:srgbClr val="352898"/>
                </a:solidFill>
                <a:latin typeface="Times New Roman"/>
                <a:cs typeface="Times New Roman"/>
              </a:rPr>
              <a:t> </a:t>
            </a:r>
            <a:endParaRPr lang="en-US" sz="2400" spc="-5" dirty="0">
              <a:solidFill>
                <a:srgbClr val="352898"/>
              </a:solidFill>
              <a:latin typeface="Times New Roman"/>
              <a:cs typeface="Times New Roman"/>
            </a:endParaRPr>
          </a:p>
          <a:p>
            <a:pPr marL="1463040" marR="464820" indent="-915035">
              <a:spcBef>
                <a:spcPts val="100"/>
              </a:spcBef>
            </a:pPr>
            <a:r>
              <a:rPr sz="2400" spc="-5" dirty="0">
                <a:solidFill>
                  <a:srgbClr val="352898"/>
                </a:solidFill>
                <a:latin typeface="Times New Roman"/>
                <a:cs typeface="Times New Roman"/>
              </a:rPr>
              <a:t>instructions</a:t>
            </a:r>
            <a:endParaRPr sz="2400" dirty="0">
              <a:solidFill>
                <a:srgbClr val="352898"/>
              </a:solidFill>
              <a:latin typeface="Times New Roman"/>
              <a:cs typeface="Times New Roman"/>
            </a:endParaRPr>
          </a:p>
          <a:p>
            <a:pPr marL="549275">
              <a:spcBef>
                <a:spcPts val="1275"/>
              </a:spcBef>
            </a:pPr>
            <a:r>
              <a:rPr sz="2400" b="1" spc="-5" dirty="0">
                <a:solidFill>
                  <a:srgbClr val="352898"/>
                </a:solidFill>
                <a:latin typeface="Times New Roman"/>
                <a:cs typeface="Times New Roman"/>
              </a:rPr>
              <a:t>FinPour</a:t>
            </a:r>
            <a:endParaRPr sz="2400" dirty="0">
              <a:solidFill>
                <a:srgbClr val="352898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</a:rPr>
              <a:t>Algorithmique: Outils de</a:t>
            </a:r>
            <a:r>
              <a:rPr sz="2600" spc="-10" dirty="0">
                <a:solidFill>
                  <a:srgbClr val="FFFFFF"/>
                </a:solidFill>
              </a:rPr>
              <a:t> </a:t>
            </a:r>
            <a:r>
              <a:rPr sz="2600" spc="-5" dirty="0">
                <a:solidFill>
                  <a:srgbClr val="FFFFFF"/>
                </a:solidFill>
              </a:rPr>
              <a:t>base</a:t>
            </a:r>
            <a:endParaRPr sz="26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37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47956" y="457200"/>
            <a:ext cx="8112125" cy="6415859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2453640">
              <a:lnSpc>
                <a:spcPct val="100000"/>
              </a:lnSpc>
              <a:spcBef>
                <a:spcPts val="1030"/>
              </a:spcBef>
              <a:tabLst>
                <a:tab pos="5221605" algn="l"/>
              </a:tabLst>
            </a:pPr>
            <a:r>
              <a:rPr sz="3100" b="1" dirty="0">
                <a:solidFill>
                  <a:srgbClr val="0070C0"/>
                </a:solidFill>
                <a:latin typeface="Times New Roman"/>
                <a:cs typeface="Times New Roman"/>
              </a:rPr>
              <a:t>La</a:t>
            </a:r>
            <a:r>
              <a:rPr sz="3100" b="1" spc="-1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1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boucle</a:t>
            </a:r>
            <a:r>
              <a:rPr sz="3100" b="1" dirty="0">
                <a:solidFill>
                  <a:srgbClr val="0070C0"/>
                </a:solidFill>
                <a:latin typeface="Times New Roman"/>
                <a:cs typeface="Times New Roman"/>
              </a:rPr>
              <a:t> Pour	vs.</a:t>
            </a:r>
            <a:r>
              <a:rPr sz="3100" b="1" spc="-6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100" b="1" spc="-45" dirty="0">
                <a:solidFill>
                  <a:srgbClr val="0070C0"/>
                </a:solidFill>
                <a:latin typeface="Times New Roman"/>
                <a:cs typeface="Times New Roman"/>
              </a:rPr>
              <a:t>TantQue</a:t>
            </a:r>
            <a:endParaRPr sz="3100" dirty="0">
              <a:latin typeface="Times New Roman"/>
              <a:cs typeface="Times New Roman"/>
            </a:endParaRPr>
          </a:p>
          <a:p>
            <a:pPr marL="12700" marR="1855470">
              <a:lnSpc>
                <a:spcPct val="100000"/>
              </a:lnSpc>
              <a:spcBef>
                <a:spcPts val="780"/>
              </a:spcBef>
            </a:pPr>
            <a:r>
              <a:rPr sz="2600" spc="-5" dirty="0">
                <a:solidFill>
                  <a:srgbClr val="C00000"/>
                </a:solidFill>
                <a:latin typeface="Times New Roman"/>
                <a:cs typeface="Times New Roman"/>
              </a:rPr>
              <a:t>Exemple de la puissance (forme avec </a:t>
            </a:r>
            <a:r>
              <a:rPr sz="2600" spc="-30" dirty="0">
                <a:solidFill>
                  <a:srgbClr val="C00000"/>
                </a:solidFill>
                <a:latin typeface="Times New Roman"/>
                <a:cs typeface="Times New Roman"/>
              </a:rPr>
              <a:t>TantQue)  </a:t>
            </a:r>
            <a:r>
              <a:rPr sz="2500" spc="-40" dirty="0">
                <a:latin typeface="Times New Roman"/>
                <a:cs typeface="Times New Roman"/>
              </a:rPr>
              <a:t>Variables </a:t>
            </a:r>
            <a:r>
              <a:rPr sz="2500" spc="-5" dirty="0">
                <a:latin typeface="Times New Roman"/>
                <a:cs typeface="Times New Roman"/>
              </a:rPr>
              <a:t>x, puiss : </a:t>
            </a:r>
            <a:r>
              <a:rPr sz="2500" spc="-5" dirty="0" err="1">
                <a:latin typeface="Times New Roman"/>
                <a:cs typeface="Times New Roman"/>
              </a:rPr>
              <a:t>réel</a:t>
            </a:r>
            <a:endParaRPr lang="fr-FR" sz="2500" spc="-5" dirty="0">
              <a:latin typeface="Times New Roman"/>
              <a:cs typeface="Times New Roman"/>
            </a:endParaRPr>
          </a:p>
          <a:p>
            <a:pPr marL="12700" marR="1855470">
              <a:lnSpc>
                <a:spcPct val="100000"/>
              </a:lnSpc>
              <a:spcBef>
                <a:spcPts val="780"/>
              </a:spcBef>
            </a:pPr>
            <a:r>
              <a:rPr lang="fr-FR" sz="2500" spc="-5" dirty="0">
                <a:latin typeface="Times New Roman"/>
                <a:cs typeface="Times New Roman"/>
              </a:rPr>
              <a:t>               </a:t>
            </a:r>
            <a:r>
              <a:rPr sz="2500" spc="-5" dirty="0">
                <a:latin typeface="Times New Roman"/>
                <a:cs typeface="Times New Roman"/>
              </a:rPr>
              <a:t> n, i :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entier</a:t>
            </a:r>
            <a:endParaRPr sz="25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500" b="1" spc="-5" dirty="0">
                <a:latin typeface="Times New Roman"/>
                <a:cs typeface="Times New Roman"/>
              </a:rPr>
              <a:t>Debut</a:t>
            </a:r>
            <a:endParaRPr sz="2500" dirty="0">
              <a:latin typeface="Times New Roman"/>
              <a:cs typeface="Times New Roman"/>
            </a:endParaRPr>
          </a:p>
          <a:p>
            <a:pPr marL="927100" marR="5080">
              <a:lnSpc>
                <a:spcPct val="100000"/>
              </a:lnSpc>
            </a:pPr>
            <a:r>
              <a:rPr sz="2500" spc="-5" dirty="0">
                <a:latin typeface="Times New Roman"/>
                <a:cs typeface="Times New Roman"/>
              </a:rPr>
              <a:t>Ecrire (" Entrez respectivement les valeurs de x et n ")  Lire (x,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n)</a:t>
            </a:r>
            <a:endParaRPr sz="25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500" spc="-5" dirty="0">
                <a:latin typeface="Times New Roman"/>
                <a:cs typeface="Times New Roman"/>
              </a:rPr>
              <a:t>puiss ←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1</a:t>
            </a:r>
            <a:endParaRPr sz="25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500" spc="-5" dirty="0">
                <a:latin typeface="Times New Roman"/>
                <a:cs typeface="Times New Roman"/>
              </a:rPr>
              <a:t>i ← 1</a:t>
            </a:r>
            <a:endParaRPr sz="2500" dirty="0">
              <a:latin typeface="Times New Roman"/>
              <a:cs typeface="Times New Roman"/>
            </a:endParaRPr>
          </a:p>
          <a:p>
            <a:pPr marL="1383665" marR="4618355" indent="-457200">
              <a:lnSpc>
                <a:spcPct val="100000"/>
              </a:lnSpc>
            </a:pPr>
            <a:r>
              <a:rPr sz="2500" b="1" spc="-40" dirty="0">
                <a:latin typeface="Times New Roman"/>
                <a:cs typeface="Times New Roman"/>
              </a:rPr>
              <a:t>TantQue </a:t>
            </a:r>
            <a:r>
              <a:rPr sz="2500" spc="-5" dirty="0">
                <a:latin typeface="Times New Roman"/>
                <a:cs typeface="Times New Roman"/>
              </a:rPr>
              <a:t>(i&lt;=n)  puiss←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puiss*x  i ←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i+1</a:t>
            </a:r>
            <a:endParaRPr sz="2500" dirty="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</a:pPr>
            <a:r>
              <a:rPr sz="2500" b="1" spc="-30" dirty="0">
                <a:latin typeface="Times New Roman"/>
                <a:cs typeface="Times New Roman"/>
              </a:rPr>
              <a:t>FinTantQue</a:t>
            </a:r>
            <a:endParaRPr sz="2500" dirty="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</a:pPr>
            <a:r>
              <a:rPr sz="2500" spc="-5" dirty="0">
                <a:latin typeface="Times New Roman"/>
                <a:cs typeface="Times New Roman"/>
              </a:rPr>
              <a:t>Ecrire (x, " à la puissance ", n, " est égal à ",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puiss)</a:t>
            </a:r>
            <a:endParaRPr sz="25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500" b="1" spc="-10" dirty="0">
                <a:latin typeface="Times New Roman"/>
                <a:cs typeface="Times New Roman"/>
              </a:rPr>
              <a:t>Fin</a:t>
            </a:r>
            <a:endParaRPr sz="2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0962" y="878653"/>
            <a:ext cx="4403090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5" dirty="0"/>
              <a:t>Choix </a:t>
            </a:r>
            <a:r>
              <a:rPr sz="3100" dirty="0"/>
              <a:t>d'un type de</a:t>
            </a:r>
            <a:r>
              <a:rPr sz="3100" spc="-75" dirty="0"/>
              <a:t> </a:t>
            </a:r>
            <a:r>
              <a:rPr sz="3100" spc="-5" dirty="0"/>
              <a:t>boucle</a:t>
            </a:r>
            <a:endParaRPr sz="3100"/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38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33514" y="1805230"/>
            <a:ext cx="9272905" cy="3195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95"/>
              </a:spcBef>
              <a:buSzPct val="93750"/>
              <a:buFont typeface="Wingdings"/>
              <a:buChar char=""/>
              <a:tabLst>
                <a:tab pos="506730" algn="l"/>
              </a:tabLst>
            </a:pPr>
            <a:r>
              <a:rPr lang="fr-FR" sz="3200" spc="-5" dirty="0">
                <a:latin typeface="Times New Roman"/>
                <a:cs typeface="Times New Roman"/>
              </a:rPr>
              <a:t>  </a:t>
            </a:r>
            <a:r>
              <a:rPr sz="3200" spc="-5" dirty="0">
                <a:latin typeface="Times New Roman"/>
                <a:cs typeface="Times New Roman"/>
              </a:rPr>
              <a:t>Si on </a:t>
            </a:r>
            <a:r>
              <a:rPr lang="fr-FR" sz="3200" spc="-5" dirty="0">
                <a:latin typeface="Times New Roman"/>
                <a:cs typeface="Times New Roman"/>
              </a:rPr>
              <a:t>arrive à</a:t>
            </a:r>
            <a:r>
              <a:rPr sz="3200" spc="-5" dirty="0">
                <a:latin typeface="Times New Roman"/>
                <a:cs typeface="Times New Roman"/>
              </a:rPr>
              <a:t> déterminer le nombre d'itérations avant  l'exécution de la boucle, il </a:t>
            </a:r>
            <a:r>
              <a:rPr sz="3200" dirty="0">
                <a:latin typeface="Times New Roman"/>
                <a:cs typeface="Times New Roman"/>
              </a:rPr>
              <a:t>est </a:t>
            </a:r>
            <a:r>
              <a:rPr sz="3200" spc="-5" dirty="0">
                <a:latin typeface="Times New Roman"/>
                <a:cs typeface="Times New Roman"/>
              </a:rPr>
              <a:t>plus naturel d'utiliser la  boucle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ct val="100000"/>
              </a:lnSpc>
              <a:spcBef>
                <a:spcPts val="1920"/>
              </a:spcBef>
              <a:buSzPct val="93750"/>
              <a:buFont typeface="Wingdings"/>
              <a:buChar char=""/>
              <a:tabLst>
                <a:tab pos="506730" algn="l"/>
              </a:tabLst>
            </a:pPr>
            <a:r>
              <a:rPr lang="fr-FR" sz="3200" spc="-5" dirty="0">
                <a:latin typeface="Times New Roman"/>
                <a:cs typeface="Times New Roman"/>
              </a:rPr>
              <a:t>  </a:t>
            </a:r>
            <a:r>
              <a:rPr sz="3200" spc="-5" dirty="0" err="1">
                <a:latin typeface="Times New Roman"/>
                <a:cs typeface="Times New Roman"/>
              </a:rPr>
              <a:t>S'il</a:t>
            </a:r>
            <a:r>
              <a:rPr sz="3200" spc="-5" dirty="0">
                <a:latin typeface="Times New Roman"/>
                <a:cs typeface="Times New Roman"/>
              </a:rPr>
              <a:t> n'est </a:t>
            </a:r>
            <a:r>
              <a:rPr sz="3200" dirty="0">
                <a:latin typeface="Times New Roman"/>
                <a:cs typeface="Times New Roman"/>
              </a:rPr>
              <a:t>pas </a:t>
            </a:r>
            <a:r>
              <a:rPr sz="3200" spc="-5" dirty="0">
                <a:latin typeface="Times New Roman"/>
                <a:cs typeface="Times New Roman"/>
              </a:rPr>
              <a:t>possible </a:t>
            </a:r>
            <a:r>
              <a:rPr sz="3200" dirty="0">
                <a:latin typeface="Times New Roman"/>
                <a:cs typeface="Times New Roman"/>
              </a:rPr>
              <a:t>de </a:t>
            </a:r>
            <a:r>
              <a:rPr sz="3200" spc="-5" dirty="0">
                <a:latin typeface="Times New Roman"/>
                <a:cs typeface="Times New Roman"/>
              </a:rPr>
              <a:t>connaître le nombre  d'itérations </a:t>
            </a:r>
            <a:r>
              <a:rPr sz="3200" dirty="0">
                <a:latin typeface="Times New Roman"/>
                <a:cs typeface="Times New Roman"/>
              </a:rPr>
              <a:t>avant </a:t>
            </a:r>
            <a:r>
              <a:rPr sz="3200" spc="-5" dirty="0">
                <a:latin typeface="Times New Roman"/>
                <a:cs typeface="Times New Roman"/>
              </a:rPr>
              <a:t>l'exécution de la boucle, on fera appel  à l'une des boucles </a:t>
            </a:r>
            <a:r>
              <a:rPr sz="3200" b="1" spc="-50" dirty="0">
                <a:solidFill>
                  <a:srgbClr val="0000CC"/>
                </a:solidFill>
                <a:latin typeface="Times New Roman"/>
                <a:cs typeface="Times New Roman"/>
              </a:rPr>
              <a:t>TantQue </a:t>
            </a:r>
            <a:r>
              <a:rPr sz="3200" spc="-5" dirty="0">
                <a:latin typeface="Times New Roman"/>
                <a:cs typeface="Times New Roman"/>
              </a:rPr>
              <a:t>ou </a:t>
            </a:r>
            <a:r>
              <a:rPr sz="32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répéter</a:t>
            </a:r>
            <a:r>
              <a:rPr sz="3200" b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jusqu'à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0962" y="878653"/>
            <a:ext cx="4403090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5" dirty="0"/>
              <a:t>Choix </a:t>
            </a:r>
            <a:r>
              <a:rPr sz="3100" dirty="0"/>
              <a:t>d'un type de</a:t>
            </a:r>
            <a:r>
              <a:rPr sz="3100" spc="-75" dirty="0"/>
              <a:t> </a:t>
            </a:r>
            <a:r>
              <a:rPr sz="3100" spc="-5" dirty="0"/>
              <a:t>boucle</a:t>
            </a:r>
            <a:endParaRPr sz="3100"/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39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0735" y="1561136"/>
            <a:ext cx="9843770" cy="4079875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3200" spc="-5" dirty="0">
                <a:latin typeface="Times New Roman"/>
                <a:cs typeface="Times New Roman"/>
              </a:rPr>
              <a:t>Pour le choix entre </a:t>
            </a:r>
            <a:r>
              <a:rPr sz="3200" b="1" spc="-50" dirty="0" err="1">
                <a:solidFill>
                  <a:srgbClr val="0000CC"/>
                </a:solidFill>
                <a:latin typeface="Times New Roman"/>
                <a:cs typeface="Times New Roman"/>
              </a:rPr>
              <a:t>TantQue</a:t>
            </a:r>
            <a:r>
              <a:rPr sz="3200" b="1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et</a:t>
            </a:r>
            <a:r>
              <a:rPr lang="fr-FR" sz="3200" spc="-5" dirty="0">
                <a:latin typeface="Times New Roman"/>
                <a:cs typeface="Times New Roman"/>
              </a:rPr>
              <a:t> </a:t>
            </a:r>
            <a:r>
              <a:rPr lang="fr-FR" sz="32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répéter</a:t>
            </a:r>
            <a:r>
              <a:rPr lang="fr-FR" sz="3200" spc="50" dirty="0">
                <a:latin typeface="Times New Roman"/>
                <a:cs typeface="Times New Roman"/>
              </a:rPr>
              <a:t> </a:t>
            </a:r>
            <a:r>
              <a:rPr sz="3200" b="1" spc="-5" dirty="0" err="1">
                <a:solidFill>
                  <a:srgbClr val="0000CC"/>
                </a:solidFill>
                <a:latin typeface="Times New Roman"/>
                <a:cs typeface="Times New Roman"/>
              </a:rPr>
              <a:t>jusqu'à</a:t>
            </a:r>
            <a:r>
              <a:rPr sz="3200" spc="-5" dirty="0">
                <a:latin typeface="Times New Roman"/>
                <a:cs typeface="Times New Roman"/>
              </a:rPr>
              <a:t>:</a:t>
            </a:r>
            <a:endParaRPr sz="3200" dirty="0">
              <a:latin typeface="Times New Roman"/>
              <a:cs typeface="Times New Roman"/>
            </a:endParaRPr>
          </a:p>
          <a:p>
            <a:pPr marL="469900" marR="5715" indent="-635" algn="just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995044" algn="l"/>
              </a:tabLst>
            </a:pPr>
            <a:r>
              <a:rPr lang="fr-FR" sz="3200" spc="-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 on doit </a:t>
            </a:r>
            <a:r>
              <a:rPr sz="3200" dirty="0">
                <a:latin typeface="Times New Roman"/>
                <a:cs typeface="Times New Roman"/>
              </a:rPr>
              <a:t>tester </a:t>
            </a:r>
            <a:r>
              <a:rPr sz="3200" spc="-5" dirty="0">
                <a:latin typeface="Times New Roman"/>
                <a:cs typeface="Times New Roman"/>
              </a:rPr>
              <a:t>la condition de contrôle avant de  commencer </a:t>
            </a:r>
            <a:r>
              <a:rPr sz="3200" dirty="0">
                <a:latin typeface="Times New Roman"/>
                <a:cs typeface="Times New Roman"/>
              </a:rPr>
              <a:t>les </a:t>
            </a:r>
            <a:r>
              <a:rPr sz="3200" spc="-5" dirty="0">
                <a:latin typeface="Times New Roman"/>
                <a:cs typeface="Times New Roman"/>
              </a:rPr>
              <a:t>instructions de la boucle, on utilisera  </a:t>
            </a:r>
            <a:r>
              <a:rPr sz="3200" b="1" spc="-50" dirty="0">
                <a:solidFill>
                  <a:srgbClr val="0000CC"/>
                </a:solidFill>
                <a:latin typeface="Times New Roman"/>
                <a:cs typeface="Times New Roman"/>
              </a:rPr>
              <a:t>TantQue</a:t>
            </a:r>
            <a:r>
              <a:rPr sz="3200" spc="-3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469900" marR="5080" indent="-635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995044" algn="l"/>
              </a:tabLst>
            </a:pPr>
            <a:r>
              <a:rPr lang="fr-FR" sz="3200" spc="-5" dirty="0">
                <a:latin typeface="Times New Roman"/>
                <a:cs typeface="Times New Roman"/>
              </a:rPr>
              <a:t>  </a:t>
            </a:r>
            <a:r>
              <a:rPr sz="3200" spc="-5" dirty="0">
                <a:latin typeface="Times New Roman"/>
                <a:cs typeface="Times New Roman"/>
              </a:rPr>
              <a:t>Si la </a:t>
            </a:r>
            <a:r>
              <a:rPr sz="3200" dirty="0">
                <a:latin typeface="Times New Roman"/>
                <a:cs typeface="Times New Roman"/>
              </a:rPr>
              <a:t>valeur </a:t>
            </a:r>
            <a:r>
              <a:rPr sz="3200" spc="-5" dirty="0">
                <a:latin typeface="Times New Roman"/>
                <a:cs typeface="Times New Roman"/>
              </a:rPr>
              <a:t>de la condition de contrôle dépend d'une  première exécution </a:t>
            </a:r>
            <a:r>
              <a:rPr sz="3200" dirty="0">
                <a:latin typeface="Times New Roman"/>
                <a:cs typeface="Times New Roman"/>
              </a:rPr>
              <a:t>des </a:t>
            </a:r>
            <a:r>
              <a:rPr sz="3200" spc="-5" dirty="0">
                <a:latin typeface="Times New Roman"/>
                <a:cs typeface="Times New Roman"/>
              </a:rPr>
              <a:t>instructions de la boucle, on  utilisera </a:t>
            </a:r>
            <a:r>
              <a:rPr sz="32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répéter jusqu'à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6460" y="1162287"/>
            <a:ext cx="524739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800" spc="-10" dirty="0">
                <a:solidFill>
                  <a:srgbClr val="C00000"/>
                </a:solidFill>
              </a:rPr>
              <a:t>Exercice</a:t>
            </a:r>
            <a:r>
              <a:rPr sz="3800" spc="-90" dirty="0">
                <a:solidFill>
                  <a:srgbClr val="C00000"/>
                </a:solidFill>
              </a:rPr>
              <a:t> </a:t>
            </a:r>
            <a:r>
              <a:rPr sz="3800" dirty="0">
                <a:solidFill>
                  <a:srgbClr val="C00000"/>
                </a:solidFill>
              </a:rPr>
              <a:t>d’application</a:t>
            </a:r>
            <a:endParaRPr sz="3800"/>
          </a:p>
        </p:txBody>
      </p:sp>
      <p:sp>
        <p:nvSpPr>
          <p:cNvPr id="3" name="object 3"/>
          <p:cNvSpPr/>
          <p:nvPr/>
        </p:nvSpPr>
        <p:spPr>
          <a:xfrm>
            <a:off x="0" y="6548628"/>
            <a:ext cx="5871972" cy="30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025121" cy="7147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937" y="99208"/>
            <a:ext cx="42741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40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90395" y="2162420"/>
            <a:ext cx="848741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187450" algn="l"/>
                <a:tab pos="1777364" algn="l"/>
                <a:tab pos="3720465" algn="l"/>
                <a:tab pos="4422775" algn="l"/>
                <a:tab pos="6074410" algn="l"/>
                <a:tab pos="6664325" algn="l"/>
                <a:tab pos="8088630" algn="l"/>
              </a:tabLst>
            </a:pPr>
            <a:r>
              <a:rPr sz="3200" spc="-5" dirty="0">
                <a:latin typeface="Times New Roman"/>
                <a:cs typeface="Times New Roman"/>
              </a:rPr>
              <a:t>Ec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un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algo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i</a:t>
            </a:r>
            <a:r>
              <a:rPr sz="3200" spc="-15" dirty="0">
                <a:latin typeface="Times New Roman"/>
                <a:cs typeface="Times New Roman"/>
              </a:rPr>
              <a:t>t</a:t>
            </a:r>
            <a:r>
              <a:rPr sz="3200" spc="-5" dirty="0">
                <a:latin typeface="Times New Roman"/>
                <a:cs typeface="Times New Roman"/>
              </a:rPr>
              <a:t>hme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qui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demande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un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nom</a:t>
            </a:r>
            <a:r>
              <a:rPr sz="3200" spc="-10" dirty="0">
                <a:latin typeface="Times New Roman"/>
                <a:cs typeface="Times New Roman"/>
              </a:rPr>
              <a:t>br</a:t>
            </a:r>
            <a:r>
              <a:rPr sz="3200" spc="-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de  </a:t>
            </a:r>
            <a:r>
              <a:rPr sz="3200" spc="-5" dirty="0">
                <a:latin typeface="Times New Roman"/>
                <a:cs typeface="Times New Roman"/>
              </a:rPr>
              <a:t>départ, et qui calcule sa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factorielle.</a:t>
            </a:r>
            <a:endParaRPr sz="3200">
              <a:latin typeface="Times New Roman"/>
              <a:cs typeface="Times New Roman"/>
            </a:endParaRPr>
          </a:p>
          <a:p>
            <a:pPr marL="12700" marR="2223135">
              <a:lnSpc>
                <a:spcPct val="100000"/>
              </a:lnSpc>
              <a:spcBef>
                <a:spcPts val="1920"/>
              </a:spcBef>
            </a:pPr>
            <a:r>
              <a:rPr sz="3200" spc="-5" dirty="0">
                <a:latin typeface="Times New Roman"/>
                <a:cs typeface="Times New Roman"/>
              </a:rPr>
              <a:t>NB : la factorielle de 8, notée 8 !, vaut  8! = 1 x 2 x 3 x 4 x 5 x 6 x 7 x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8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937" y="99208"/>
            <a:ext cx="9319513" cy="6116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Algorithmique: Outils de</a:t>
            </a:r>
            <a:r>
              <a:rPr sz="26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 dirty="0">
              <a:latin typeface="Times New Roman"/>
              <a:cs typeface="Times New Roman"/>
            </a:endParaRPr>
          </a:p>
          <a:p>
            <a:pPr marL="2432685" marR="1225550">
              <a:lnSpc>
                <a:spcPct val="100000"/>
              </a:lnSpc>
            </a:pPr>
            <a:r>
              <a:rPr sz="2600" b="1" spc="-5" dirty="0">
                <a:latin typeface="Times New Roman"/>
                <a:cs typeface="Times New Roman"/>
              </a:rPr>
              <a:t>Algorithme </a:t>
            </a:r>
            <a:r>
              <a:rPr sz="2600" spc="-5" dirty="0" err="1">
                <a:latin typeface="Times New Roman"/>
                <a:cs typeface="Times New Roman"/>
              </a:rPr>
              <a:t>Factorielle</a:t>
            </a:r>
            <a:r>
              <a:rPr sz="2600" spc="-5" dirty="0">
                <a:latin typeface="Times New Roman"/>
                <a:cs typeface="Times New Roman"/>
              </a:rPr>
              <a:t>  </a:t>
            </a:r>
            <a:endParaRPr lang="fr-FR" sz="2600" spc="-5" dirty="0">
              <a:latin typeface="Times New Roman"/>
              <a:cs typeface="Times New Roman"/>
            </a:endParaRPr>
          </a:p>
          <a:p>
            <a:pPr marL="2432685" marR="1225550">
              <a:lnSpc>
                <a:spcPct val="100000"/>
              </a:lnSpc>
            </a:pPr>
            <a:r>
              <a:rPr sz="2600" spc="-40" dirty="0">
                <a:latin typeface="Times New Roman"/>
                <a:cs typeface="Times New Roman"/>
              </a:rPr>
              <a:t>Variables </a:t>
            </a:r>
            <a:r>
              <a:rPr sz="2600" spc="-5" dirty="0">
                <a:latin typeface="Times New Roman"/>
                <a:cs typeface="Times New Roman"/>
              </a:rPr>
              <a:t>N, i, F</a:t>
            </a:r>
            <a:r>
              <a:rPr lang="fr-FR" sz="2600" spc="-5" dirty="0">
                <a:latin typeface="Times New Roman"/>
                <a:cs typeface="Times New Roman"/>
              </a:rPr>
              <a:t> : </a:t>
            </a:r>
            <a:r>
              <a:rPr sz="2600" spc="-5" dirty="0" err="1">
                <a:latin typeface="Times New Roman"/>
                <a:cs typeface="Times New Roman"/>
              </a:rPr>
              <a:t>Entier</a:t>
            </a:r>
            <a:r>
              <a:rPr sz="2600" spc="-5" dirty="0">
                <a:latin typeface="Times New Roman"/>
                <a:cs typeface="Times New Roman"/>
              </a:rPr>
              <a:t>  </a:t>
            </a:r>
            <a:endParaRPr lang="fr-FR" sz="2600" spc="-5" dirty="0">
              <a:latin typeface="Times New Roman"/>
              <a:cs typeface="Times New Roman"/>
            </a:endParaRPr>
          </a:p>
          <a:p>
            <a:pPr marL="2432685" marR="1225550">
              <a:lnSpc>
                <a:spcPct val="100000"/>
              </a:lnSpc>
            </a:pPr>
            <a:r>
              <a:rPr sz="2600" b="1" spc="-5" dirty="0">
                <a:latin typeface="Times New Roman"/>
                <a:cs typeface="Times New Roman"/>
              </a:rPr>
              <a:t>Début</a:t>
            </a:r>
            <a:endParaRPr sz="2600" dirty="0">
              <a:latin typeface="Times New Roman"/>
              <a:cs typeface="Times New Roman"/>
            </a:endParaRPr>
          </a:p>
          <a:p>
            <a:pPr marL="2889885" marR="205104">
              <a:lnSpc>
                <a:spcPct val="100000"/>
              </a:lnSpc>
              <a:spcBef>
                <a:spcPts val="5"/>
              </a:spcBef>
            </a:pPr>
            <a:r>
              <a:rPr sz="2600" spc="-5" dirty="0">
                <a:latin typeface="Times New Roman"/>
                <a:cs typeface="Times New Roman"/>
              </a:rPr>
              <a:t>Ecrire ("Entrez un </a:t>
            </a:r>
            <a:r>
              <a:rPr sz="2600" spc="-5" dirty="0" err="1">
                <a:latin typeface="Times New Roman"/>
                <a:cs typeface="Times New Roman"/>
              </a:rPr>
              <a:t>nombre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lang="fr-FR" sz="2600" spc="-5" dirty="0">
                <a:latin typeface="Times New Roman"/>
                <a:cs typeface="Times New Roman"/>
              </a:rPr>
              <a:t>entier </a:t>
            </a:r>
            <a:r>
              <a:rPr sz="2600" spc="-5" dirty="0">
                <a:latin typeface="Times New Roman"/>
                <a:cs typeface="Times New Roman"/>
              </a:rPr>
              <a:t>: ")  </a:t>
            </a:r>
            <a:endParaRPr lang="fr-FR" sz="2600" spc="-5" dirty="0">
              <a:latin typeface="Times New Roman"/>
              <a:cs typeface="Times New Roman"/>
            </a:endParaRPr>
          </a:p>
          <a:p>
            <a:pPr marL="2889885" marR="205104">
              <a:lnSpc>
                <a:spcPct val="100000"/>
              </a:lnSpc>
              <a:spcBef>
                <a:spcPts val="5"/>
              </a:spcBef>
            </a:pPr>
            <a:r>
              <a:rPr sz="2600" spc="-5" dirty="0">
                <a:latin typeface="Times New Roman"/>
                <a:cs typeface="Times New Roman"/>
              </a:rPr>
              <a:t>Lire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(N)</a:t>
            </a:r>
            <a:endParaRPr sz="2600" dirty="0">
              <a:latin typeface="Times New Roman"/>
              <a:cs typeface="Times New Roman"/>
            </a:endParaRPr>
          </a:p>
          <a:p>
            <a:pPr marL="2889885">
              <a:lnSpc>
                <a:spcPts val="3120"/>
              </a:lnSpc>
              <a:spcBef>
                <a:spcPts val="5"/>
              </a:spcBef>
            </a:pPr>
            <a:r>
              <a:rPr sz="2600" spc="-5" dirty="0">
                <a:latin typeface="Times New Roman"/>
                <a:cs typeface="Times New Roman"/>
              </a:rPr>
              <a:t>F </a:t>
            </a:r>
            <a:r>
              <a:rPr sz="2600" spc="-5" dirty="0">
                <a:latin typeface="Wingdings"/>
                <a:cs typeface="Wingdings"/>
              </a:rPr>
              <a:t></a:t>
            </a:r>
            <a:r>
              <a:rPr sz="2600" spc="-5" dirty="0">
                <a:latin typeface="Times New Roman"/>
                <a:cs typeface="Times New Roman"/>
              </a:rPr>
              <a:t> 1</a:t>
            </a:r>
            <a:endParaRPr sz="2600" dirty="0">
              <a:latin typeface="Times New Roman"/>
              <a:cs typeface="Times New Roman"/>
            </a:endParaRPr>
          </a:p>
          <a:p>
            <a:pPr marL="2889885">
              <a:lnSpc>
                <a:spcPts val="3120"/>
              </a:lnSpc>
            </a:pPr>
            <a:r>
              <a:rPr lang="en-US" sz="2600" b="1" spc="-5">
                <a:latin typeface="Times New Roman"/>
                <a:cs typeface="Times New Roman"/>
              </a:rPr>
              <a:t>     </a:t>
            </a:r>
            <a:r>
              <a:rPr sz="2600" b="1" spc="-5">
                <a:latin typeface="Times New Roman"/>
                <a:cs typeface="Times New Roman"/>
              </a:rPr>
              <a:t>Si </a:t>
            </a:r>
            <a:r>
              <a:rPr sz="2600" spc="-5" dirty="0">
                <a:latin typeface="Times New Roman"/>
                <a:cs typeface="Times New Roman"/>
              </a:rPr>
              <a:t>N&gt;1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Alors</a:t>
            </a:r>
            <a:endParaRPr sz="2600" dirty="0">
              <a:latin typeface="Times New Roman"/>
              <a:cs typeface="Times New Roman"/>
            </a:endParaRPr>
          </a:p>
          <a:p>
            <a:pPr marL="3804285" marR="868044" indent="-457834">
              <a:lnSpc>
                <a:spcPct val="100000"/>
              </a:lnSpc>
            </a:pPr>
            <a:r>
              <a:rPr lang="en-US" sz="2600" b="1" spc="-5" dirty="0">
                <a:latin typeface="Times New Roman"/>
                <a:cs typeface="Times New Roman"/>
              </a:rPr>
              <a:t>	 </a:t>
            </a:r>
            <a:r>
              <a:rPr sz="2600" b="1" spc="-5" dirty="0">
                <a:latin typeface="Times New Roman"/>
                <a:cs typeface="Times New Roman"/>
              </a:rPr>
              <a:t>Pour </a:t>
            </a:r>
            <a:r>
              <a:rPr sz="2600" spc="-5" dirty="0">
                <a:latin typeface="Times New Roman"/>
                <a:cs typeface="Times New Roman"/>
              </a:rPr>
              <a:t>i </a:t>
            </a:r>
            <a:r>
              <a:rPr lang="fr-FR" sz="2800" dirty="0">
                <a:latin typeface="Times New Roman"/>
                <a:cs typeface="Times New Roman"/>
              </a:rPr>
              <a:t>←</a:t>
            </a:r>
            <a:r>
              <a:rPr sz="2600" spc="-5" dirty="0">
                <a:latin typeface="Times New Roman"/>
                <a:cs typeface="Times New Roman"/>
              </a:rPr>
              <a:t> 2 </a:t>
            </a:r>
            <a:r>
              <a:rPr sz="2600" b="1" spc="-5" dirty="0">
                <a:latin typeface="Times New Roman"/>
                <a:cs typeface="Times New Roman"/>
              </a:rPr>
              <a:t>à</a:t>
            </a:r>
            <a:r>
              <a:rPr sz="2600" spc="-5" dirty="0">
                <a:latin typeface="Times New Roman"/>
                <a:cs typeface="Times New Roman"/>
              </a:rPr>
              <a:t> N </a:t>
            </a:r>
            <a:r>
              <a:rPr lang="en-US" sz="2600" spc="-5" dirty="0">
                <a:latin typeface="Times New Roman"/>
                <a:cs typeface="Times New Roman"/>
              </a:rPr>
              <a:t> faire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endParaRPr lang="fr-FR" sz="2600" spc="-5" dirty="0">
              <a:latin typeface="Times New Roman"/>
              <a:cs typeface="Times New Roman"/>
            </a:endParaRPr>
          </a:p>
          <a:p>
            <a:pPr marL="3804285" marR="868044" indent="-457834">
              <a:lnSpc>
                <a:spcPct val="100000"/>
              </a:lnSpc>
            </a:pPr>
            <a:r>
              <a:rPr lang="fr-FR" sz="2600" spc="-5" dirty="0">
                <a:latin typeface="Times New Roman"/>
                <a:cs typeface="Times New Roman"/>
              </a:rPr>
              <a:t>       </a:t>
            </a:r>
            <a:r>
              <a:rPr sz="2600" spc="-5" dirty="0">
                <a:latin typeface="Times New Roman"/>
                <a:cs typeface="Times New Roman"/>
              </a:rPr>
              <a:t>F </a:t>
            </a:r>
            <a:r>
              <a:rPr sz="2600" spc="-5" dirty="0">
                <a:latin typeface="Wingdings"/>
                <a:cs typeface="Wingdings"/>
              </a:rPr>
              <a:t></a:t>
            </a:r>
            <a:r>
              <a:rPr sz="2600" spc="-5" dirty="0">
                <a:latin typeface="Times New Roman"/>
                <a:cs typeface="Times New Roman"/>
              </a:rPr>
              <a:t> F *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</a:t>
            </a:r>
            <a:endParaRPr sz="2600" dirty="0">
              <a:latin typeface="Times New Roman"/>
              <a:cs typeface="Times New Roman"/>
            </a:endParaRPr>
          </a:p>
          <a:p>
            <a:pPr marL="2889885" marR="2572385" indent="457200">
              <a:lnSpc>
                <a:spcPct val="100000"/>
              </a:lnSpc>
            </a:pPr>
            <a:r>
              <a:rPr lang="en-US" sz="2600" b="1" spc="-10" dirty="0">
                <a:latin typeface="Times New Roman"/>
                <a:cs typeface="Times New Roman"/>
              </a:rPr>
              <a:t>	   </a:t>
            </a:r>
            <a:r>
              <a:rPr sz="2600" b="1" spc="-10" dirty="0" err="1">
                <a:latin typeface="Times New Roman"/>
                <a:cs typeface="Times New Roman"/>
              </a:rPr>
              <a:t>Fi</a:t>
            </a:r>
            <a:r>
              <a:rPr sz="2600" b="1" spc="-5" dirty="0" err="1">
                <a:latin typeface="Times New Roman"/>
                <a:cs typeface="Times New Roman"/>
              </a:rPr>
              <a:t>n</a:t>
            </a:r>
            <a:r>
              <a:rPr sz="2600" b="1" spc="-10" dirty="0" err="1">
                <a:latin typeface="Times New Roman"/>
                <a:cs typeface="Times New Roman"/>
              </a:rPr>
              <a:t>P</a:t>
            </a:r>
            <a:r>
              <a:rPr sz="2600" b="1" spc="-5" dirty="0" err="1">
                <a:latin typeface="Times New Roman"/>
                <a:cs typeface="Times New Roman"/>
              </a:rPr>
              <a:t>our</a:t>
            </a:r>
            <a:endParaRPr lang="en-US" sz="2600" b="1" spc="-5" dirty="0">
              <a:latin typeface="Times New Roman"/>
              <a:cs typeface="Times New Roman"/>
            </a:endParaRPr>
          </a:p>
          <a:p>
            <a:pPr marL="2889885" marR="2572385" indent="457200">
              <a:lnSpc>
                <a:spcPct val="100000"/>
              </a:lnSpc>
            </a:pPr>
            <a:r>
              <a:rPr sz="2600" b="1" spc="-5" dirty="0" err="1">
                <a:latin typeface="Times New Roman"/>
                <a:cs typeface="Times New Roman"/>
              </a:rPr>
              <a:t>FinSi</a:t>
            </a:r>
            <a:endParaRPr sz="2600" dirty="0">
              <a:latin typeface="Times New Roman"/>
              <a:cs typeface="Times New Roman"/>
            </a:endParaRPr>
          </a:p>
          <a:p>
            <a:pPr marL="2889885">
              <a:lnSpc>
                <a:spcPct val="100000"/>
              </a:lnSpc>
            </a:pPr>
            <a:r>
              <a:rPr sz="2600" spc="-5" dirty="0">
                <a:latin typeface="Times New Roman"/>
                <a:cs typeface="Times New Roman"/>
              </a:rPr>
              <a:t>Ecrire ("La </a:t>
            </a:r>
            <a:r>
              <a:rPr sz="2600" spc="-5" dirty="0" err="1">
                <a:latin typeface="Times New Roman"/>
                <a:cs typeface="Times New Roman"/>
              </a:rPr>
              <a:t>factorielle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lang="fr-FR" sz="2600" spc="-5" dirty="0">
                <a:latin typeface="Times New Roman"/>
                <a:cs typeface="Times New Roman"/>
              </a:rPr>
              <a:t>de" , N, "</a:t>
            </a:r>
            <a:r>
              <a:rPr sz="2600" spc="-5" dirty="0" err="1">
                <a:latin typeface="Times New Roman"/>
                <a:cs typeface="Times New Roman"/>
              </a:rPr>
              <a:t>est</a:t>
            </a:r>
            <a:r>
              <a:rPr sz="2600" spc="-5" dirty="0">
                <a:latin typeface="Times New Roman"/>
                <a:cs typeface="Times New Roman"/>
              </a:rPr>
              <a:t> : ",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F)</a:t>
            </a:r>
            <a:endParaRPr sz="2600" dirty="0">
              <a:latin typeface="Times New Roman"/>
              <a:cs typeface="Times New Roman"/>
            </a:endParaRPr>
          </a:p>
          <a:p>
            <a:pPr marL="2432685">
              <a:lnSpc>
                <a:spcPct val="100000"/>
              </a:lnSpc>
            </a:pPr>
            <a:r>
              <a:rPr sz="2600" b="1" spc="-10" dirty="0">
                <a:latin typeface="Times New Roman"/>
                <a:cs typeface="Times New Roman"/>
              </a:rPr>
              <a:t>Fin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25"/>
              </a:lnSpc>
            </a:pPr>
            <a:fld id="{81D60167-4931-47E6-BA6A-407CBD079E47}" type="slidenum">
              <a:rPr spc="-5" dirty="0"/>
              <a:pPr marL="25400">
                <a:lnSpc>
                  <a:spcPts val="1625"/>
                </a:lnSpc>
              </a:pPr>
              <a:t>41</a:t>
            </a:fld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pc="-5" dirty="0"/>
              <a:t>Algorithmique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</TotalTime>
  <Words>3106</Words>
  <Application>Microsoft Office PowerPoint</Application>
  <PresentationFormat>Personnalisé</PresentationFormat>
  <Paragraphs>451</Paragraphs>
  <Slides>41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7" baseType="lpstr">
      <vt:lpstr>Arial</vt:lpstr>
      <vt:lpstr>Calibri</vt:lpstr>
      <vt:lpstr>Symbol</vt:lpstr>
      <vt:lpstr>Times New Roman</vt:lpstr>
      <vt:lpstr>Wingdings</vt:lpstr>
      <vt:lpstr>Office Theme</vt:lpstr>
      <vt:lpstr>Algorithmique</vt:lpstr>
      <vt:lpstr>Algorithmique: Outils de base</vt:lpstr>
      <vt:lpstr>Algorithmique: Outils de base</vt:lpstr>
      <vt:lpstr>Tests: instructions conditionnelles</vt:lpstr>
      <vt:lpstr>Tests: instructions conditionnelles</vt:lpstr>
      <vt:lpstr>Tests: instructions conditionnelles</vt:lpstr>
      <vt:lpstr>Tests: instructions conditionnelles</vt:lpstr>
      <vt:lpstr>Algorithmique: Outils de base</vt:lpstr>
      <vt:lpstr>Tests: instructions conditionnelles</vt:lpstr>
      <vt:lpstr>Tests: instructions conditionnelles  La condition:</vt:lpstr>
      <vt:lpstr>Tests: instructions conditionnelles  La condition (suite):</vt:lpstr>
      <vt:lpstr>Tests: instructions conditionnelles</vt:lpstr>
      <vt:lpstr>Tests: instructions conditionnelles</vt:lpstr>
      <vt:lpstr>Tests: instructions conditionnelles</vt:lpstr>
      <vt:lpstr>Tests: instructions  conditionnelles</vt:lpstr>
      <vt:lpstr>Tests: instructions conditionnelles</vt:lpstr>
      <vt:lpstr>Tests: instructions conditionnelles</vt:lpstr>
      <vt:lpstr>Tests: instructions conditionnelles</vt:lpstr>
      <vt:lpstr>Algorithmique: Outils de base</vt:lpstr>
      <vt:lpstr>Algorithmique: Outils de base</vt:lpstr>
      <vt:lpstr>Les boucles: Instructions itératives</vt:lpstr>
      <vt:lpstr>La boucle « Tant que »</vt:lpstr>
      <vt:lpstr>La boucle « Tant que »</vt:lpstr>
      <vt:lpstr>Algorithmique: Outils de base</vt:lpstr>
      <vt:lpstr>La boucle « Tant que »</vt:lpstr>
      <vt:lpstr>La boucle « Répéter…jusqu'à »</vt:lpstr>
      <vt:lpstr>La boucle « Répéter…jusqu'à »</vt:lpstr>
      <vt:lpstr>Les boucles Tant que vs. Répéter jusqu’à</vt:lpstr>
      <vt:lpstr>La boucle « Pour »</vt:lpstr>
      <vt:lpstr>La boucle « Pour »</vt:lpstr>
      <vt:lpstr>La boucle « Pour »</vt:lpstr>
      <vt:lpstr>La boucle « Pour »</vt:lpstr>
      <vt:lpstr>La boucle « Pour »</vt:lpstr>
      <vt:lpstr>La boucle « Pour »</vt:lpstr>
      <vt:lpstr>La boucle « Pour »</vt:lpstr>
      <vt:lpstr>La boucle Pour vs. TantQue</vt:lpstr>
      <vt:lpstr>Algorithmique: Outils de base</vt:lpstr>
      <vt:lpstr>Choix d'un type de boucle</vt:lpstr>
      <vt:lpstr>Choix d'un type de boucle</vt:lpstr>
      <vt:lpstr>Exercice d’application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Algorithmique</dc:title>
  <dc:creator>Niss</dc:creator>
  <cp:lastModifiedBy>JABRANE</cp:lastModifiedBy>
  <cp:revision>112</cp:revision>
  <dcterms:created xsi:type="dcterms:W3CDTF">2019-09-09T04:59:54Z</dcterms:created>
  <dcterms:modified xsi:type="dcterms:W3CDTF">2024-11-04T10:03:28Z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2017-11-16T00:00:00Z</vt:filetime>
  </property>
  <property fmtid="{D5CDD505-2E9C-101B-9397-08002B2CF9AE}" pid="3" name="Creator">
    <vt:lpwstr>Acrobat PDFMaker 10.0 pour PowerPoint</vt:lpwstr>
  </property>
  <property fmtid="{D5CDD505-2E9C-101B-9397-08002B2CF9AE}" pid="4" name="LastSaved">
    <vt:filetime>2019-09-09T00:00:00Z</vt:filetime>
  </property>
</Properties>
</file>