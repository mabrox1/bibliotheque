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0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750800" cy="6858000"/>
  <p:notesSz cx="127508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12" autoAdjust="0"/>
    <p:restoredTop sz="94660"/>
  </p:normalViewPr>
  <p:slideViewPr>
    <p:cSldViewPr>
      <p:cViewPr varScale="1">
        <p:scale>
          <a:sx n="64" d="100"/>
          <a:sy n="64" d="100"/>
        </p:scale>
        <p:origin x="57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260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7223125" y="0"/>
            <a:ext cx="55245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DB3EE-CE30-47AD-AD72-9CDCA10366D8}" type="datetimeFigureOut">
              <a:rPr lang="fr-FR" smtClean="0"/>
              <a:pPr/>
              <a:t>04/11/2024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984625" y="514350"/>
            <a:ext cx="47815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1274763" y="3257550"/>
            <a:ext cx="10201275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5260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7223125" y="6513513"/>
            <a:ext cx="55245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13C2-990D-4889-91DD-B56836637CF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86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31DB6-7337-492C-B918-7A1DD59C2CF7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927100">
              <a:lnSpc>
                <a:spcPct val="100000"/>
              </a:lnSpc>
            </a:pPr>
            <a:r>
              <a:rPr lang="fr-FR" sz="1200" i="1" spc="-5" dirty="0">
                <a:latin typeface="Times New Roman"/>
                <a:cs typeface="Times New Roman"/>
              </a:rPr>
              <a:t>Entrée(s): </a:t>
            </a:r>
            <a:r>
              <a:rPr lang="fr-FR" sz="1200" dirty="0">
                <a:latin typeface="Times New Roman"/>
                <a:cs typeface="Times New Roman"/>
              </a:rPr>
              <a:t>… </a:t>
            </a:r>
            <a:r>
              <a:rPr lang="fr-FR" sz="1200" dirty="0">
                <a:solidFill>
                  <a:srgbClr val="00B050"/>
                </a:solidFill>
                <a:latin typeface="Times New Roman"/>
                <a:cs typeface="Times New Roman"/>
              </a:rPr>
              <a:t>/* </a:t>
            </a:r>
            <a:r>
              <a:rPr lang="fr-FR" sz="1200" spc="-5" dirty="0">
                <a:solidFill>
                  <a:srgbClr val="00B050"/>
                </a:solidFill>
                <a:latin typeface="Times New Roman"/>
                <a:cs typeface="Times New Roman"/>
              </a:rPr>
              <a:t>Définition des entrées</a:t>
            </a:r>
            <a:r>
              <a:rPr lang="fr-FR" sz="1200" spc="-6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1200" dirty="0">
                <a:solidFill>
                  <a:srgbClr val="00B050"/>
                </a:solidFill>
                <a:latin typeface="Times New Roman"/>
                <a:cs typeface="Times New Roman"/>
              </a:rPr>
              <a:t>*/</a:t>
            </a:r>
            <a:endParaRPr lang="fr-FR" sz="12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lang="fr-FR" sz="1200" i="1" spc="-5" dirty="0">
                <a:latin typeface="Times New Roman"/>
                <a:cs typeface="Times New Roman"/>
              </a:rPr>
              <a:t>Sortie(s): </a:t>
            </a:r>
            <a:r>
              <a:rPr lang="fr-FR" sz="1200" dirty="0">
                <a:latin typeface="Times New Roman"/>
                <a:cs typeface="Times New Roman"/>
              </a:rPr>
              <a:t>… </a:t>
            </a:r>
            <a:r>
              <a:rPr lang="fr-FR" sz="1200" dirty="0">
                <a:solidFill>
                  <a:srgbClr val="00B050"/>
                </a:solidFill>
                <a:latin typeface="Times New Roman"/>
                <a:cs typeface="Times New Roman"/>
              </a:rPr>
              <a:t>/* </a:t>
            </a:r>
            <a:r>
              <a:rPr lang="fr-FR" sz="1200" spc="-5" dirty="0">
                <a:solidFill>
                  <a:srgbClr val="00B050"/>
                </a:solidFill>
                <a:latin typeface="Times New Roman"/>
                <a:cs typeface="Times New Roman"/>
              </a:rPr>
              <a:t>Définition des sorties</a:t>
            </a:r>
            <a:r>
              <a:rPr lang="fr-FR" sz="1200" spc="-7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1200" dirty="0">
                <a:solidFill>
                  <a:srgbClr val="00B050"/>
                </a:solidFill>
                <a:latin typeface="Times New Roman"/>
                <a:cs typeface="Times New Roman"/>
              </a:rPr>
              <a:t>*/</a:t>
            </a:r>
            <a:endParaRPr lang="fr-FR" sz="1200" dirty="0">
              <a:latin typeface="Times New Roman"/>
              <a:cs typeface="Times New Roman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013C2-990D-4889-91DD-B56836637CF9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72460" y="733660"/>
            <a:ext cx="800587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12620" y="3840480"/>
            <a:ext cx="892556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7540" y="1577340"/>
            <a:ext cx="5546598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66662" y="1577340"/>
            <a:ext cx="5546598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93198" y="947973"/>
            <a:ext cx="7364402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0429" y="1441182"/>
            <a:ext cx="10869941" cy="4453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63193" y="6629215"/>
            <a:ext cx="84772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7540" y="6377940"/>
            <a:ext cx="293268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33956" y="6608992"/>
            <a:ext cx="2292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653" y="2143116"/>
            <a:ext cx="11475720" cy="1143000"/>
          </a:xfrm>
        </p:spPr>
        <p:txBody>
          <a:bodyPr>
            <a:normAutofit/>
          </a:bodyPr>
          <a:lstStyle/>
          <a:p>
            <a:pPr algn="ctr"/>
            <a:r>
              <a:rPr lang="fr-FR" sz="5900" dirty="0">
                <a:solidFill>
                  <a:srgbClr val="000000"/>
                </a:solidFill>
              </a:rPr>
              <a:t>Algo</a:t>
            </a:r>
            <a:r>
              <a:rPr lang="fr-FR" sz="5900" spc="-5" dirty="0">
                <a:solidFill>
                  <a:srgbClr val="000000"/>
                </a:solidFill>
              </a:rPr>
              <a:t>r</a:t>
            </a:r>
            <a:r>
              <a:rPr lang="fr-FR" sz="5900" dirty="0">
                <a:solidFill>
                  <a:srgbClr val="000000"/>
                </a:solidFill>
              </a:rPr>
              <a:t>i</a:t>
            </a:r>
            <a:r>
              <a:rPr lang="fr-FR" sz="5900" spc="-5" dirty="0">
                <a:solidFill>
                  <a:srgbClr val="000000"/>
                </a:solidFill>
              </a:rPr>
              <a:t>t</a:t>
            </a:r>
            <a:r>
              <a:rPr lang="fr-FR" sz="5900" dirty="0">
                <a:solidFill>
                  <a:srgbClr val="000000"/>
                </a:solidFill>
              </a:rPr>
              <a:t>hmique</a:t>
            </a:r>
            <a:endParaRPr lang="fr-FR" sz="59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" y="6572248"/>
            <a:ext cx="6176168" cy="28575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fr-FR" sz="1100" spc="-5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lang="fr-FR" sz="1100" dirty="0"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6212" y="6572272"/>
            <a:ext cx="6574589" cy="28572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>
                <a:latin typeface="Times New Roman" pitchFamily="18" charset="0"/>
                <a:cs typeface="Times New Roman" pitchFamily="18" charset="0"/>
              </a:rPr>
              <a:t>m.saadi@</a:t>
            </a:r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usms.ma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0"/>
            <a:ext cx="12750800" cy="64291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052" name="Picture 4" descr="Image associée"/>
          <p:cNvPicPr>
            <a:picLocks noChangeAspect="1" noChangeArrowheads="1"/>
          </p:cNvPicPr>
          <p:nvPr/>
        </p:nvPicPr>
        <p:blipFill>
          <a:blip r:embed="rId3" cstate="print"/>
          <a:srcRect l="19769" r="25078" b="-3517"/>
          <a:stretch>
            <a:fillRect/>
          </a:stretch>
        </p:blipFill>
        <p:spPr bwMode="auto">
          <a:xfrm>
            <a:off x="502730" y="1000108"/>
            <a:ext cx="2119720" cy="1071570"/>
          </a:xfrm>
          <a:prstGeom prst="rect">
            <a:avLst/>
          </a:prstGeom>
          <a:noFill/>
        </p:spPr>
      </p:pic>
      <p:pic>
        <p:nvPicPr>
          <p:cNvPr id="9" name="Image 8" descr="Afficher l’image source"/>
          <p:cNvPicPr/>
          <p:nvPr/>
        </p:nvPicPr>
        <p:blipFill>
          <a:blip r:embed="rId4"/>
          <a:srcRect l="6918" t="15111" r="7862" b="15111"/>
          <a:stretch>
            <a:fillRect/>
          </a:stretch>
        </p:blipFill>
        <p:spPr bwMode="auto">
          <a:xfrm>
            <a:off x="10591676" y="1000108"/>
            <a:ext cx="1355233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bject 10"/>
          <p:cNvSpPr txBox="1"/>
          <p:nvPr/>
        </p:nvSpPr>
        <p:spPr>
          <a:xfrm>
            <a:off x="2912031" y="3286124"/>
            <a:ext cx="6943422" cy="24942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lang="fr-FR" sz="2400" spc="-5" dirty="0">
                <a:solidFill>
                  <a:srgbClr val="595958"/>
                </a:solidFill>
                <a:uFill>
                  <a:solidFill>
                    <a:srgbClr val="595958"/>
                  </a:solidFill>
                </a:uFill>
                <a:latin typeface="Times New Roman"/>
                <a:cs typeface="Times New Roman"/>
              </a:rPr>
              <a:t>Première Année du Cycle Préparatoire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ENSA</a:t>
            </a:r>
            <a:r>
              <a:rPr sz="2400" spc="-80" dirty="0">
                <a:solidFill>
                  <a:srgbClr val="59595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Khouribga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Pr. </a:t>
            </a:r>
            <a:r>
              <a:rPr lang="fr-FR"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SAADI Mostafa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Année Universitaire:</a:t>
            </a:r>
            <a:r>
              <a:rPr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20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24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/202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5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519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410" y="1160001"/>
            <a:ext cx="554672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5" dirty="0">
                <a:solidFill>
                  <a:srgbClr val="C00000"/>
                </a:solidFill>
              </a:rPr>
              <a:t>A quoi sert un</a:t>
            </a:r>
            <a:r>
              <a:rPr sz="3800" spc="-229" dirty="0">
                <a:solidFill>
                  <a:srgbClr val="C00000"/>
                </a:solidFill>
              </a:rPr>
              <a:t> </a:t>
            </a:r>
            <a:r>
              <a:rPr sz="3800" spc="-5" dirty="0">
                <a:solidFill>
                  <a:srgbClr val="C00000"/>
                </a:solidFill>
              </a:rPr>
              <a:t>algorithme?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879595" y="1843515"/>
            <a:ext cx="9269095" cy="306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77933C"/>
                </a:solidFill>
                <a:latin typeface="Times New Roman"/>
                <a:cs typeface="Times New Roman"/>
              </a:rPr>
              <a:t>Réponse:</a:t>
            </a:r>
            <a:endParaRPr sz="3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85"/>
              </a:spcBef>
            </a:pPr>
            <a:r>
              <a:rPr sz="3600" spc="-5" dirty="0">
                <a:latin typeface="Times New Roman"/>
                <a:cs typeface="Times New Roman"/>
              </a:rPr>
              <a:t>À </a:t>
            </a:r>
            <a:r>
              <a:rPr sz="3600" b="1" spc="-15" dirty="0">
                <a:latin typeface="Times New Roman"/>
                <a:cs typeface="Times New Roman"/>
              </a:rPr>
              <a:t>décrire </a:t>
            </a:r>
            <a:r>
              <a:rPr sz="3600" b="1" spc="-5" dirty="0">
                <a:latin typeface="Times New Roman"/>
                <a:cs typeface="Times New Roman"/>
              </a:rPr>
              <a:t>les étapes </a:t>
            </a:r>
            <a:r>
              <a:rPr sz="3600" dirty="0">
                <a:latin typeface="Times New Roman"/>
                <a:cs typeface="Times New Roman"/>
              </a:rPr>
              <a:t>de </a:t>
            </a:r>
            <a:r>
              <a:rPr sz="3600" spc="-5" dirty="0">
                <a:latin typeface="Times New Roman"/>
                <a:cs typeface="Times New Roman"/>
              </a:rPr>
              <a:t>résolution d'un problème</a:t>
            </a:r>
            <a:r>
              <a:rPr sz="3600" spc="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:</a:t>
            </a:r>
          </a:p>
          <a:p>
            <a:pPr marL="469900">
              <a:lnSpc>
                <a:spcPct val="100000"/>
              </a:lnSpc>
              <a:spcBef>
                <a:spcPts val="745"/>
              </a:spcBef>
            </a:pPr>
            <a:r>
              <a:rPr sz="3000" dirty="0">
                <a:latin typeface="Times New Roman"/>
                <a:cs typeface="Times New Roman"/>
              </a:rPr>
              <a:t>→ de façon </a:t>
            </a:r>
            <a:r>
              <a:rPr sz="3000" spc="-5" dirty="0">
                <a:latin typeface="Times New Roman"/>
                <a:cs typeface="Times New Roman"/>
              </a:rPr>
              <a:t>structurée </a:t>
            </a:r>
            <a:r>
              <a:rPr sz="3000" dirty="0">
                <a:latin typeface="Times New Roman"/>
                <a:cs typeface="Times New Roman"/>
              </a:rPr>
              <a:t>et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compacte</a:t>
            </a:r>
            <a:r>
              <a:rPr lang="fr-FR" sz="3000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Times New Roman"/>
                <a:cs typeface="Times New Roman"/>
              </a:rPr>
              <a:t>→ à </a:t>
            </a:r>
            <a:r>
              <a:rPr sz="3000" dirty="0" err="1">
                <a:latin typeface="Times New Roman"/>
                <a:cs typeface="Times New Roman"/>
              </a:rPr>
              <a:t>partir</a:t>
            </a:r>
            <a:r>
              <a:rPr sz="3000" dirty="0">
                <a:latin typeface="Times New Roman"/>
                <a:cs typeface="Times New Roman"/>
              </a:rPr>
              <a:t> d</a:t>
            </a:r>
            <a:r>
              <a:rPr lang="fr-FR" sz="3000" dirty="0">
                <a:latin typeface="Times New Roman"/>
                <a:cs typeface="Times New Roman"/>
              </a:rPr>
              <a:t>es </a:t>
            </a:r>
            <a:r>
              <a:rPr sz="3000" dirty="0" err="1">
                <a:latin typeface="Times New Roman"/>
                <a:cs typeface="Times New Roman"/>
              </a:rPr>
              <a:t>opérations</a:t>
            </a:r>
            <a:r>
              <a:rPr sz="3000" dirty="0">
                <a:latin typeface="Times New Roman"/>
                <a:cs typeface="Times New Roman"/>
              </a:rPr>
              <a:t> de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base</a:t>
            </a:r>
            <a:r>
              <a:rPr lang="fr-FR" sz="3000" spc="-5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Times New Roman"/>
                <a:cs typeface="Times New Roman"/>
              </a:rPr>
              <a:t>→ indépendamment </a:t>
            </a:r>
            <a:r>
              <a:rPr sz="3000" spc="-5" dirty="0">
                <a:latin typeface="Times New Roman"/>
                <a:cs typeface="Times New Roman"/>
              </a:rPr>
              <a:t>d'un </a:t>
            </a:r>
            <a:r>
              <a:rPr sz="3000" dirty="0">
                <a:latin typeface="Times New Roman"/>
                <a:cs typeface="Times New Roman"/>
              </a:rPr>
              <a:t>langage de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programmation</a:t>
            </a:r>
            <a:r>
              <a:rPr lang="fr-FR" sz="300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3225" y="99208"/>
            <a:ext cx="18167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800" y="1588630"/>
            <a:ext cx="11963400" cy="11817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800" spc="-10" dirty="0">
                <a:solidFill>
                  <a:srgbClr val="C00000"/>
                </a:solidFill>
              </a:rPr>
              <a:t>Pourquoi </a:t>
            </a:r>
            <a:r>
              <a:rPr sz="3800" spc="-20" dirty="0">
                <a:solidFill>
                  <a:srgbClr val="C00000"/>
                </a:solidFill>
              </a:rPr>
              <a:t>apprendre </a:t>
            </a:r>
            <a:r>
              <a:rPr sz="3800" spc="-5" dirty="0">
                <a:solidFill>
                  <a:srgbClr val="C00000"/>
                </a:solidFill>
              </a:rPr>
              <a:t>l’algorithmique </a:t>
            </a:r>
            <a:r>
              <a:rPr lang="en-US" sz="3800" spc="-5" dirty="0" err="1">
                <a:solidFill>
                  <a:srgbClr val="C00000"/>
                </a:solidFill>
              </a:rPr>
              <a:t>avant</a:t>
            </a:r>
            <a:r>
              <a:rPr lang="en-US" sz="3800" spc="-5" dirty="0">
                <a:solidFill>
                  <a:srgbClr val="C00000"/>
                </a:solidFill>
              </a:rPr>
              <a:t> </a:t>
            </a:r>
            <a:r>
              <a:rPr sz="3800" spc="-65" dirty="0">
                <a:solidFill>
                  <a:srgbClr val="C00000"/>
                </a:solidFill>
              </a:rPr>
              <a:t> </a:t>
            </a:r>
            <a:r>
              <a:rPr lang="en-US" sz="3800" spc="-65" dirty="0" err="1">
                <a:solidFill>
                  <a:srgbClr val="C00000"/>
                </a:solidFill>
              </a:rPr>
              <a:t>d’</a:t>
            </a:r>
            <a:r>
              <a:rPr sz="3800" spc="-20" dirty="0" err="1">
                <a:solidFill>
                  <a:srgbClr val="C00000"/>
                </a:solidFill>
              </a:rPr>
              <a:t>apprendre</a:t>
            </a:r>
            <a:endParaRPr sz="3800" dirty="0"/>
          </a:p>
          <a:p>
            <a:pPr marL="344805" algn="ctr">
              <a:lnSpc>
                <a:spcPct val="100000"/>
              </a:lnSpc>
              <a:spcBef>
                <a:spcPts val="5"/>
              </a:spcBef>
            </a:pPr>
            <a:r>
              <a:rPr sz="3800" spc="-5" dirty="0">
                <a:solidFill>
                  <a:srgbClr val="C00000"/>
                </a:solidFill>
              </a:rPr>
              <a:t>à </a:t>
            </a:r>
            <a:r>
              <a:rPr sz="3800" spc="-10" dirty="0">
                <a:solidFill>
                  <a:srgbClr val="C00000"/>
                </a:solidFill>
              </a:rPr>
              <a:t>programmer</a:t>
            </a:r>
            <a:r>
              <a:rPr sz="3800" spc="-70" dirty="0">
                <a:solidFill>
                  <a:srgbClr val="C00000"/>
                </a:solidFill>
              </a:rPr>
              <a:t> </a:t>
            </a:r>
            <a:r>
              <a:rPr sz="3800" spc="-5" dirty="0">
                <a:solidFill>
                  <a:srgbClr val="C00000"/>
                </a:solidFill>
              </a:rPr>
              <a:t>?</a:t>
            </a:r>
            <a:endParaRPr sz="3800" dirty="0"/>
          </a:p>
        </p:txBody>
      </p:sp>
      <p:sp>
        <p:nvSpPr>
          <p:cNvPr id="3" name="object 3"/>
          <p:cNvSpPr txBox="1"/>
          <p:nvPr/>
        </p:nvSpPr>
        <p:spPr>
          <a:xfrm>
            <a:off x="879595" y="3509632"/>
            <a:ext cx="1098613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77933C"/>
                </a:solidFill>
                <a:latin typeface="Times New Roman"/>
                <a:cs typeface="Times New Roman"/>
              </a:rPr>
              <a:t>Réponse: </a:t>
            </a:r>
            <a:r>
              <a:rPr sz="3400" dirty="0">
                <a:latin typeface="Times New Roman"/>
                <a:cs typeface="Times New Roman"/>
              </a:rPr>
              <a:t>Parce </a:t>
            </a:r>
            <a:r>
              <a:rPr sz="3400" spc="-5" dirty="0">
                <a:latin typeface="Times New Roman"/>
                <a:cs typeface="Times New Roman"/>
              </a:rPr>
              <a:t>que </a:t>
            </a:r>
            <a:r>
              <a:rPr sz="3400" dirty="0">
                <a:latin typeface="Times New Roman"/>
                <a:cs typeface="Times New Roman"/>
              </a:rPr>
              <a:t>l’algorithmique exprime les </a:t>
            </a:r>
            <a:r>
              <a:rPr sz="3400" spc="-5" dirty="0">
                <a:latin typeface="Times New Roman"/>
                <a:cs typeface="Times New Roman"/>
              </a:rPr>
              <a:t>instructions  </a:t>
            </a:r>
            <a:r>
              <a:rPr sz="3400" dirty="0">
                <a:latin typeface="Times New Roman"/>
                <a:cs typeface="Times New Roman"/>
              </a:rPr>
              <a:t>résolvant un </a:t>
            </a:r>
            <a:r>
              <a:rPr sz="3400" dirty="0" err="1">
                <a:latin typeface="Times New Roman"/>
                <a:cs typeface="Times New Roman"/>
              </a:rPr>
              <a:t>problème</a:t>
            </a:r>
            <a:r>
              <a:rPr sz="3400" dirty="0">
                <a:latin typeface="Times New Roman"/>
                <a:cs typeface="Times New Roman"/>
              </a:rPr>
              <a:t> </a:t>
            </a:r>
            <a:r>
              <a:rPr sz="3400" spc="-5" dirty="0" err="1">
                <a:latin typeface="Times New Roman"/>
                <a:cs typeface="Times New Roman"/>
              </a:rPr>
              <a:t>donné</a:t>
            </a:r>
            <a:r>
              <a:rPr lang="fr-FR" sz="3400" spc="-5" dirty="0">
                <a:latin typeface="Times New Roman"/>
                <a:cs typeface="Times New Roman"/>
              </a:rPr>
              <a:t>,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indépendamment </a:t>
            </a:r>
            <a:r>
              <a:rPr sz="3400" spc="-5" dirty="0">
                <a:latin typeface="Times New Roman"/>
                <a:cs typeface="Times New Roman"/>
              </a:rPr>
              <a:t>des  </a:t>
            </a:r>
            <a:r>
              <a:rPr sz="3400" dirty="0">
                <a:latin typeface="Times New Roman"/>
                <a:cs typeface="Times New Roman"/>
              </a:rPr>
              <a:t>particularités de </a:t>
            </a:r>
            <a:r>
              <a:rPr sz="3400" dirty="0" err="1">
                <a:latin typeface="Times New Roman"/>
                <a:cs typeface="Times New Roman"/>
              </a:rPr>
              <a:t>tel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langage.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3225" y="99208"/>
            <a:ext cx="18167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470" y="1615966"/>
            <a:ext cx="10235565" cy="376064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3200" spc="-5" dirty="0">
                <a:latin typeface="Times New Roman"/>
                <a:cs typeface="Times New Roman"/>
              </a:rPr>
              <a:t>Dans la vie courante, un algorithme peut prendre la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forme:</a:t>
            </a:r>
            <a:endParaRPr sz="3200" dirty="0">
              <a:latin typeface="Times New Roman"/>
              <a:cs typeface="Times New Roman"/>
            </a:endParaRPr>
          </a:p>
          <a:p>
            <a:pPr marL="995044" indent="-525780">
              <a:lnSpc>
                <a:spcPct val="100000"/>
              </a:lnSpc>
              <a:spcBef>
                <a:spcPts val="1490"/>
              </a:spcBef>
              <a:buFont typeface="Wingdings"/>
              <a:buChar char=""/>
              <a:tabLst>
                <a:tab pos="995044" algn="l"/>
                <a:tab pos="995680" algn="l"/>
              </a:tabLst>
            </a:pPr>
            <a:r>
              <a:rPr sz="3200" spc="-5" dirty="0">
                <a:latin typeface="Times New Roman"/>
                <a:cs typeface="Times New Roman"/>
              </a:rPr>
              <a:t>d'une recette 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cuisine</a:t>
            </a:r>
            <a:r>
              <a:rPr lang="fr-FR" sz="3200" spc="-5" dirty="0"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  <a:p>
            <a:pPr marL="995044" indent="-52578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995044" algn="l"/>
                <a:tab pos="995680" algn="l"/>
              </a:tabLst>
            </a:pPr>
            <a:r>
              <a:rPr sz="3200" spc="-5" dirty="0">
                <a:latin typeface="Times New Roman"/>
                <a:cs typeface="Times New Roman"/>
              </a:rPr>
              <a:t>d'un mode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 err="1">
                <a:latin typeface="Times New Roman"/>
                <a:cs typeface="Times New Roman"/>
              </a:rPr>
              <a:t>d'emploi</a:t>
            </a:r>
            <a:r>
              <a:rPr lang="fr-FR" sz="3200" spc="-5" dirty="0"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  <a:p>
            <a:pPr marL="995680" indent="-525780">
              <a:lnSpc>
                <a:spcPct val="100000"/>
              </a:lnSpc>
              <a:spcBef>
                <a:spcPts val="765"/>
              </a:spcBef>
              <a:buFont typeface="Wingdings"/>
              <a:buChar char=""/>
              <a:tabLst>
                <a:tab pos="995680" algn="l"/>
                <a:tab pos="996315" algn="l"/>
              </a:tabLst>
            </a:pPr>
            <a:r>
              <a:rPr sz="3200" spc="-5" dirty="0">
                <a:latin typeface="Times New Roman"/>
                <a:cs typeface="Times New Roman"/>
              </a:rPr>
              <a:t>d'une notice de montage</a:t>
            </a:r>
            <a:r>
              <a:rPr lang="fr-FR" sz="3200" spc="-5" dirty="0"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  <a:p>
            <a:pPr marL="995680" indent="-52578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995680" algn="l"/>
                <a:tab pos="996315" algn="l"/>
              </a:tabLst>
            </a:pPr>
            <a:r>
              <a:rPr sz="3200" spc="-5" dirty="0">
                <a:latin typeface="Times New Roman"/>
                <a:cs typeface="Times New Roman"/>
              </a:rPr>
              <a:t>d'un itinéraire routier qu’on explique à un </a:t>
            </a:r>
            <a:r>
              <a:rPr sz="3200" spc="-5" dirty="0" err="1">
                <a:latin typeface="Times New Roman"/>
                <a:cs typeface="Times New Roman"/>
              </a:rPr>
              <a:t>touriste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 err="1">
                <a:latin typeface="Times New Roman"/>
                <a:cs typeface="Times New Roman"/>
              </a:rPr>
              <a:t>perdu</a:t>
            </a:r>
            <a:r>
              <a:rPr lang="fr-FR" sz="3200" spc="-5" dirty="0"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  <a:p>
            <a:pPr marL="995680" indent="-52578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995680" algn="l"/>
                <a:tab pos="996315" algn="l"/>
              </a:tabLst>
            </a:pPr>
            <a:r>
              <a:rPr sz="3200" spc="-5" dirty="0">
                <a:latin typeface="Times New Roman"/>
                <a:cs typeface="Times New Roman"/>
              </a:rPr>
              <a:t>….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3225" y="99208"/>
            <a:ext cx="18167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85382" y="902401"/>
            <a:ext cx="378142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/>
              <a:t>Notion</a:t>
            </a:r>
            <a:r>
              <a:rPr sz="3400" spc="-85" dirty="0"/>
              <a:t> </a:t>
            </a:r>
            <a:r>
              <a:rPr sz="3400" dirty="0"/>
              <a:t>d’algorithme</a:t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9595" y="948735"/>
            <a:ext cx="7419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C00000"/>
                </a:solidFill>
              </a:rPr>
              <a:t>Exemple </a:t>
            </a:r>
            <a:r>
              <a:rPr sz="3000" dirty="0">
                <a:solidFill>
                  <a:srgbClr val="C00000"/>
                </a:solidFill>
              </a:rPr>
              <a:t>1: </a:t>
            </a:r>
            <a:r>
              <a:rPr sz="2800" b="0" dirty="0">
                <a:solidFill>
                  <a:srgbClr val="C00000"/>
                </a:solidFill>
                <a:latin typeface="Times New Roman"/>
                <a:cs typeface="Times New Roman"/>
              </a:rPr>
              <a:t>Mode </a:t>
            </a:r>
            <a:r>
              <a:rPr sz="2800" b="0" spc="-5" dirty="0">
                <a:solidFill>
                  <a:srgbClr val="C00000"/>
                </a:solidFill>
                <a:latin typeface="Times New Roman"/>
                <a:cs typeface="Times New Roman"/>
              </a:rPr>
              <a:t>d’emploi </a:t>
            </a:r>
            <a:r>
              <a:rPr sz="2800" b="0" dirty="0">
                <a:solidFill>
                  <a:srgbClr val="C00000"/>
                </a:solidFill>
                <a:latin typeface="Times New Roman"/>
                <a:cs typeface="Times New Roman"/>
              </a:rPr>
              <a:t>d’un </a:t>
            </a:r>
            <a:r>
              <a:rPr sz="2800" b="0" spc="-5" dirty="0">
                <a:solidFill>
                  <a:srgbClr val="C00000"/>
                </a:solidFill>
                <a:latin typeface="Times New Roman"/>
                <a:cs typeface="Times New Roman"/>
              </a:rPr>
              <a:t>télécopieur</a:t>
            </a:r>
            <a:r>
              <a:rPr sz="2800" b="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C00000"/>
                </a:solidFill>
                <a:latin typeface="Times New Roman"/>
                <a:cs typeface="Times New Roman"/>
              </a:rPr>
              <a:t>(Fax)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83" y="1516559"/>
            <a:ext cx="10985500" cy="467692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050" algn="l"/>
                <a:tab pos="528320" algn="l"/>
              </a:tabLst>
            </a:pPr>
            <a:r>
              <a:rPr sz="2800" spc="-5" dirty="0">
                <a:latin typeface="Times New Roman"/>
                <a:cs typeface="Times New Roman"/>
              </a:rPr>
              <a:t>Insérez </a:t>
            </a:r>
            <a:r>
              <a:rPr sz="2800" dirty="0">
                <a:latin typeface="Times New Roman"/>
                <a:cs typeface="Times New Roman"/>
              </a:rPr>
              <a:t>le </a:t>
            </a:r>
            <a:r>
              <a:rPr sz="2800" spc="-5" dirty="0">
                <a:latin typeface="Times New Roman"/>
                <a:cs typeface="Times New Roman"/>
              </a:rPr>
              <a:t>document dans </a:t>
            </a:r>
            <a:r>
              <a:rPr sz="2800" dirty="0">
                <a:latin typeface="Times New Roman"/>
                <a:cs typeface="Times New Roman"/>
              </a:rPr>
              <a:t>le </a:t>
            </a:r>
            <a:r>
              <a:rPr sz="2800" spc="-10" dirty="0">
                <a:latin typeface="Times New Roman"/>
                <a:cs typeface="Times New Roman"/>
              </a:rPr>
              <a:t>chargeur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automatique.</a:t>
            </a:r>
            <a:endParaRPr sz="2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050" algn="l"/>
                <a:tab pos="52832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Composez </a:t>
            </a:r>
            <a:r>
              <a:rPr sz="2800" dirty="0">
                <a:latin typeface="Times New Roman"/>
                <a:cs typeface="Times New Roman"/>
              </a:rPr>
              <a:t>le </a:t>
            </a:r>
            <a:r>
              <a:rPr sz="2800" spc="-5" dirty="0">
                <a:latin typeface="Times New Roman"/>
                <a:cs typeface="Times New Roman"/>
              </a:rPr>
              <a:t>numéro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fax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" dirty="0">
                <a:latin typeface="Times New Roman"/>
                <a:cs typeface="Times New Roman"/>
              </a:rPr>
              <a:t>destinataire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l’aide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" dirty="0" err="1">
                <a:latin typeface="Times New Roman"/>
                <a:cs typeface="Times New Roman"/>
              </a:rPr>
              <a:t>pavé</a:t>
            </a:r>
            <a:r>
              <a:rPr lang="fr-FR" sz="2800" spc="-5" dirty="0">
                <a:latin typeface="Times New Roman"/>
                <a:cs typeface="Times New Roman"/>
              </a:rPr>
              <a:t> (clavier)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numérique.</a:t>
            </a:r>
            <a:endParaRPr sz="2800" dirty="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Times New Roman"/>
                <a:cs typeface="Times New Roman"/>
              </a:rPr>
              <a:t>Enfoncez </a:t>
            </a:r>
            <a:r>
              <a:rPr sz="2800" dirty="0">
                <a:latin typeface="Times New Roman"/>
                <a:cs typeface="Times New Roman"/>
              </a:rPr>
              <a:t>la touche </a:t>
            </a:r>
            <a:r>
              <a:rPr sz="2800" spc="-5" dirty="0">
                <a:latin typeface="Times New Roman"/>
                <a:cs typeface="Times New Roman"/>
              </a:rPr>
              <a:t>envoi </a:t>
            </a:r>
            <a:r>
              <a:rPr sz="2800" dirty="0">
                <a:latin typeface="Times New Roman"/>
                <a:cs typeface="Times New Roman"/>
              </a:rPr>
              <a:t>pour </a:t>
            </a:r>
            <a:r>
              <a:rPr sz="2800" spc="-5" dirty="0">
                <a:latin typeface="Times New Roman"/>
                <a:cs typeface="Times New Roman"/>
              </a:rPr>
              <a:t>lancer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l’émission.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3335" algn="just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Ce mode d’emploi précise comment envoyer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2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fax.</a:t>
            </a:r>
            <a:endParaRPr sz="2800" dirty="0">
              <a:latin typeface="Times New Roman"/>
              <a:cs typeface="Times New Roman"/>
            </a:endParaRPr>
          </a:p>
          <a:p>
            <a:pPr marL="525780" marR="5080" indent="-513715" algn="just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Times New Roman"/>
                <a:cs typeface="Times New Roman"/>
              </a:rPr>
              <a:t> Il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spc="-5" dirty="0" err="1">
                <a:latin typeface="Times New Roman"/>
                <a:cs typeface="Times New Roman"/>
              </a:rPr>
              <a:t>composé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d’une</a:t>
            </a:r>
            <a:r>
              <a:rPr sz="2800" spc="-5" dirty="0">
                <a:latin typeface="Times New Roman"/>
                <a:cs typeface="Times New Roman"/>
              </a:rPr>
              <a:t> suite ordonnée </a:t>
            </a:r>
            <a:r>
              <a:rPr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d’instructions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</a:t>
            </a:r>
            <a:r>
              <a:rPr sz="2800" b="1" spc="-10" dirty="0">
                <a:latin typeface="Times New Roman"/>
                <a:cs typeface="Times New Roman"/>
              </a:rPr>
              <a:t>insérez </a:t>
            </a:r>
            <a:r>
              <a:rPr sz="2800" dirty="0">
                <a:latin typeface="Times New Roman"/>
                <a:cs typeface="Times New Roman"/>
              </a:rPr>
              <a:t>…,  </a:t>
            </a:r>
            <a:r>
              <a:rPr sz="2800" b="1" spc="-5" dirty="0">
                <a:latin typeface="Times New Roman"/>
                <a:cs typeface="Times New Roman"/>
              </a:rPr>
              <a:t>composez</a:t>
            </a:r>
            <a:r>
              <a:rPr sz="2800" spc="-5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Times New Roman"/>
                <a:cs typeface="Times New Roman"/>
              </a:rPr>
              <a:t>, enfoncez</a:t>
            </a:r>
            <a:r>
              <a:rPr sz="2800" spc="-5" dirty="0">
                <a:latin typeface="Times New Roman"/>
                <a:cs typeface="Times New Roman"/>
              </a:rPr>
              <a:t>…) qui manipulent </a:t>
            </a:r>
            <a:r>
              <a:rPr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des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données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b="1" spc="-5" dirty="0">
                <a:latin typeface="Times New Roman"/>
                <a:cs typeface="Times New Roman"/>
              </a:rPr>
              <a:t>document</a:t>
            </a:r>
            <a:r>
              <a:rPr sz="2800" spc="-5" dirty="0">
                <a:latin typeface="Times New Roman"/>
                <a:cs typeface="Times New Roman"/>
              </a:rPr>
              <a:t>,  </a:t>
            </a:r>
            <a:r>
              <a:rPr sz="2800" b="1" spc="-5" dirty="0">
                <a:latin typeface="Times New Roman"/>
                <a:cs typeface="Times New Roman"/>
              </a:rPr>
              <a:t>chargeur </a:t>
            </a:r>
            <a:r>
              <a:rPr sz="2800" b="1" dirty="0">
                <a:latin typeface="Times New Roman"/>
                <a:cs typeface="Times New Roman"/>
              </a:rPr>
              <a:t>automatique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b="1" spc="-10" dirty="0">
                <a:latin typeface="Times New Roman"/>
                <a:cs typeface="Times New Roman"/>
              </a:rPr>
              <a:t>numéro </a:t>
            </a:r>
            <a:r>
              <a:rPr sz="2800" b="1" spc="-5" dirty="0">
                <a:latin typeface="Times New Roman"/>
                <a:cs typeface="Times New Roman"/>
              </a:rPr>
              <a:t>de fax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Times New Roman"/>
                <a:cs typeface="Times New Roman"/>
              </a:rPr>
              <a:t>pavé numérique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Times New Roman"/>
                <a:cs typeface="Times New Roman"/>
              </a:rPr>
              <a:t>touche  </a:t>
            </a:r>
            <a:r>
              <a:rPr sz="2800" b="1" dirty="0">
                <a:latin typeface="Times New Roman"/>
                <a:cs typeface="Times New Roman"/>
              </a:rPr>
              <a:t>envoi</a:t>
            </a:r>
            <a:r>
              <a:rPr sz="2800" dirty="0">
                <a:latin typeface="Times New Roman"/>
                <a:cs typeface="Times New Roman"/>
              </a:rPr>
              <a:t>) pour </a:t>
            </a:r>
            <a:r>
              <a:rPr sz="2800" spc="-5" dirty="0">
                <a:latin typeface="Times New Roman"/>
                <a:cs typeface="Times New Roman"/>
              </a:rPr>
              <a:t>réaliser </a:t>
            </a:r>
            <a:r>
              <a:rPr sz="2800" b="1" dirty="0">
                <a:solidFill>
                  <a:srgbClr val="0070C0"/>
                </a:solidFill>
                <a:latin typeface="Times New Roman"/>
                <a:cs typeface="Times New Roman"/>
              </a:rPr>
              <a:t>la </a:t>
            </a:r>
            <a:r>
              <a:rPr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t</a:t>
            </a:r>
            <a:r>
              <a:rPr lang="fr-FR"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â</a:t>
            </a:r>
            <a:r>
              <a:rPr sz="2800" b="1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che</a:t>
            </a:r>
            <a:r>
              <a:rPr sz="28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désirée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Times New Roman"/>
                <a:cs typeface="Times New Roman"/>
              </a:rPr>
              <a:t>envoi d’un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document</a:t>
            </a:r>
            <a:r>
              <a:rPr sz="2800" spc="-5" dirty="0">
                <a:latin typeface="Times New Roman"/>
                <a:cs typeface="Times New Roman"/>
              </a:rPr>
              <a:t>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3225" y="99208"/>
            <a:ext cx="33667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Exemples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5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3225" y="99208"/>
            <a:ext cx="33667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Exemples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1400" y="830946"/>
            <a:ext cx="9448800" cy="103124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800" spc="-5" dirty="0">
                <a:solidFill>
                  <a:srgbClr val="C00000"/>
                </a:solidFill>
              </a:rPr>
              <a:t>Exemple </a:t>
            </a:r>
            <a:r>
              <a:rPr sz="2800" dirty="0">
                <a:solidFill>
                  <a:srgbClr val="C00000"/>
                </a:solidFill>
              </a:rPr>
              <a:t>2: </a:t>
            </a:r>
            <a:r>
              <a:rPr sz="2800" b="0" spc="-15" dirty="0">
                <a:solidFill>
                  <a:srgbClr val="C00000"/>
                </a:solidFill>
                <a:latin typeface="Times New Roman"/>
                <a:cs typeface="Times New Roman"/>
              </a:rPr>
              <a:t>Trouver </a:t>
            </a:r>
            <a:r>
              <a:rPr sz="2800" b="0" dirty="0">
                <a:solidFill>
                  <a:srgbClr val="C00000"/>
                </a:solidFill>
                <a:latin typeface="Times New Roman"/>
                <a:cs typeface="Times New Roman"/>
              </a:rPr>
              <a:t>son</a:t>
            </a:r>
            <a:r>
              <a:rPr sz="2800" b="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C00000"/>
                </a:solidFill>
                <a:latin typeface="Times New Roman"/>
                <a:cs typeface="Times New Roman"/>
              </a:rPr>
              <a:t>chemin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Extrait 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d’un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dialogue entre 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un touriste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égaré et 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un</a:t>
            </a:r>
            <a:r>
              <a:rPr sz="28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 err="1">
                <a:solidFill>
                  <a:srgbClr val="000000"/>
                </a:solidFill>
                <a:latin typeface="Times New Roman"/>
                <a:cs typeface="Times New Roman"/>
              </a:rPr>
              <a:t>autochtone</a:t>
            </a:r>
            <a:r>
              <a:rPr lang="fr-FR"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909" y="1869113"/>
            <a:ext cx="10986770" cy="4367221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68300" indent="-355600" algn="just">
              <a:lnSpc>
                <a:spcPct val="100000"/>
              </a:lnSpc>
              <a:spcBef>
                <a:spcPts val="695"/>
              </a:spcBef>
              <a:buChar char="–"/>
              <a:tabLst>
                <a:tab pos="368935" algn="l"/>
              </a:tabLst>
            </a:pPr>
            <a:r>
              <a:rPr sz="2800" dirty="0">
                <a:latin typeface="Times New Roman"/>
                <a:cs typeface="Times New Roman"/>
              </a:rPr>
              <a:t>Pourriez-vous </a:t>
            </a:r>
            <a:r>
              <a:rPr sz="2800" spc="-5" dirty="0">
                <a:latin typeface="Times New Roman"/>
                <a:cs typeface="Times New Roman"/>
              </a:rPr>
              <a:t>m’indiquer </a:t>
            </a:r>
            <a:r>
              <a:rPr sz="2800" dirty="0">
                <a:latin typeface="Times New Roman"/>
                <a:cs typeface="Times New Roman"/>
              </a:rPr>
              <a:t>le </a:t>
            </a:r>
            <a:r>
              <a:rPr sz="2800" spc="-5" dirty="0">
                <a:latin typeface="Times New Roman"/>
                <a:cs typeface="Times New Roman"/>
              </a:rPr>
              <a:t>chemin </a:t>
            </a:r>
            <a:r>
              <a:rPr sz="2800" dirty="0">
                <a:latin typeface="Times New Roman"/>
                <a:cs typeface="Times New Roman"/>
              </a:rPr>
              <a:t>de la </a:t>
            </a:r>
            <a:r>
              <a:rPr sz="2800" spc="-5" dirty="0">
                <a:latin typeface="Times New Roman"/>
                <a:cs typeface="Times New Roman"/>
              </a:rPr>
              <a:t>gare, </a:t>
            </a:r>
            <a:r>
              <a:rPr sz="2800" dirty="0">
                <a:latin typeface="Times New Roman"/>
                <a:cs typeface="Times New Roman"/>
              </a:rPr>
              <a:t>s’il vous </a:t>
            </a:r>
            <a:r>
              <a:rPr sz="2800" spc="-5" dirty="0">
                <a:latin typeface="Times New Roman"/>
                <a:cs typeface="Times New Roman"/>
              </a:rPr>
              <a:t>plait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?</a:t>
            </a:r>
          </a:p>
          <a:p>
            <a:pPr marL="13335" marR="508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36131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 err="1">
                <a:latin typeface="Times New Roman"/>
                <a:cs typeface="Times New Roman"/>
              </a:rPr>
              <a:t>Oui</a:t>
            </a:r>
            <a:r>
              <a:rPr sz="2800" spc="-5" dirty="0">
                <a:latin typeface="Times New Roman"/>
                <a:cs typeface="Times New Roman"/>
              </a:rPr>
              <a:t> bien sûr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>
                <a:latin typeface="Times New Roman"/>
                <a:cs typeface="Times New Roman"/>
              </a:rPr>
              <a:t>vous </a:t>
            </a:r>
            <a:r>
              <a:rPr sz="2800" spc="-10" dirty="0">
                <a:latin typeface="Times New Roman"/>
                <a:cs typeface="Times New Roman"/>
              </a:rPr>
              <a:t>allez </a:t>
            </a:r>
            <a:r>
              <a:rPr sz="2800" spc="-5" dirty="0">
                <a:latin typeface="Times New Roman"/>
                <a:cs typeface="Times New Roman"/>
              </a:rPr>
              <a:t>tout droit jusqu’au prochain </a:t>
            </a:r>
            <a:r>
              <a:rPr sz="2800" spc="-15" dirty="0">
                <a:latin typeface="Times New Roman"/>
                <a:cs typeface="Times New Roman"/>
              </a:rPr>
              <a:t>carrefour, </a:t>
            </a:r>
            <a:r>
              <a:rPr sz="2800" dirty="0">
                <a:latin typeface="Times New Roman"/>
                <a:cs typeface="Times New Roman"/>
              </a:rPr>
              <a:t>vous  </a:t>
            </a:r>
            <a:r>
              <a:rPr sz="2800" spc="-5" dirty="0">
                <a:latin typeface="Times New Roman"/>
                <a:cs typeface="Times New Roman"/>
              </a:rPr>
              <a:t>prenez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gauche au carrefour et ensuite la troisième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droite, et vous verrez  </a:t>
            </a:r>
            <a:r>
              <a:rPr sz="2800" dirty="0">
                <a:latin typeface="Times New Roman"/>
                <a:cs typeface="Times New Roman"/>
              </a:rPr>
              <a:t>la </a:t>
            </a:r>
            <a:r>
              <a:rPr sz="2800" spc="-5" dirty="0">
                <a:latin typeface="Times New Roman"/>
                <a:cs typeface="Times New Roman"/>
              </a:rPr>
              <a:t>gare </a:t>
            </a:r>
            <a:r>
              <a:rPr sz="2800" dirty="0">
                <a:latin typeface="Times New Roman"/>
                <a:cs typeface="Times New Roman"/>
              </a:rPr>
              <a:t>juste </a:t>
            </a:r>
            <a:r>
              <a:rPr sz="2800" spc="-5" dirty="0">
                <a:latin typeface="Times New Roman"/>
                <a:cs typeface="Times New Roman"/>
              </a:rPr>
              <a:t>en face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vous.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2700" dirty="0">
                <a:latin typeface="Symbol"/>
                <a:cs typeface="Symbol"/>
              </a:rPr>
              <a:t>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Dans </a:t>
            </a:r>
            <a:r>
              <a:rPr sz="2700" dirty="0">
                <a:latin typeface="Times New Roman"/>
                <a:cs typeface="Times New Roman"/>
              </a:rPr>
              <a:t>ce dialogue, la réponse de l’autochtone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est:</a:t>
            </a:r>
            <a:endParaRPr sz="2700" dirty="0">
              <a:latin typeface="Times New Roman"/>
              <a:cs typeface="Times New Roman"/>
            </a:endParaRPr>
          </a:p>
          <a:p>
            <a:pPr marL="527050" marR="63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700" dirty="0">
                <a:latin typeface="Times New Roman"/>
                <a:cs typeface="Times New Roman"/>
              </a:rPr>
              <a:t>La </a:t>
            </a:r>
            <a:r>
              <a:rPr sz="2700" spc="-5" dirty="0">
                <a:latin typeface="Times New Roman"/>
                <a:cs typeface="Times New Roman"/>
              </a:rPr>
              <a:t>description d’une </a:t>
            </a:r>
            <a:r>
              <a:rPr sz="2700" dirty="0">
                <a:latin typeface="Times New Roman"/>
                <a:cs typeface="Times New Roman"/>
              </a:rPr>
              <a:t>suite ordonnée d’instructions </a:t>
            </a:r>
            <a:r>
              <a:rPr sz="2700" spc="-5" dirty="0">
                <a:latin typeface="Times New Roman"/>
                <a:cs typeface="Times New Roman"/>
              </a:rPr>
              <a:t>(</a:t>
            </a:r>
            <a:r>
              <a:rPr sz="2700" b="1" spc="-5" dirty="0">
                <a:latin typeface="Times New Roman"/>
                <a:cs typeface="Times New Roman"/>
              </a:rPr>
              <a:t>allez </a:t>
            </a:r>
            <a:r>
              <a:rPr sz="2700" b="1" dirty="0">
                <a:latin typeface="Times New Roman"/>
                <a:cs typeface="Times New Roman"/>
              </a:rPr>
              <a:t>tout </a:t>
            </a:r>
            <a:r>
              <a:rPr sz="2700" b="1" spc="-10" dirty="0">
                <a:latin typeface="Times New Roman"/>
                <a:cs typeface="Times New Roman"/>
              </a:rPr>
              <a:t>droit</a:t>
            </a:r>
            <a:r>
              <a:rPr sz="2700" spc="-10" dirty="0">
                <a:latin typeface="Times New Roman"/>
                <a:cs typeface="Times New Roman"/>
              </a:rPr>
              <a:t>, </a:t>
            </a:r>
            <a:r>
              <a:rPr sz="2700" b="1" spc="-15" dirty="0">
                <a:latin typeface="Times New Roman"/>
                <a:cs typeface="Times New Roman"/>
              </a:rPr>
              <a:t>prenez  </a:t>
            </a:r>
            <a:r>
              <a:rPr sz="2700" b="1" dirty="0">
                <a:latin typeface="Times New Roman"/>
                <a:cs typeface="Times New Roman"/>
              </a:rPr>
              <a:t>à </a:t>
            </a:r>
            <a:r>
              <a:rPr sz="2700" b="1" spc="-5" dirty="0">
                <a:latin typeface="Times New Roman"/>
                <a:cs typeface="Times New Roman"/>
              </a:rPr>
              <a:t>gauche</a:t>
            </a:r>
            <a:r>
              <a:rPr sz="2700" spc="-5" dirty="0">
                <a:latin typeface="Times New Roman"/>
                <a:cs typeface="Times New Roman"/>
              </a:rPr>
              <a:t>, </a:t>
            </a:r>
            <a:r>
              <a:rPr sz="2700" b="1" spc="-10" dirty="0">
                <a:latin typeface="Times New Roman"/>
                <a:cs typeface="Times New Roman"/>
              </a:rPr>
              <a:t>prenez </a:t>
            </a:r>
            <a:r>
              <a:rPr sz="2700" b="1" dirty="0">
                <a:latin typeface="Times New Roman"/>
                <a:cs typeface="Times New Roman"/>
              </a:rPr>
              <a:t>la </a:t>
            </a:r>
            <a:r>
              <a:rPr sz="2700" b="1" spc="-10" dirty="0">
                <a:latin typeface="Times New Roman"/>
                <a:cs typeface="Times New Roman"/>
              </a:rPr>
              <a:t>troisième </a:t>
            </a:r>
            <a:r>
              <a:rPr sz="2700" b="1" dirty="0">
                <a:latin typeface="Times New Roman"/>
                <a:cs typeface="Times New Roman"/>
              </a:rPr>
              <a:t>à</a:t>
            </a:r>
            <a:r>
              <a:rPr sz="2700" b="1" spc="1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droite</a:t>
            </a:r>
            <a:r>
              <a:rPr sz="2700" spc="-10" dirty="0">
                <a:latin typeface="Times New Roman"/>
                <a:cs typeface="Times New Roman"/>
              </a:rPr>
              <a:t>).</a:t>
            </a:r>
            <a:endParaRPr sz="2700" dirty="0">
              <a:latin typeface="Times New Roman"/>
              <a:cs typeface="Times New Roman"/>
            </a:endParaRPr>
          </a:p>
          <a:p>
            <a:pPr marL="527050" indent="-514984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700" spc="-5" dirty="0">
                <a:latin typeface="Times New Roman"/>
                <a:cs typeface="Times New Roman"/>
              </a:rPr>
              <a:t>Les </a:t>
            </a:r>
            <a:r>
              <a:rPr sz="2700" dirty="0">
                <a:latin typeface="Times New Roman"/>
                <a:cs typeface="Times New Roman"/>
              </a:rPr>
              <a:t>instructions manipulent </a:t>
            </a:r>
            <a:r>
              <a:rPr sz="2700" spc="-5" dirty="0">
                <a:latin typeface="Times New Roman"/>
                <a:cs typeface="Times New Roman"/>
              </a:rPr>
              <a:t>des </a:t>
            </a:r>
            <a:r>
              <a:rPr sz="2700" dirty="0">
                <a:latin typeface="Times New Roman"/>
                <a:cs typeface="Times New Roman"/>
              </a:rPr>
              <a:t>données </a:t>
            </a:r>
            <a:r>
              <a:rPr sz="2700" spc="-5" dirty="0">
                <a:latin typeface="Times New Roman"/>
                <a:cs typeface="Times New Roman"/>
              </a:rPr>
              <a:t>(</a:t>
            </a:r>
            <a:r>
              <a:rPr sz="2700" b="1" spc="-5" dirty="0">
                <a:latin typeface="Times New Roman"/>
                <a:cs typeface="Times New Roman"/>
              </a:rPr>
              <a:t>carrefour</a:t>
            </a:r>
            <a:r>
              <a:rPr sz="2700" spc="-5" dirty="0">
                <a:latin typeface="Times New Roman"/>
                <a:cs typeface="Times New Roman"/>
              </a:rPr>
              <a:t>,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rues</a:t>
            </a:r>
            <a:r>
              <a:rPr sz="2700" spc="-5" dirty="0">
                <a:latin typeface="Times New Roman"/>
                <a:cs typeface="Times New Roman"/>
              </a:rPr>
              <a:t>)</a:t>
            </a:r>
            <a:endParaRPr sz="27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6415" algn="l"/>
                <a:tab pos="527050" algn="l"/>
              </a:tabLst>
            </a:pPr>
            <a:r>
              <a:rPr sz="2700" dirty="0">
                <a:latin typeface="Times New Roman"/>
                <a:cs typeface="Times New Roman"/>
              </a:rPr>
              <a:t>But: réaliser la tâche désirée (</a:t>
            </a:r>
            <a:r>
              <a:rPr sz="2700" b="1" dirty="0">
                <a:latin typeface="Times New Roman"/>
                <a:cs typeface="Times New Roman"/>
              </a:rPr>
              <a:t>aller à la</a:t>
            </a:r>
            <a:r>
              <a:rPr sz="2700" b="1" spc="-7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gare</a:t>
            </a:r>
            <a:r>
              <a:rPr sz="2700" spc="-10" dirty="0">
                <a:latin typeface="Times New Roman"/>
                <a:cs typeface="Times New Roman"/>
              </a:rPr>
              <a:t>).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9340" y="942639"/>
            <a:ext cx="3488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solidFill>
                  <a:srgbClr val="000000"/>
                </a:solidFill>
              </a:rPr>
              <a:t>Un</a:t>
            </a:r>
            <a:r>
              <a:rPr sz="4400" spc="-55" dirty="0">
                <a:solidFill>
                  <a:srgbClr val="000000"/>
                </a:solidFill>
              </a:rPr>
              <a:t> </a:t>
            </a:r>
            <a:r>
              <a:rPr sz="4400" spc="-5" dirty="0">
                <a:solidFill>
                  <a:srgbClr val="000000"/>
                </a:solidFill>
              </a:rPr>
              <a:t>algorithme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839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sz="4400" spc="-5" dirty="0"/>
              <a:t>=</a:t>
            </a:r>
            <a:endParaRPr sz="4400"/>
          </a:p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4400" spc="-5" dirty="0"/>
              <a:t>Suite ordonnée</a:t>
            </a:r>
            <a:r>
              <a:rPr sz="4400" spc="-20" dirty="0"/>
              <a:t> </a:t>
            </a:r>
            <a:r>
              <a:rPr sz="4400" spc="-5" dirty="0"/>
              <a:t>d’instructions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6124955" y="6530340"/>
            <a:ext cx="6621005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Définitions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96611" y="3976115"/>
            <a:ext cx="3166872" cy="18105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29606" y="4288800"/>
            <a:ext cx="1301115" cy="111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Instruction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Instruction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 marR="5080" algn="ctr">
              <a:lnSpc>
                <a:spcPts val="212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…       </a:t>
            </a:r>
            <a:r>
              <a:rPr sz="1800" b="1" spc="-5" dirty="0">
                <a:latin typeface="Times New Roman"/>
                <a:cs typeface="Times New Roman"/>
              </a:rPr>
              <a:t>Instruction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67100" y="4546092"/>
            <a:ext cx="1453896" cy="5974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9100" y="4619244"/>
            <a:ext cx="1380744" cy="5943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51164" y="4521398"/>
            <a:ext cx="13112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Données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7</a:t>
            </a:fld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594908" y="4664451"/>
            <a:ext cx="935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Sortie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Définitions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361" y="1451610"/>
            <a:ext cx="10144760" cy="1016000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724535" marR="666115" indent="-51435">
              <a:lnSpc>
                <a:spcPct val="100000"/>
              </a:lnSpc>
              <a:spcBef>
                <a:spcPts val="254"/>
              </a:spcBef>
            </a:pPr>
            <a:r>
              <a:rPr sz="3000" spc="-5" dirty="0">
                <a:latin typeface="Times New Roman"/>
                <a:cs typeface="Times New Roman"/>
              </a:rPr>
              <a:t>Un </a:t>
            </a:r>
            <a:r>
              <a:rPr sz="3000" dirty="0">
                <a:latin typeface="Times New Roman"/>
                <a:cs typeface="Times New Roman"/>
              </a:rPr>
              <a:t>algorithme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une </a:t>
            </a:r>
            <a:r>
              <a:rPr sz="3000" b="1" spc="-5" dirty="0">
                <a:latin typeface="Times New Roman"/>
                <a:cs typeface="Times New Roman"/>
              </a:rPr>
              <a:t>suite ordonnée d’instructions </a:t>
            </a:r>
            <a:r>
              <a:rPr sz="3000" dirty="0">
                <a:latin typeface="Times New Roman"/>
                <a:cs typeface="Times New Roman"/>
              </a:rPr>
              <a:t>qui  indique la démarche à </a:t>
            </a:r>
            <a:r>
              <a:rPr sz="3000" spc="-5" dirty="0">
                <a:latin typeface="Times New Roman"/>
                <a:cs typeface="Times New Roman"/>
              </a:rPr>
              <a:t>suivre </a:t>
            </a:r>
            <a:r>
              <a:rPr sz="3000" dirty="0">
                <a:latin typeface="Times New Roman"/>
                <a:cs typeface="Times New Roman"/>
              </a:rPr>
              <a:t>pour </a:t>
            </a:r>
            <a:r>
              <a:rPr sz="3000" spc="-5" dirty="0">
                <a:latin typeface="Times New Roman"/>
                <a:cs typeface="Times New Roman"/>
              </a:rPr>
              <a:t>résoudre </a:t>
            </a:r>
            <a:r>
              <a:rPr sz="3000" dirty="0">
                <a:latin typeface="Times New Roman"/>
                <a:cs typeface="Times New Roman"/>
              </a:rPr>
              <a:t>un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problème.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9660" y="2949190"/>
            <a:ext cx="10057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06095" algn="l"/>
                <a:tab pos="50673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</a:t>
            </a:r>
            <a:r>
              <a:rPr sz="3000" spc="-5" dirty="0" err="1">
                <a:latin typeface="Times New Roman"/>
                <a:cs typeface="Times New Roman"/>
              </a:rPr>
              <a:t>Quand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 définit un algorithme, celui-ci ne doit contenir que  </a:t>
            </a:r>
            <a:r>
              <a:rPr sz="3000" spc="-5" dirty="0">
                <a:latin typeface="Times New Roman"/>
                <a:cs typeface="Times New Roman"/>
              </a:rPr>
              <a:t>des </a:t>
            </a:r>
            <a:r>
              <a:rPr sz="3000" dirty="0">
                <a:latin typeface="Times New Roman"/>
                <a:cs typeface="Times New Roman"/>
              </a:rPr>
              <a:t>instructions compréhensibles par celui qui devra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l’exécuter.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9660" y="4472999"/>
            <a:ext cx="78936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735" algn="l"/>
                <a:tab pos="3025140" algn="l"/>
                <a:tab pos="4148454" algn="l"/>
                <a:tab pos="5315585" algn="l"/>
              </a:tabLst>
            </a:pPr>
            <a:r>
              <a:rPr sz="3000" spc="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lg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rit</a:t>
            </a:r>
            <a:r>
              <a:rPr sz="3000" spc="5" dirty="0">
                <a:latin typeface="Times New Roman"/>
                <a:cs typeface="Times New Roman"/>
              </a:rPr>
              <a:t>hm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	pour	</a:t>
            </a:r>
            <a:r>
              <a:rPr sz="3000" spc="-10" dirty="0">
                <a:latin typeface="Times New Roman"/>
                <a:cs typeface="Times New Roman"/>
              </a:rPr>
              <a:t>q</a:t>
            </a:r>
            <a:r>
              <a:rPr sz="3000" dirty="0">
                <a:latin typeface="Times New Roman"/>
                <a:cs typeface="Times New Roman"/>
              </a:rPr>
              <a:t>u’</a:t>
            </a:r>
            <a:r>
              <a:rPr sz="3000" spc="-5" dirty="0">
                <a:latin typeface="Times New Roman"/>
                <a:cs typeface="Times New Roman"/>
              </a:rPr>
              <a:t>ils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" dirty="0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oie</a:t>
            </a:r>
            <a:r>
              <a:rPr sz="3000" spc="5" dirty="0">
                <a:latin typeface="Times New Roman"/>
                <a:cs typeface="Times New Roman"/>
              </a:rPr>
              <a:t>n</a:t>
            </a:r>
            <a:r>
              <a:rPr sz="3000" dirty="0">
                <a:latin typeface="Times New Roman"/>
                <a:cs typeface="Times New Roman"/>
              </a:rPr>
              <a:t>t	c</a:t>
            </a:r>
            <a:r>
              <a:rPr sz="3000" spc="5" dirty="0">
                <a:latin typeface="Times New Roman"/>
                <a:cs typeface="Times New Roman"/>
              </a:rPr>
              <a:t>om</a:t>
            </a:r>
            <a:r>
              <a:rPr sz="3000" dirty="0">
                <a:latin typeface="Times New Roman"/>
                <a:cs typeface="Times New Roman"/>
              </a:rPr>
              <a:t>pré</a:t>
            </a:r>
            <a:r>
              <a:rPr sz="3000" spc="5" dirty="0">
                <a:latin typeface="Times New Roman"/>
                <a:cs typeface="Times New Roman"/>
              </a:rPr>
              <a:t>h</a:t>
            </a:r>
            <a:r>
              <a:rPr sz="3000" spc="-5" dirty="0">
                <a:latin typeface="Times New Roman"/>
                <a:cs typeface="Times New Roman"/>
              </a:rPr>
              <a:t>ens</a:t>
            </a:r>
            <a:r>
              <a:rPr sz="3000" dirty="0">
                <a:latin typeface="Times New Roman"/>
                <a:cs typeface="Times New Roman"/>
              </a:rPr>
              <a:t>ib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9660" y="4015799"/>
            <a:ext cx="10058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marR="5715" indent="-475615" algn="r">
              <a:lnSpc>
                <a:spcPct val="10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475615" algn="l"/>
                <a:tab pos="476250" algn="l"/>
                <a:tab pos="1553845" algn="l"/>
                <a:tab pos="2189480" algn="l"/>
                <a:tab pos="3407410" algn="l"/>
                <a:tab pos="4421505" algn="l"/>
                <a:tab pos="5925185" algn="l"/>
                <a:tab pos="7746365" algn="l"/>
                <a:tab pos="8211820" algn="l"/>
                <a:tab pos="9524365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Dans</a:t>
            </a:r>
            <a:r>
              <a:rPr sz="3000" spc="-5" dirty="0">
                <a:latin typeface="Times New Roman"/>
                <a:cs typeface="Times New Roman"/>
              </a:rPr>
              <a:t>	</a:t>
            </a:r>
            <a:r>
              <a:rPr sz="3000" spc="5" dirty="0" err="1">
                <a:latin typeface="Times New Roman"/>
                <a:cs typeface="Times New Roman"/>
              </a:rPr>
              <a:t>c</a:t>
            </a:r>
            <a:r>
              <a:rPr sz="3000" dirty="0" err="1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 err="1">
                <a:latin typeface="Times New Roman"/>
                <a:cs typeface="Times New Roman"/>
              </a:rPr>
              <a:t>cou</a:t>
            </a:r>
            <a:r>
              <a:rPr sz="3000" spc="5" dirty="0" err="1">
                <a:latin typeface="Times New Roman"/>
                <a:cs typeface="Times New Roman"/>
              </a:rPr>
              <a:t>r</a:t>
            </a:r>
            <a:r>
              <a:rPr sz="3000" spc="-5" dirty="0" err="1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,	</a:t>
            </a:r>
            <a:r>
              <a:rPr sz="3000" spc="-10" dirty="0">
                <a:latin typeface="Times New Roman"/>
                <a:cs typeface="Times New Roman"/>
              </a:rPr>
              <a:t>n</a:t>
            </a:r>
            <a:r>
              <a:rPr sz="3000" spc="-5" dirty="0">
                <a:latin typeface="Times New Roman"/>
                <a:cs typeface="Times New Roman"/>
              </a:rPr>
              <a:t>ous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 err="1">
                <a:latin typeface="Times New Roman"/>
                <a:cs typeface="Times New Roman"/>
              </a:rPr>
              <a:t>d</a:t>
            </a:r>
            <a:r>
              <a:rPr sz="3000" spc="5" dirty="0" err="1">
                <a:latin typeface="Times New Roman"/>
                <a:cs typeface="Times New Roman"/>
              </a:rPr>
              <a:t>e</a:t>
            </a:r>
            <a:r>
              <a:rPr sz="3000" dirty="0" err="1">
                <a:latin typeface="Times New Roman"/>
                <a:cs typeface="Times New Roman"/>
              </a:rPr>
              <a:t>vr</a:t>
            </a:r>
            <a:r>
              <a:rPr sz="3000" spc="-5" dirty="0" err="1">
                <a:latin typeface="Times New Roman"/>
                <a:cs typeface="Times New Roman"/>
              </a:rPr>
              <a:t>ons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 err="1">
                <a:latin typeface="Times New Roman"/>
                <a:cs typeface="Times New Roman"/>
              </a:rPr>
              <a:t>appr</a:t>
            </a:r>
            <a:r>
              <a:rPr sz="3000" spc="5" dirty="0" err="1">
                <a:latin typeface="Times New Roman"/>
                <a:cs typeface="Times New Roman"/>
              </a:rPr>
              <a:t>e</a:t>
            </a:r>
            <a:r>
              <a:rPr sz="3000" dirty="0" err="1">
                <a:latin typeface="Times New Roman"/>
                <a:cs typeface="Times New Roman"/>
              </a:rPr>
              <a:t>ndre</a:t>
            </a:r>
            <a:r>
              <a:rPr sz="3000" dirty="0">
                <a:latin typeface="Times New Roman"/>
                <a:cs typeface="Times New Roman"/>
              </a:rPr>
              <a:t>	à	</a:t>
            </a:r>
            <a:r>
              <a:rPr sz="3000" dirty="0" err="1">
                <a:latin typeface="Times New Roman"/>
                <a:cs typeface="Times New Roman"/>
              </a:rPr>
              <a:t>déf</a:t>
            </a:r>
            <a:r>
              <a:rPr sz="3000" spc="5" dirty="0" err="1">
                <a:latin typeface="Times New Roman"/>
                <a:cs typeface="Times New Roman"/>
              </a:rPr>
              <a:t>i</a:t>
            </a:r>
            <a:r>
              <a:rPr sz="3000" dirty="0" err="1">
                <a:latin typeface="Times New Roman"/>
                <a:cs typeface="Times New Roman"/>
              </a:rPr>
              <a:t>nir</a:t>
            </a:r>
            <a:r>
              <a:rPr sz="3000" dirty="0">
                <a:latin typeface="Times New Roman"/>
                <a:cs typeface="Times New Roman"/>
              </a:rPr>
              <a:t>	d</a:t>
            </a:r>
            <a:r>
              <a:rPr sz="3000" spc="-1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t	</a:t>
            </a:r>
            <a:r>
              <a:rPr sz="3000" dirty="0" err="1">
                <a:latin typeface="Times New Roman"/>
                <a:cs typeface="Times New Roman"/>
              </a:rPr>
              <a:t>donc</a:t>
            </a:r>
            <a:r>
              <a:rPr lang="en-US" sz="3000" dirty="0">
                <a:latin typeface="Times New Roman"/>
                <a:cs typeface="Times New Roman"/>
              </a:rPr>
              <a:t> 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9660" y="4930199"/>
            <a:ext cx="5076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 err="1">
                <a:latin typeface="Times New Roman"/>
                <a:cs typeface="Times New Roman"/>
              </a:rPr>
              <a:t>exécutables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 un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ordinateur.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13619" y="827967"/>
            <a:ext cx="20110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C00000"/>
                </a:solidFill>
              </a:rPr>
              <a:t>Algorithme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8</a:t>
            </a:fld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Définitions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595" y="1735315"/>
            <a:ext cx="7414259" cy="371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86740" algn="l"/>
                <a:tab pos="1770380" algn="l"/>
                <a:tab pos="2818130" algn="l"/>
                <a:tab pos="4102100" algn="l"/>
                <a:tab pos="5110480" algn="l"/>
                <a:tab pos="7045325" algn="l"/>
              </a:tabLst>
            </a:pPr>
            <a:r>
              <a:rPr sz="2800" dirty="0">
                <a:latin typeface="Times New Roman"/>
                <a:cs typeface="Times New Roman"/>
              </a:rPr>
              <a:t>Il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	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ux	f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ç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ns	p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ur	r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pr</a:t>
            </a:r>
            <a:r>
              <a:rPr sz="2800" spc="-10" dirty="0">
                <a:latin typeface="Times New Roman"/>
                <a:cs typeface="Times New Roman"/>
              </a:rPr>
              <a:t>é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un  algorithme:</a:t>
            </a:r>
            <a:endParaRPr sz="2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Organigramme:</a:t>
            </a:r>
            <a:endParaRPr sz="2800" dirty="0">
              <a:latin typeface="Times New Roman"/>
              <a:cs typeface="Times New Roman"/>
            </a:endParaRPr>
          </a:p>
          <a:p>
            <a:pPr marL="469265" marR="6350" lvl="1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810260" algn="l"/>
                <a:tab pos="810895" algn="l"/>
                <a:tab pos="3082290" algn="l"/>
                <a:tab pos="4647565" algn="l"/>
                <a:tab pos="5440680" algn="l"/>
                <a:tab pos="6058535" algn="l"/>
              </a:tabLst>
            </a:pPr>
            <a:r>
              <a:rPr lang="fr-FR" sz="2800" spc="-10" dirty="0">
                <a:latin typeface="Times New Roman"/>
                <a:cs typeface="Times New Roman"/>
              </a:rPr>
              <a:t>  </a:t>
            </a:r>
            <a:r>
              <a:rPr sz="2800" spc="-10" dirty="0" err="1">
                <a:latin typeface="Times New Roman"/>
                <a:cs typeface="Times New Roman"/>
              </a:rPr>
              <a:t>Re</a:t>
            </a:r>
            <a:r>
              <a:rPr sz="2800" spc="-5" dirty="0" err="1">
                <a:latin typeface="Times New Roman"/>
                <a:cs typeface="Times New Roman"/>
              </a:rPr>
              <a:t>p</a:t>
            </a:r>
            <a:r>
              <a:rPr sz="2800" dirty="0" err="1">
                <a:latin typeface="Times New Roman"/>
                <a:cs typeface="Times New Roman"/>
              </a:rPr>
              <a:t>r</a:t>
            </a:r>
            <a:r>
              <a:rPr sz="2800" spc="-5" dirty="0" err="1">
                <a:latin typeface="Times New Roman"/>
                <a:cs typeface="Times New Roman"/>
              </a:rPr>
              <a:t>és</a:t>
            </a:r>
            <a:r>
              <a:rPr sz="2800" spc="-10" dirty="0" err="1">
                <a:latin typeface="Times New Roman"/>
                <a:cs typeface="Times New Roman"/>
              </a:rPr>
              <a:t>e</a:t>
            </a:r>
            <a:r>
              <a:rPr sz="2800" spc="-5" dirty="0" err="1">
                <a:latin typeface="Times New Roman"/>
                <a:cs typeface="Times New Roman"/>
              </a:rPr>
              <a:t>n</a:t>
            </a:r>
            <a:r>
              <a:rPr sz="2800" spc="-10" dirty="0" err="1">
                <a:latin typeface="Times New Roman"/>
                <a:cs typeface="Times New Roman"/>
              </a:rPr>
              <a:t>t</a:t>
            </a:r>
            <a:r>
              <a:rPr sz="2800" spc="-5" dirty="0" err="1">
                <a:latin typeface="Times New Roman"/>
                <a:cs typeface="Times New Roman"/>
              </a:rPr>
              <a:t>a</a:t>
            </a:r>
            <a:r>
              <a:rPr sz="2800" spc="-10" dirty="0" err="1">
                <a:latin typeface="Times New Roman"/>
                <a:cs typeface="Times New Roman"/>
              </a:rPr>
              <a:t>ti</a:t>
            </a:r>
            <a:r>
              <a:rPr sz="2800" spc="-5" dirty="0" err="1">
                <a:latin typeface="Times New Roman"/>
                <a:cs typeface="Times New Roman"/>
              </a:rPr>
              <a:t>o</a:t>
            </a:r>
            <a:r>
              <a:rPr sz="2800" dirty="0" err="1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solidFill>
                  <a:srgbClr val="00B0F0"/>
                </a:solidFill>
                <a:latin typeface="Times New Roman"/>
                <a:cs typeface="Times New Roman"/>
              </a:rPr>
              <a:t>gr</a:t>
            </a:r>
            <a:r>
              <a:rPr sz="2800" spc="-10" dirty="0">
                <a:solidFill>
                  <a:srgbClr val="00B0F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00B0F0"/>
                </a:solidFill>
                <a:latin typeface="Times New Roman"/>
                <a:cs typeface="Times New Roman"/>
              </a:rPr>
              <a:t>p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h</a:t>
            </a:r>
            <a:r>
              <a:rPr sz="2800" spc="-10" dirty="0">
                <a:solidFill>
                  <a:srgbClr val="00B0F0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q</a:t>
            </a:r>
            <a:r>
              <a:rPr sz="2800" dirty="0">
                <a:solidFill>
                  <a:srgbClr val="00B0F0"/>
                </a:solidFill>
                <a:latin typeface="Times New Roman"/>
                <a:cs typeface="Times New Roman"/>
              </a:rPr>
              <a:t>ue	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c	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1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les  </a:t>
            </a:r>
            <a:r>
              <a:rPr sz="2800" spc="-5" dirty="0">
                <a:latin typeface="Times New Roman"/>
                <a:cs typeface="Times New Roman"/>
              </a:rPr>
              <a:t>(carrés, losanges,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etc</a:t>
            </a:r>
            <a:r>
              <a:rPr lang="fr-FR" sz="2800" spc="-5" dirty="0">
                <a:latin typeface="Times New Roman"/>
                <a:cs typeface="Times New Roman"/>
              </a:rPr>
              <a:t>…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lang="fr-FR" sz="2800" spc="-5" dirty="0"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808990" lvl="1" indent="-340360">
              <a:lnSpc>
                <a:spcPct val="100000"/>
              </a:lnSpc>
              <a:buFont typeface="Wingdings"/>
              <a:buChar char=""/>
              <a:tabLst>
                <a:tab pos="808990" algn="l"/>
                <a:tab pos="809625" algn="l"/>
              </a:tabLst>
            </a:pPr>
            <a:r>
              <a:rPr sz="2800" spc="-10" dirty="0">
                <a:latin typeface="Times New Roman"/>
                <a:cs typeface="Times New Roman"/>
              </a:rPr>
              <a:t>Offre </a:t>
            </a:r>
            <a:r>
              <a:rPr sz="2800" dirty="0">
                <a:latin typeface="Times New Roman"/>
                <a:cs typeface="Times New Roman"/>
              </a:rPr>
              <a:t>une vue </a:t>
            </a:r>
            <a:r>
              <a:rPr sz="2800" spc="-5" dirty="0">
                <a:latin typeface="Times New Roman"/>
                <a:cs typeface="Times New Roman"/>
              </a:rPr>
              <a:t>d’ensemble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l’algorithme</a:t>
            </a:r>
            <a:r>
              <a:rPr lang="fr-FR" sz="2800" spc="-5" dirty="0"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469265" marR="5080" lvl="1">
              <a:lnSpc>
                <a:spcPct val="100000"/>
              </a:lnSpc>
              <a:buFont typeface="Wingdings"/>
              <a:buChar char=""/>
              <a:tabLst>
                <a:tab pos="809625" algn="l"/>
                <a:tab pos="810260" algn="l"/>
                <a:tab pos="3590925" algn="l"/>
                <a:tab pos="5703570" algn="l"/>
              </a:tabLst>
            </a:pPr>
            <a:r>
              <a:rPr lang="fr-FR" sz="2800" spc="-10" dirty="0">
                <a:latin typeface="Times New Roman"/>
                <a:cs typeface="Times New Roman"/>
              </a:rPr>
              <a:t>  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Re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és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fr-FR"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fr-FR"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ab</a:t>
            </a:r>
            <a:r>
              <a:rPr sz="28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onn</a:t>
            </a:r>
            <a:r>
              <a:rPr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ée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aujourd’hui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13339" y="863264"/>
            <a:ext cx="66078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err="1">
                <a:solidFill>
                  <a:srgbClr val="C00000"/>
                </a:solidFill>
              </a:rPr>
              <a:t>R</a:t>
            </a:r>
            <a:r>
              <a:rPr spc="-10" dirty="0" err="1">
                <a:solidFill>
                  <a:srgbClr val="C00000"/>
                </a:solidFill>
              </a:rPr>
              <a:t>eprésentation</a:t>
            </a:r>
            <a:r>
              <a:rPr spc="-10" dirty="0">
                <a:solidFill>
                  <a:srgbClr val="C00000"/>
                </a:solidFill>
              </a:rPr>
              <a:t> d’un </a:t>
            </a:r>
            <a:r>
              <a:rPr spc="-5" dirty="0">
                <a:solidFill>
                  <a:srgbClr val="C00000"/>
                </a:solidFill>
              </a:rPr>
              <a:t>algorithme</a:t>
            </a:r>
            <a:r>
              <a:rPr spc="2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(1)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04118" y="1654208"/>
            <a:ext cx="3134074" cy="4366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66270" y="6151567"/>
            <a:ext cx="4171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Organigramme pour </a:t>
            </a:r>
            <a:r>
              <a:rPr sz="1800" b="1" spc="-10" dirty="0">
                <a:latin typeface="Times New Roman"/>
                <a:cs typeface="Times New Roman"/>
              </a:rPr>
              <a:t>faire </a:t>
            </a:r>
            <a:r>
              <a:rPr sz="1800" b="1" spc="-5" dirty="0">
                <a:latin typeface="Times New Roman"/>
                <a:cs typeface="Times New Roman"/>
              </a:rPr>
              <a:t>bouillir de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l’eau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9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solidFill>
                  <a:srgbClr val="FFFFFF"/>
                </a:solidFill>
              </a:rPr>
              <a:t>Introduction:</a:t>
            </a:r>
            <a:r>
              <a:rPr sz="2600" spc="-25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Définitions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08223" y="863264"/>
            <a:ext cx="10272395" cy="36208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4555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3200" b="1" spc="-10" dirty="0" err="1">
                <a:solidFill>
                  <a:srgbClr val="C00000"/>
                </a:solidFill>
                <a:latin typeface="Times New Roman"/>
                <a:cs typeface="Times New Roman"/>
              </a:rPr>
              <a:t>eprésentation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d’un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algorithme</a:t>
            </a:r>
            <a:r>
              <a:rPr sz="32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(2)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 dirty="0">
              <a:latin typeface="Times New Roman"/>
              <a:cs typeface="Times New Roman"/>
            </a:endParaRPr>
          </a:p>
          <a:p>
            <a:pPr marL="417830" indent="-4057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18465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Pseudo-code:</a:t>
            </a:r>
            <a:endParaRPr sz="3200" dirty="0">
              <a:latin typeface="Times New Roman"/>
              <a:cs typeface="Times New Roman"/>
            </a:endParaRPr>
          </a:p>
          <a:p>
            <a:pPr marL="925830" marR="5080" lvl="1" indent="-457200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§"/>
              <a:tabLst>
                <a:tab pos="994410" algn="l"/>
                <a:tab pos="995044" algn="l"/>
                <a:tab pos="3596640" algn="l"/>
                <a:tab pos="5159375" algn="l"/>
                <a:tab pos="6067425" algn="l"/>
                <a:tab pos="6817359" algn="l"/>
                <a:tab pos="7747634" algn="l"/>
                <a:tab pos="8293100" algn="l"/>
              </a:tabLst>
            </a:pPr>
            <a:r>
              <a:rPr sz="2800" spc="-5" dirty="0" err="1">
                <a:latin typeface="Times New Roman"/>
                <a:cs typeface="Times New Roman"/>
              </a:rPr>
              <a:t>R</a:t>
            </a:r>
            <a:r>
              <a:rPr sz="2800" dirty="0" err="1">
                <a:latin typeface="Times New Roman"/>
                <a:cs typeface="Times New Roman"/>
              </a:rPr>
              <a:t>e</a:t>
            </a:r>
            <a:r>
              <a:rPr sz="2800" spc="-5" dirty="0" err="1">
                <a:latin typeface="Times New Roman"/>
                <a:cs typeface="Times New Roman"/>
              </a:rPr>
              <a:t>p</a:t>
            </a:r>
            <a:r>
              <a:rPr sz="2800" spc="-10" dirty="0" err="1">
                <a:latin typeface="Times New Roman"/>
                <a:cs typeface="Times New Roman"/>
              </a:rPr>
              <a:t>r</a:t>
            </a:r>
            <a:r>
              <a:rPr sz="2800" dirty="0" err="1">
                <a:latin typeface="Times New Roman"/>
                <a:cs typeface="Times New Roman"/>
              </a:rPr>
              <a:t>é</a:t>
            </a:r>
            <a:r>
              <a:rPr sz="2800" spc="-5" dirty="0" err="1">
                <a:latin typeface="Times New Roman"/>
                <a:cs typeface="Times New Roman"/>
              </a:rPr>
              <a:t>sent</a:t>
            </a:r>
            <a:r>
              <a:rPr sz="2800" dirty="0" err="1">
                <a:latin typeface="Times New Roman"/>
                <a:cs typeface="Times New Roman"/>
              </a:rPr>
              <a:t>a</a:t>
            </a:r>
            <a:r>
              <a:rPr sz="2800" spc="-5" dirty="0" err="1">
                <a:latin typeface="Times New Roman"/>
                <a:cs typeface="Times New Roman"/>
              </a:rPr>
              <a:t>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tex</a:t>
            </a:r>
            <a:r>
              <a:rPr sz="2800" dirty="0">
                <a:solidFill>
                  <a:srgbClr val="00B0F0"/>
                </a:solidFill>
                <a:latin typeface="Times New Roman"/>
                <a:cs typeface="Times New Roman"/>
              </a:rPr>
              <a:t>t</a:t>
            </a:r>
            <a:r>
              <a:rPr sz="2800" spc="-5" dirty="0">
                <a:solidFill>
                  <a:srgbClr val="00B0F0"/>
                </a:solidFill>
                <a:latin typeface="Times New Roman"/>
                <a:cs typeface="Times New Roman"/>
              </a:rPr>
              <a:t>uelle</a:t>
            </a:r>
            <a:r>
              <a:rPr sz="2800" dirty="0">
                <a:solidFill>
                  <a:srgbClr val="00B0F0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avec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sé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ie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de</a:t>
            </a:r>
            <a:r>
              <a:rPr sz="2800" dirty="0">
                <a:latin typeface="Times New Roman"/>
                <a:cs typeface="Times New Roman"/>
              </a:rPr>
              <a:t>	c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entions  ressemblant à un langage de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programmation</a:t>
            </a:r>
            <a:r>
              <a:rPr lang="fr-FR" sz="2800" spc="-5" dirty="0">
                <a:latin typeface="Times New Roman"/>
                <a:cs typeface="Times New Roman"/>
              </a:rPr>
              <a:t>;</a:t>
            </a:r>
            <a:endParaRPr lang="fr-FR" sz="2800" dirty="0">
              <a:latin typeface="Times New Roman"/>
              <a:cs typeface="Times New Roman"/>
            </a:endParaRPr>
          </a:p>
          <a:p>
            <a:pPr marL="925830" marR="5080" lvl="1" indent="-457200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§"/>
              <a:tabLst>
                <a:tab pos="994410" algn="l"/>
                <a:tab pos="995044" algn="l"/>
                <a:tab pos="3596640" algn="l"/>
                <a:tab pos="5159375" algn="l"/>
                <a:tab pos="6067425" algn="l"/>
                <a:tab pos="6817359" algn="l"/>
                <a:tab pos="7747634" algn="l"/>
                <a:tab pos="8293100" algn="l"/>
              </a:tabLst>
            </a:pPr>
            <a:r>
              <a:rPr sz="2800" spc="-5" dirty="0">
                <a:latin typeface="Times New Roman"/>
                <a:cs typeface="Times New Roman"/>
              </a:rPr>
              <a:t>Plus pratique pour </a:t>
            </a:r>
            <a:r>
              <a:rPr sz="2800" spc="-5" dirty="0" err="1">
                <a:latin typeface="Times New Roman"/>
                <a:cs typeface="Times New Roman"/>
              </a:rPr>
              <a:t>écrire</a:t>
            </a:r>
            <a:r>
              <a:rPr sz="2800" spc="-5" dirty="0">
                <a:latin typeface="Times New Roman"/>
                <a:cs typeface="Times New Roman"/>
              </a:rPr>
              <a:t> un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algorithme</a:t>
            </a:r>
            <a:r>
              <a:rPr lang="fr-FR" sz="2800" spc="-5" dirty="0">
                <a:latin typeface="Times New Roman"/>
                <a:cs typeface="Times New Roman"/>
              </a:rPr>
              <a:t>;</a:t>
            </a:r>
            <a:endParaRPr lang="fr-FR" sz="2800" dirty="0">
              <a:latin typeface="Times New Roman"/>
              <a:cs typeface="Times New Roman"/>
            </a:endParaRPr>
          </a:p>
          <a:p>
            <a:pPr marL="925830" marR="5080" lvl="1" indent="-457200">
              <a:lnSpc>
                <a:spcPct val="100000"/>
              </a:lnSpc>
              <a:spcBef>
                <a:spcPts val="1200"/>
              </a:spcBef>
              <a:buFont typeface="Wingdings" pitchFamily="2" charset="2"/>
              <a:buChar char="§"/>
              <a:tabLst>
                <a:tab pos="994410" algn="l"/>
                <a:tab pos="995044" algn="l"/>
                <a:tab pos="3596640" algn="l"/>
                <a:tab pos="5159375" algn="l"/>
                <a:tab pos="6067425" algn="l"/>
                <a:tab pos="6817359" algn="l"/>
                <a:tab pos="7747634" algn="l"/>
                <a:tab pos="8293100" algn="l"/>
              </a:tabLst>
            </a:pPr>
            <a:r>
              <a:rPr sz="2800" spc="-5" dirty="0" err="1">
                <a:latin typeface="Times New Roman"/>
                <a:cs typeface="Times New Roman"/>
              </a:rPr>
              <a:t>Représentation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largement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utilisée.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10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Introduction:</a:t>
            </a: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Définitions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595" y="1449564"/>
            <a:ext cx="3810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2. </a:t>
            </a:r>
            <a:r>
              <a:rPr sz="2800" b="1" spc="-5" dirty="0">
                <a:latin typeface="Times New Roman"/>
                <a:cs typeface="Times New Roman"/>
              </a:rPr>
              <a:t>Pseudo-code: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Exemple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10335">
              <a:lnSpc>
                <a:spcPct val="100000"/>
              </a:lnSpc>
              <a:spcBef>
                <a:spcPts val="95"/>
              </a:spcBef>
            </a:pPr>
            <a:r>
              <a:rPr lang="en-US" spc="-5" dirty="0" err="1"/>
              <a:t>R</a:t>
            </a:r>
            <a:r>
              <a:rPr spc="-10" dirty="0" err="1"/>
              <a:t>eprésentation</a:t>
            </a:r>
            <a:r>
              <a:rPr spc="-10" dirty="0"/>
              <a:t> d’un </a:t>
            </a:r>
            <a:r>
              <a:rPr spc="-5" dirty="0"/>
              <a:t>algorithme</a:t>
            </a:r>
            <a:r>
              <a:rPr spc="25" dirty="0"/>
              <a:t> </a:t>
            </a:r>
            <a:r>
              <a:rPr spc="-5" dirty="0"/>
              <a:t>(3)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11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2600" y="2388255"/>
            <a:ext cx="5531482" cy="403187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/>
                <a:cs typeface="Times New Roman"/>
              </a:rPr>
              <a:t>Algorithme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Somme</a:t>
            </a:r>
            <a:endParaRPr lang="en-US" sz="3200" dirty="0"/>
          </a:p>
          <a:p>
            <a:r>
              <a:rPr lang="en-US" sz="3200" b="1" dirty="0"/>
              <a:t>Variables</a:t>
            </a:r>
            <a:r>
              <a:rPr lang="en-US" sz="3200" dirty="0"/>
              <a:t> A, B, C : </a:t>
            </a:r>
            <a:r>
              <a:rPr lang="en-US" sz="3200" dirty="0" err="1"/>
              <a:t>Entier</a:t>
            </a:r>
            <a:endParaRPr lang="en-US" sz="3200" dirty="0"/>
          </a:p>
          <a:p>
            <a:r>
              <a:rPr lang="en-US" sz="3200" b="1" dirty="0"/>
              <a:t>Début</a:t>
            </a:r>
            <a:r>
              <a:rPr lang="en-US" sz="3200" dirty="0"/>
              <a:t> </a:t>
            </a:r>
          </a:p>
          <a:p>
            <a:r>
              <a:rPr lang="en-US" sz="3200" dirty="0"/>
              <a:t>A ← 1 </a:t>
            </a:r>
          </a:p>
          <a:p>
            <a:r>
              <a:rPr lang="en-US" sz="3200" dirty="0"/>
              <a:t>B ← 3 </a:t>
            </a:r>
          </a:p>
          <a:p>
            <a:r>
              <a:rPr lang="en-US" sz="3200" dirty="0"/>
              <a:t>C ← A+B</a:t>
            </a:r>
          </a:p>
          <a:p>
            <a:r>
              <a:rPr lang="en-US" sz="3200" dirty="0"/>
              <a:t>Ecrire (C)</a:t>
            </a:r>
          </a:p>
          <a:p>
            <a:r>
              <a:rPr lang="en-US" sz="3200" b="1" dirty="0"/>
              <a:t>Fin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2361" y="1679194"/>
            <a:ext cx="10144760" cy="892810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450"/>
              </a:spcBef>
            </a:pPr>
            <a:r>
              <a:rPr sz="3200" spc="-25" dirty="0">
                <a:latin typeface="Times New Roman"/>
                <a:cs typeface="Times New Roman"/>
              </a:rPr>
              <a:t>L’algorithmique </a:t>
            </a:r>
            <a:r>
              <a:rPr sz="3200" spc="-5" dirty="0">
                <a:latin typeface="Times New Roman"/>
                <a:cs typeface="Times New Roman"/>
              </a:rPr>
              <a:t>est la science des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algorithmes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9531" y="3091265"/>
            <a:ext cx="102711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537210" algn="l"/>
                <a:tab pos="537845" algn="l"/>
                <a:tab pos="3491229" algn="l"/>
                <a:tab pos="5536565" algn="l"/>
                <a:tab pos="6045200" algn="l"/>
                <a:tab pos="7049770" algn="l"/>
                <a:tab pos="7760970" algn="l"/>
                <a:tab pos="9714865" algn="l"/>
              </a:tabLst>
            </a:pPr>
            <a:r>
              <a:rPr lang="fr-FR" sz="3200" spc="-300" dirty="0">
                <a:latin typeface="Times New Roman"/>
                <a:cs typeface="Times New Roman"/>
              </a:rPr>
              <a:t>    </a:t>
            </a:r>
            <a:r>
              <a:rPr sz="3200" spc="-300" dirty="0">
                <a:latin typeface="Times New Roman"/>
                <a:cs typeface="Times New Roman"/>
              </a:rPr>
              <a:t>L</a:t>
            </a:r>
            <a:r>
              <a:rPr sz="3200" spc="-10" dirty="0">
                <a:latin typeface="Times New Roman"/>
                <a:cs typeface="Times New Roman"/>
              </a:rPr>
              <a:t>’</a:t>
            </a:r>
            <a:r>
              <a:rPr sz="3200" spc="-5" dirty="0">
                <a:latin typeface="Times New Roman"/>
                <a:cs typeface="Times New Roman"/>
              </a:rPr>
              <a:t>algo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15" dirty="0">
                <a:latin typeface="Times New Roman"/>
                <a:cs typeface="Times New Roman"/>
              </a:rPr>
              <a:t>i</a:t>
            </a:r>
            <a:r>
              <a:rPr sz="3200" spc="-5" dirty="0">
                <a:latin typeface="Times New Roman"/>
                <a:cs typeface="Times New Roman"/>
              </a:rPr>
              <a:t>thm</a:t>
            </a:r>
            <a:r>
              <a:rPr sz="3200" spc="-15" dirty="0">
                <a:latin typeface="Times New Roman"/>
                <a:cs typeface="Times New Roman"/>
              </a:rPr>
              <a:t>i</a:t>
            </a:r>
            <a:r>
              <a:rPr sz="3200" spc="-5" dirty="0">
                <a:latin typeface="Times New Roman"/>
                <a:cs typeface="Times New Roman"/>
              </a:rPr>
              <a:t>que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s’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5" dirty="0">
                <a:latin typeface="Times New Roman"/>
                <a:cs typeface="Times New Roman"/>
              </a:rPr>
              <a:t>nté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sse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à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l</a:t>
            </a:r>
            <a:r>
              <a:rPr sz="3200" spc="-10" dirty="0">
                <a:latin typeface="Times New Roman"/>
                <a:cs typeface="Times New Roman"/>
              </a:rPr>
              <a:t>’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de</a:t>
            </a:r>
            <a:r>
              <a:rPr sz="3200" dirty="0">
                <a:latin typeface="Times New Roman"/>
                <a:cs typeface="Times New Roman"/>
              </a:rPr>
              <a:t>	c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-10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ui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s  algorithmes.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599" y="1019661"/>
            <a:ext cx="2574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Algorithmique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03225" y="99208"/>
            <a:ext cx="35490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solidFill>
                  <a:srgbClr val="FFFFFF"/>
                </a:solidFill>
              </a:rPr>
              <a:t>Introduction:</a:t>
            </a:r>
            <a:r>
              <a:rPr sz="2600" spc="-25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Définitions</a:t>
            </a:r>
            <a:endParaRPr sz="2600"/>
          </a:p>
        </p:txBody>
      </p:sp>
      <p:sp>
        <p:nvSpPr>
          <p:cNvPr id="9" name="object 9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12</a:t>
            </a:fld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1372361" y="4449979"/>
            <a:ext cx="11359102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  <a:buFont typeface="Wingdings"/>
              <a:buChar char=""/>
              <a:tabLst>
                <a:tab pos="537210" algn="l"/>
                <a:tab pos="537845" algn="l"/>
                <a:tab pos="3491229" algn="l"/>
                <a:tab pos="5536565" algn="l"/>
                <a:tab pos="6045200" algn="l"/>
                <a:tab pos="7049770" algn="l"/>
                <a:tab pos="7760970" algn="l"/>
                <a:tab pos="9714865" algn="l"/>
              </a:tabLst>
            </a:pPr>
            <a:r>
              <a:rPr lang="fr-FR" sz="3200" spc="-300" dirty="0">
                <a:latin typeface="Times New Roman"/>
                <a:cs typeface="Times New Roman"/>
              </a:rPr>
              <a:t>    </a:t>
            </a:r>
            <a:r>
              <a:rPr sz="3200" spc="-300" dirty="0">
                <a:latin typeface="Times New Roman"/>
                <a:cs typeface="Times New Roman"/>
              </a:rPr>
              <a:t>L</a:t>
            </a:r>
            <a:r>
              <a:rPr lang="en-US" sz="3200" spc="-10" dirty="0">
                <a:latin typeface="Times New Roman"/>
                <a:cs typeface="Times New Roman"/>
              </a:rPr>
              <a:t>es </a:t>
            </a:r>
            <a:r>
              <a:rPr lang="en-US" sz="3200" spc="-10" dirty="0" err="1">
                <a:latin typeface="Times New Roman"/>
                <a:cs typeface="Times New Roman"/>
              </a:rPr>
              <a:t>algorithmes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spc="-10" dirty="0" err="1">
                <a:latin typeface="Times New Roman"/>
                <a:cs typeface="Times New Roman"/>
              </a:rPr>
              <a:t>sont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spc="-10" dirty="0" err="1">
                <a:latin typeface="Times New Roman"/>
                <a:cs typeface="Times New Roman"/>
              </a:rPr>
              <a:t>caractérisés</a:t>
            </a:r>
            <a:r>
              <a:rPr lang="en-US" sz="3200" spc="-10" dirty="0">
                <a:latin typeface="Times New Roman"/>
                <a:cs typeface="Times New Roman"/>
              </a:rPr>
              <a:t> par </a:t>
            </a:r>
            <a:r>
              <a:rPr lang="en-US" sz="3200" spc="-10" dirty="0" err="1">
                <a:latin typeface="Times New Roman"/>
                <a:cs typeface="Times New Roman"/>
              </a:rPr>
              <a:t>leur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b="1" spc="-10" dirty="0" err="1">
                <a:latin typeface="Times New Roman"/>
                <a:cs typeface="Times New Roman"/>
              </a:rPr>
              <a:t>validité</a:t>
            </a:r>
            <a:r>
              <a:rPr lang="en-US" sz="3200" spc="-10" dirty="0">
                <a:latin typeface="Times New Roman"/>
                <a:cs typeface="Times New Roman"/>
              </a:rPr>
              <a:t>, </a:t>
            </a:r>
            <a:r>
              <a:rPr lang="en-US" sz="3200" spc="-10" dirty="0" err="1">
                <a:latin typeface="Times New Roman"/>
                <a:cs typeface="Times New Roman"/>
              </a:rPr>
              <a:t>leur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b="1" spc="-10" dirty="0" err="1">
                <a:latin typeface="Times New Roman"/>
                <a:cs typeface="Times New Roman"/>
              </a:rPr>
              <a:t>robustesse</a:t>
            </a:r>
            <a:r>
              <a:rPr lang="en-US" sz="3200" spc="-10" dirty="0">
                <a:latin typeface="Times New Roman"/>
                <a:cs typeface="Times New Roman"/>
              </a:rPr>
              <a:t>, </a:t>
            </a:r>
            <a:r>
              <a:rPr lang="en-US" sz="3200" spc="-10" dirty="0" err="1">
                <a:latin typeface="Times New Roman"/>
                <a:cs typeface="Times New Roman"/>
              </a:rPr>
              <a:t>leur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latin typeface="Times New Roman"/>
                <a:cs typeface="Times New Roman"/>
              </a:rPr>
              <a:t>r</a:t>
            </a:r>
            <a:r>
              <a:rPr lang="en-US" sz="3200" b="1" dirty="0" err="1">
                <a:latin typeface="Times New Roman"/>
                <a:cs typeface="Times New Roman"/>
              </a:rPr>
              <a:t>é</a:t>
            </a:r>
            <a:r>
              <a:rPr lang="en-US" sz="3200" b="1" spc="-10" dirty="0" err="1">
                <a:latin typeface="Times New Roman"/>
                <a:cs typeface="Times New Roman"/>
              </a:rPr>
              <a:t>ut</a:t>
            </a:r>
            <a:r>
              <a:rPr lang="en-US" sz="3200" b="1" spc="-5" dirty="0" err="1">
                <a:latin typeface="Times New Roman"/>
                <a:cs typeface="Times New Roman"/>
              </a:rPr>
              <a:t>ili</a:t>
            </a:r>
            <a:r>
              <a:rPr lang="en-US" sz="3200" b="1" spc="-10" dirty="0" err="1">
                <a:latin typeface="Times New Roman"/>
                <a:cs typeface="Times New Roman"/>
              </a:rPr>
              <a:t>s</a:t>
            </a:r>
            <a:r>
              <a:rPr lang="en-US" sz="3200" b="1" spc="-5" dirty="0" err="1">
                <a:latin typeface="Times New Roman"/>
                <a:cs typeface="Times New Roman"/>
              </a:rPr>
              <a:t>a</a:t>
            </a:r>
            <a:r>
              <a:rPr lang="en-US" sz="3200" b="1" spc="-10" dirty="0" err="1">
                <a:latin typeface="Times New Roman"/>
                <a:cs typeface="Times New Roman"/>
              </a:rPr>
              <a:t>b</a:t>
            </a:r>
            <a:r>
              <a:rPr lang="en-US" sz="3200" b="1" spc="-5" dirty="0" err="1">
                <a:latin typeface="Times New Roman"/>
                <a:cs typeface="Times New Roman"/>
              </a:rPr>
              <a:t>ili</a:t>
            </a:r>
            <a:r>
              <a:rPr lang="en-US" sz="3200" b="1" spc="-10" dirty="0" err="1">
                <a:latin typeface="Times New Roman"/>
                <a:cs typeface="Times New Roman"/>
              </a:rPr>
              <a:t>t</a:t>
            </a:r>
            <a:r>
              <a:rPr lang="en-US" sz="3200" b="1" dirty="0" err="1">
                <a:latin typeface="Times New Roman"/>
                <a:cs typeface="Times New Roman"/>
              </a:rPr>
              <a:t>é</a:t>
            </a:r>
            <a:r>
              <a:rPr lang="en-US" sz="3200" b="1" dirty="0">
                <a:latin typeface="Times New Roman"/>
                <a:cs typeface="Times New Roman"/>
              </a:rPr>
              <a:t>, </a:t>
            </a:r>
            <a:r>
              <a:rPr lang="en-US" sz="3200" spc="-5" dirty="0" err="1">
                <a:latin typeface="Times New Roman"/>
                <a:cs typeface="Times New Roman"/>
              </a:rPr>
              <a:t>le</a:t>
            </a:r>
            <a:r>
              <a:rPr lang="en-US" sz="3200" dirty="0" err="1">
                <a:latin typeface="Times New Roman"/>
                <a:cs typeface="Times New Roman"/>
              </a:rPr>
              <a:t>u</a:t>
            </a:r>
            <a:r>
              <a:rPr lang="en-US" sz="3200" spc="-5" dirty="0" err="1">
                <a:latin typeface="Times New Roman"/>
                <a:cs typeface="Times New Roman"/>
              </a:rPr>
              <a:t>r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latin typeface="Times New Roman"/>
                <a:cs typeface="Times New Roman"/>
              </a:rPr>
              <a:t>c</a:t>
            </a:r>
            <a:r>
              <a:rPr lang="en-US" sz="3200" b="1" dirty="0" err="1">
                <a:latin typeface="Times New Roman"/>
                <a:cs typeface="Times New Roman"/>
              </a:rPr>
              <a:t>o</a:t>
            </a:r>
            <a:r>
              <a:rPr lang="en-US" sz="3200" b="1" spc="-5" dirty="0" err="1">
                <a:latin typeface="Times New Roman"/>
                <a:cs typeface="Times New Roman"/>
              </a:rPr>
              <a:t>m</a:t>
            </a:r>
            <a:r>
              <a:rPr lang="en-US" sz="3200" b="1" spc="-10" dirty="0" err="1">
                <a:latin typeface="Times New Roman"/>
                <a:cs typeface="Times New Roman"/>
              </a:rPr>
              <a:t>p</a:t>
            </a:r>
            <a:r>
              <a:rPr lang="en-US" sz="3200" b="1" spc="-5" dirty="0" err="1">
                <a:latin typeface="Times New Roman"/>
                <a:cs typeface="Times New Roman"/>
              </a:rPr>
              <a:t>lexi</a:t>
            </a:r>
            <a:r>
              <a:rPr lang="en-US" sz="3200" b="1" spc="-10" dirty="0" err="1">
                <a:latin typeface="Times New Roman"/>
                <a:cs typeface="Times New Roman"/>
              </a:rPr>
              <a:t>t</a:t>
            </a:r>
            <a:r>
              <a:rPr lang="en-US" sz="3200" b="1" spc="-5" dirty="0" err="1">
                <a:latin typeface="Times New Roman"/>
                <a:cs typeface="Times New Roman"/>
              </a:rPr>
              <a:t>é</a:t>
            </a:r>
            <a:r>
              <a:rPr lang="en-US" sz="3200" b="1" spc="-5" dirty="0">
                <a:latin typeface="Times New Roman"/>
                <a:cs typeface="Times New Roman"/>
              </a:rPr>
              <a:t> </a:t>
            </a:r>
            <a:r>
              <a:rPr lang="en-US" sz="3200" spc="-5" dirty="0">
                <a:latin typeface="Times New Roman"/>
                <a:cs typeface="Times New Roman"/>
              </a:rPr>
              <a:t>et </a:t>
            </a:r>
            <a:r>
              <a:rPr lang="en-US" sz="3200" spc="-5" dirty="0" err="1">
                <a:latin typeface="Times New Roman"/>
                <a:cs typeface="Times New Roman"/>
              </a:rPr>
              <a:t>leur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latin typeface="Times New Roman"/>
                <a:cs typeface="Times New Roman"/>
              </a:rPr>
              <a:t>efficacité</a:t>
            </a:r>
            <a:r>
              <a:rPr lang="en-US" sz="3200" b="1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6772" y="934702"/>
            <a:ext cx="4672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1. </a:t>
            </a:r>
            <a:r>
              <a:rPr spc="-40" dirty="0"/>
              <a:t>Validité </a:t>
            </a:r>
            <a:r>
              <a:rPr spc="-10" dirty="0"/>
              <a:t>d’un</a:t>
            </a:r>
            <a:r>
              <a:rPr spc="-60" dirty="0"/>
              <a:t> </a:t>
            </a:r>
            <a:r>
              <a:rPr spc="-5" dirty="0"/>
              <a:t>algorithme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6784" y="1576147"/>
            <a:ext cx="10397172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La validité d’un algorithme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b="1" spc="-5" dirty="0">
                <a:latin typeface="Times New Roman"/>
                <a:cs typeface="Times New Roman"/>
              </a:rPr>
              <a:t>son </a:t>
            </a:r>
            <a:r>
              <a:rPr sz="3000" b="1" dirty="0">
                <a:latin typeface="Times New Roman"/>
                <a:cs typeface="Times New Roman"/>
              </a:rPr>
              <a:t>aptitude à </a:t>
            </a:r>
            <a:r>
              <a:rPr sz="3000" b="1" dirty="0" err="1">
                <a:latin typeface="Times New Roman"/>
                <a:cs typeface="Times New Roman"/>
              </a:rPr>
              <a:t>réaliser</a:t>
            </a:r>
            <a:r>
              <a:rPr lang="en-US" sz="3000" b="1" dirty="0">
                <a:latin typeface="Times New Roman"/>
                <a:cs typeface="Times New Roman"/>
              </a:rPr>
              <a:t> </a:t>
            </a:r>
            <a:r>
              <a:rPr sz="3000" b="1" dirty="0" err="1">
                <a:latin typeface="Times New Roman"/>
                <a:cs typeface="Times New Roman"/>
              </a:rPr>
              <a:t>exactement</a:t>
            </a:r>
            <a:r>
              <a:rPr sz="3000" b="1" dirty="0">
                <a:latin typeface="Times New Roman"/>
                <a:cs typeface="Times New Roman"/>
              </a:rPr>
              <a:t>  la t</a:t>
            </a:r>
            <a:r>
              <a:rPr lang="fr-FR" sz="3000" b="1" dirty="0">
                <a:latin typeface="Times New Roman"/>
                <a:cs typeface="Times New Roman"/>
              </a:rPr>
              <a:t>â</a:t>
            </a:r>
            <a:r>
              <a:rPr sz="3000" b="1" dirty="0" err="1">
                <a:latin typeface="Times New Roman"/>
                <a:cs typeface="Times New Roman"/>
              </a:rPr>
              <a:t>che</a:t>
            </a:r>
            <a:r>
              <a:rPr sz="3000" b="1" dirty="0">
                <a:latin typeface="Times New Roman"/>
                <a:cs typeface="Times New Roman"/>
              </a:rPr>
              <a:t> pour laquelle il a été</a:t>
            </a:r>
            <a:r>
              <a:rPr sz="3000" b="1" spc="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conçu</a:t>
            </a:r>
            <a:r>
              <a:rPr sz="3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83820" marR="76200">
              <a:lnSpc>
                <a:spcPct val="100000"/>
              </a:lnSpc>
              <a:buSzPct val="96428"/>
              <a:buFont typeface="Wingdings"/>
              <a:buChar char=""/>
              <a:tabLst>
                <a:tab pos="367665" algn="l"/>
                <a:tab pos="2100580" algn="l"/>
              </a:tabLst>
            </a:pPr>
            <a:r>
              <a:rPr sz="28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Exemple:	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 reprend l’exemple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 de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l’algorithme de recherche du  chemin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la</a:t>
            </a:r>
            <a:r>
              <a:rPr sz="28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gare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613" y="4482239"/>
            <a:ext cx="19704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effectivement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4577" y="4055571"/>
            <a:ext cx="951166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970" marR="5080" indent="-2160905">
              <a:lnSpc>
                <a:spcPct val="100000"/>
              </a:lnSpc>
              <a:spcBef>
                <a:spcPts val="100"/>
              </a:spcBef>
              <a:tabLst>
                <a:tab pos="1397000" algn="l"/>
                <a:tab pos="2044064" algn="l"/>
                <a:tab pos="2634615" algn="l"/>
                <a:tab pos="3195320" algn="l"/>
                <a:tab pos="4026535" algn="l"/>
                <a:tab pos="4111625" algn="l"/>
                <a:tab pos="5481320" algn="l"/>
                <a:tab pos="5950585" algn="l"/>
                <a:tab pos="7526020" algn="l"/>
                <a:tab pos="8668385" algn="l"/>
              </a:tabLst>
            </a:pPr>
            <a:r>
              <a:rPr sz="2800" spc="-265" dirty="0">
                <a:solidFill>
                  <a:srgbClr val="0070C0"/>
                </a:solidFill>
                <a:latin typeface="Times New Roman"/>
                <a:cs typeface="Times New Roman"/>
              </a:rPr>
              <a:t>L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’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é</a:t>
            </a:r>
            <a:r>
              <a:rPr sz="2800" spc="-10" dirty="0">
                <a:solidFill>
                  <a:srgbClr val="0070C0"/>
                </a:solidFill>
                <a:latin typeface="Times New Roman"/>
                <a:cs typeface="Times New Roman"/>
              </a:rPr>
              <a:t>t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e	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e	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a	</a:t>
            </a:r>
            <a:r>
              <a:rPr sz="2800" spc="-57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v</a:t>
            </a:r>
            <a:r>
              <a:rPr sz="2800" spc="-10" dirty="0">
                <a:solidFill>
                  <a:srgbClr val="0070C0"/>
                </a:solidFill>
                <a:latin typeface="Times New Roman"/>
                <a:cs typeface="Times New Roman"/>
              </a:rPr>
              <a:t>al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d</a:t>
            </a:r>
            <a:r>
              <a:rPr sz="2800" spc="-10" dirty="0">
                <a:solidFill>
                  <a:srgbClr val="0070C0"/>
                </a:solidFill>
                <a:latin typeface="Times New Roman"/>
                <a:cs typeface="Times New Roman"/>
              </a:rPr>
              <a:t>it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é	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	à	s</a:t>
            </a:r>
            <a:r>
              <a:rPr sz="2800" spc="-5" dirty="0">
                <a:latin typeface="Times New Roman"/>
                <a:cs typeface="Times New Roman"/>
              </a:rPr>
              <a:t>’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q</a:t>
            </a:r>
            <a:r>
              <a:rPr sz="2800" dirty="0">
                <a:latin typeface="Times New Roman"/>
                <a:cs typeface="Times New Roman"/>
              </a:rPr>
              <a:t>u’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ive  à	</a:t>
            </a:r>
            <a:r>
              <a:rPr sz="2800" spc="-5" dirty="0">
                <a:latin typeface="Times New Roman"/>
                <a:cs typeface="Times New Roman"/>
              </a:rPr>
              <a:t>la	gare		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3129" y="4482239"/>
            <a:ext cx="47726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5764" algn="l"/>
                <a:tab pos="4366260" algn="l"/>
              </a:tabLst>
            </a:pPr>
            <a:r>
              <a:rPr sz="2800" spc="-5" dirty="0">
                <a:latin typeface="Times New Roman"/>
                <a:cs typeface="Times New Roman"/>
              </a:rPr>
              <a:t>ex</a:t>
            </a:r>
            <a:r>
              <a:rPr sz="2800" spc="-10" dirty="0">
                <a:latin typeface="Times New Roman"/>
                <a:cs typeface="Times New Roman"/>
              </a:rPr>
              <a:t>éc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ta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5" dirty="0">
                <a:latin typeface="Times New Roman"/>
                <a:cs typeface="Times New Roman"/>
              </a:rPr>
              <a:t>sc</a:t>
            </a:r>
            <a:r>
              <a:rPr sz="2800" dirty="0">
                <a:latin typeface="Times New Roman"/>
                <a:cs typeface="Times New Roman"/>
              </a:rPr>
              <a:t>ru</a:t>
            </a:r>
            <a:r>
              <a:rPr sz="2800" spc="-5" dirty="0">
                <a:latin typeface="Times New Roman"/>
                <a:cs typeface="Times New Roman"/>
              </a:rPr>
              <a:t>pu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eus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10" dirty="0">
                <a:latin typeface="Times New Roman"/>
                <a:cs typeface="Times New Roman"/>
              </a:rPr>
              <a:t>les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69" y="4908908"/>
            <a:ext cx="9867987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instructions dans </a:t>
            </a:r>
            <a:r>
              <a:rPr sz="2800" dirty="0" err="1">
                <a:latin typeface="Times New Roman"/>
                <a:cs typeface="Times New Roman"/>
              </a:rPr>
              <a:t>l’ordre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annoncé</a:t>
            </a:r>
            <a:r>
              <a:rPr lang="en-US"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4937" y="99208"/>
            <a:ext cx="6891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caractéristiques d’un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13</a:t>
            </a:fld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784" y="1530685"/>
            <a:ext cx="10201275" cy="4647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67690" algn="l"/>
                <a:tab pos="2309495" algn="l"/>
                <a:tab pos="3161030" algn="l"/>
                <a:tab pos="4968240" algn="l"/>
                <a:tab pos="5545455" algn="l"/>
                <a:tab pos="6226175" algn="l"/>
                <a:tab pos="7610475" algn="l"/>
                <a:tab pos="7932420" algn="l"/>
                <a:tab pos="8403590" algn="l"/>
                <a:tab pos="9828530" algn="l"/>
              </a:tabLst>
            </a:pPr>
            <a:r>
              <a:rPr sz="3000" dirty="0">
                <a:latin typeface="Times New Roman"/>
                <a:cs typeface="Times New Roman"/>
              </a:rPr>
              <a:t>La	</a:t>
            </a:r>
            <a:r>
              <a:rPr sz="3000" spc="5" dirty="0">
                <a:latin typeface="Times New Roman"/>
                <a:cs typeface="Times New Roman"/>
              </a:rPr>
              <a:t>r</a:t>
            </a:r>
            <a:r>
              <a:rPr sz="3000" dirty="0">
                <a:latin typeface="Times New Roman"/>
                <a:cs typeface="Times New Roman"/>
              </a:rPr>
              <a:t>obu</a:t>
            </a:r>
            <a:r>
              <a:rPr sz="3000" spc="-5" dirty="0">
                <a:latin typeface="Times New Roman"/>
                <a:cs typeface="Times New Roman"/>
              </a:rPr>
              <a:t>s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spc="-5" dirty="0">
                <a:latin typeface="Times New Roman"/>
                <a:cs typeface="Times New Roman"/>
              </a:rPr>
              <a:t>e</a:t>
            </a:r>
            <a:r>
              <a:rPr sz="3000" spc="-10" dirty="0">
                <a:latin typeface="Times New Roman"/>
                <a:cs typeface="Times New Roman"/>
              </a:rPr>
              <a:t>s</a:t>
            </a:r>
            <a:r>
              <a:rPr sz="3000" spc="-5" dirty="0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e	d’</a:t>
            </a:r>
            <a:r>
              <a:rPr sz="3000" spc="-10" dirty="0">
                <a:latin typeface="Times New Roman"/>
                <a:cs typeface="Times New Roman"/>
              </a:rPr>
              <a:t>u</a:t>
            </a:r>
            <a:r>
              <a:rPr sz="3000" dirty="0">
                <a:latin typeface="Times New Roman"/>
                <a:cs typeface="Times New Roman"/>
              </a:rPr>
              <a:t>n	a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gori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h</a:t>
            </a:r>
            <a:r>
              <a:rPr sz="3000" spc="5" dirty="0">
                <a:latin typeface="Times New Roman"/>
                <a:cs typeface="Times New Roman"/>
              </a:rPr>
              <a:t>m</a:t>
            </a:r>
            <a:r>
              <a:rPr sz="3000" dirty="0">
                <a:latin typeface="Times New Roman"/>
                <a:cs typeface="Times New Roman"/>
              </a:rPr>
              <a:t>e	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t	</a:t>
            </a:r>
            <a:r>
              <a:rPr sz="3000" b="1" spc="-5" dirty="0">
                <a:latin typeface="Times New Roman"/>
                <a:cs typeface="Times New Roman"/>
              </a:rPr>
              <a:t>s</a:t>
            </a:r>
            <a:r>
              <a:rPr sz="3000" b="1" dirty="0">
                <a:latin typeface="Times New Roman"/>
                <a:cs typeface="Times New Roman"/>
              </a:rPr>
              <a:t>on	a</a:t>
            </a:r>
            <a:r>
              <a:rPr sz="3000" b="1" spc="5" dirty="0">
                <a:latin typeface="Times New Roman"/>
                <a:cs typeface="Times New Roman"/>
              </a:rPr>
              <a:t>p</a:t>
            </a:r>
            <a:r>
              <a:rPr sz="3000" b="1" dirty="0">
                <a:latin typeface="Times New Roman"/>
                <a:cs typeface="Times New Roman"/>
              </a:rPr>
              <a:t>t</a:t>
            </a:r>
            <a:r>
              <a:rPr sz="3000" b="1" spc="5" dirty="0">
                <a:latin typeface="Times New Roman"/>
                <a:cs typeface="Times New Roman"/>
              </a:rPr>
              <a:t>it</a:t>
            </a:r>
            <a:r>
              <a:rPr sz="3000" b="1" dirty="0">
                <a:latin typeface="Times New Roman"/>
                <a:cs typeface="Times New Roman"/>
              </a:rPr>
              <a:t>ude	à	</a:t>
            </a:r>
            <a:r>
              <a:rPr sz="3000" b="1" spc="-5" dirty="0">
                <a:latin typeface="Times New Roman"/>
                <a:cs typeface="Times New Roman"/>
              </a:rPr>
              <a:t>se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dirty="0" err="1">
                <a:latin typeface="Times New Roman"/>
                <a:cs typeface="Times New Roman"/>
              </a:rPr>
              <a:t>proté</a:t>
            </a:r>
            <a:r>
              <a:rPr sz="3000" b="1" spc="5" dirty="0" err="1">
                <a:latin typeface="Times New Roman"/>
                <a:cs typeface="Times New Roman"/>
              </a:rPr>
              <a:t>g</a:t>
            </a:r>
            <a:r>
              <a:rPr sz="3000" b="1" dirty="0" err="1">
                <a:latin typeface="Times New Roman"/>
                <a:cs typeface="Times New Roman"/>
              </a:rPr>
              <a:t>er</a:t>
            </a:r>
            <a:r>
              <a:rPr lang="en-US" sz="3000" b="1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</a:t>
            </a:r>
            <a:r>
              <a:rPr lang="en-US" sz="3000" b="1" dirty="0">
                <a:latin typeface="Times New Roman"/>
                <a:cs typeface="Times New Roman"/>
              </a:rPr>
              <a:t>s</a:t>
            </a:r>
            <a:r>
              <a:rPr sz="3000" b="1" dirty="0">
                <a:latin typeface="Times New Roman"/>
                <a:cs typeface="Times New Roman"/>
              </a:rPr>
              <a:t>  conditions anormales</a:t>
            </a:r>
            <a:r>
              <a:rPr sz="3000" b="1" spc="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d’utilisation</a:t>
            </a:r>
            <a:r>
              <a:rPr sz="3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2899"/>
              </a:lnSpc>
              <a:buSzPct val="110714"/>
              <a:buFont typeface="Wingdings"/>
              <a:buChar char=""/>
              <a:tabLst>
                <a:tab pos="336550" algn="l"/>
              </a:tabLst>
            </a:pPr>
            <a:r>
              <a:rPr sz="2800" b="1" u="heavy" spc="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Exemple: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 reprend l’exemple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l’algorithme de recherche du  chemin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la</a:t>
            </a:r>
            <a:r>
              <a:rPr sz="28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gare</a:t>
            </a:r>
            <a:endParaRPr sz="2800" dirty="0">
              <a:latin typeface="Times New Roman"/>
              <a:cs typeface="Times New Roman"/>
            </a:endParaRPr>
          </a:p>
          <a:p>
            <a:pPr marL="469265" marR="5080" algn="just">
              <a:lnSpc>
                <a:spcPct val="100000"/>
              </a:lnSpc>
              <a:spcBef>
                <a:spcPts val="1200"/>
              </a:spcBef>
            </a:pP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La robustesse 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de 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l’algorithme </a:t>
            </a:r>
            <a:r>
              <a:rPr sz="2800" spc="-5" dirty="0">
                <a:latin typeface="Times New Roman"/>
                <a:cs typeface="Times New Roman"/>
              </a:rPr>
              <a:t>se pose par </a:t>
            </a:r>
            <a:r>
              <a:rPr sz="2800" spc="-10" dirty="0">
                <a:latin typeface="Times New Roman"/>
                <a:cs typeface="Times New Roman"/>
              </a:rPr>
              <a:t>exemple </a:t>
            </a:r>
            <a:r>
              <a:rPr sz="2800" spc="-5" dirty="0">
                <a:latin typeface="Times New Roman"/>
                <a:cs typeface="Times New Roman"/>
              </a:rPr>
              <a:t>si le </a:t>
            </a:r>
            <a:r>
              <a:rPr sz="2800" spc="-5" dirty="0" err="1">
                <a:latin typeface="Times New Roman"/>
                <a:cs typeface="Times New Roman"/>
              </a:rPr>
              <a:t>chemin</a:t>
            </a:r>
            <a:r>
              <a:rPr sz="2800" spc="-5" dirty="0">
                <a:latin typeface="Times New Roman"/>
                <a:cs typeface="Times New Roman"/>
              </a:rPr>
              <a:t>  </a:t>
            </a:r>
            <a:r>
              <a:rPr lang="en-US" sz="2800" spc="-5" dirty="0">
                <a:latin typeface="Times New Roman"/>
                <a:cs typeface="Times New Roman"/>
              </a:rPr>
              <a:t>a </a:t>
            </a:r>
            <a:r>
              <a:rPr lang="en-US" sz="2800" spc="-5" dirty="0" err="1">
                <a:latin typeface="Times New Roman"/>
                <a:cs typeface="Times New Roman"/>
              </a:rPr>
              <a:t>été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proposé</a:t>
            </a:r>
            <a:r>
              <a:rPr sz="2800" spc="-5" dirty="0">
                <a:latin typeface="Times New Roman"/>
                <a:cs typeface="Times New Roman"/>
              </a:rPr>
              <a:t> pour un piéton, alors que le </a:t>
            </a:r>
            <a:r>
              <a:rPr sz="2800" dirty="0">
                <a:latin typeface="Times New Roman"/>
                <a:cs typeface="Times New Roman"/>
              </a:rPr>
              <a:t>« </a:t>
            </a:r>
            <a:r>
              <a:rPr sz="2800" spc="-5" dirty="0">
                <a:latin typeface="Times New Roman"/>
                <a:cs typeface="Times New Roman"/>
              </a:rPr>
              <a:t>touriste égaré </a:t>
            </a:r>
            <a:r>
              <a:rPr sz="2800" dirty="0">
                <a:latin typeface="Times New Roman"/>
                <a:cs typeface="Times New Roman"/>
              </a:rPr>
              <a:t>»  </a:t>
            </a:r>
            <a:r>
              <a:rPr sz="2800" spc="-5" dirty="0">
                <a:latin typeface="Times New Roman"/>
                <a:cs typeface="Times New Roman"/>
              </a:rPr>
              <a:t>est en </a:t>
            </a:r>
            <a:r>
              <a:rPr sz="2800" dirty="0">
                <a:latin typeface="Times New Roman"/>
                <a:cs typeface="Times New Roman"/>
              </a:rPr>
              <a:t>voiture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dirty="0">
                <a:latin typeface="Times New Roman"/>
                <a:cs typeface="Times New Roman"/>
              </a:rPr>
              <a:t>que la « </a:t>
            </a:r>
            <a:r>
              <a:rPr sz="2800" spc="-5" dirty="0">
                <a:latin typeface="Times New Roman"/>
                <a:cs typeface="Times New Roman"/>
              </a:rPr>
              <a:t>troisième </a:t>
            </a:r>
            <a:r>
              <a:rPr sz="2800" dirty="0">
                <a:latin typeface="Times New Roman"/>
                <a:cs typeface="Times New Roman"/>
              </a:rPr>
              <a:t>à droite » </a:t>
            </a:r>
            <a:r>
              <a:rPr sz="2800" spc="-5" dirty="0">
                <a:latin typeface="Times New Roman"/>
                <a:cs typeface="Times New Roman"/>
              </a:rPr>
              <a:t>est en </a:t>
            </a:r>
            <a:r>
              <a:rPr sz="2800" spc="-5" dirty="0" err="1">
                <a:latin typeface="Times New Roman"/>
                <a:cs typeface="Times New Roman"/>
              </a:rPr>
              <a:t>sens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interdit</a:t>
            </a:r>
            <a:r>
              <a:rPr lang="en-US" sz="2800" dirty="0">
                <a:latin typeface="Times New Roman"/>
                <a:cs typeface="Times New Roman"/>
              </a:rPr>
              <a:t> ?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lang="fr-FR" sz="2800" dirty="0">
                <a:latin typeface="Times New Roman"/>
                <a:cs typeface="Times New Roman"/>
              </a:rPr>
              <a:t>A </a:t>
            </a:r>
            <a:r>
              <a:rPr lang="fr-FR" sz="2800" spc="-5" dirty="0">
                <a:latin typeface="Times New Roman"/>
                <a:cs typeface="Times New Roman"/>
              </a:rPr>
              <a:t>priori cet exemple n’est pas robuste, sauf si on propose un chemin valable pour toute personne (piéton et motorisée).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4583" y="863264"/>
            <a:ext cx="5260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2. Robustesse </a:t>
            </a:r>
            <a:r>
              <a:rPr spc="-10" dirty="0"/>
              <a:t>d’un</a:t>
            </a:r>
            <a:r>
              <a:rPr spc="-20" dirty="0"/>
              <a:t> </a:t>
            </a:r>
            <a:r>
              <a:rPr spc="-5" dirty="0"/>
              <a:t>algorithme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937" y="99208"/>
            <a:ext cx="6891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caractéristiques d’un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223" y="1549321"/>
            <a:ext cx="10200640" cy="392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La réutilisabilité d’un algorithme est </a:t>
            </a:r>
            <a:r>
              <a:rPr sz="3000" b="1" spc="-5" dirty="0">
                <a:latin typeface="Times New Roman"/>
                <a:cs typeface="Times New Roman"/>
              </a:rPr>
              <a:t>son </a:t>
            </a:r>
            <a:r>
              <a:rPr sz="3000" b="1" dirty="0">
                <a:latin typeface="Times New Roman"/>
                <a:cs typeface="Times New Roman"/>
              </a:rPr>
              <a:t>aptitude à être réutilisé  pour </a:t>
            </a:r>
            <a:r>
              <a:rPr sz="3000" b="1" spc="-5" dirty="0">
                <a:latin typeface="Times New Roman"/>
                <a:cs typeface="Times New Roman"/>
              </a:rPr>
              <a:t>résoudre des </a:t>
            </a:r>
            <a:r>
              <a:rPr sz="3000" b="1" dirty="0">
                <a:latin typeface="Times New Roman"/>
                <a:cs typeface="Times New Roman"/>
              </a:rPr>
              <a:t>t</a:t>
            </a:r>
            <a:r>
              <a:rPr lang="fr-FR" sz="3000" b="1" dirty="0">
                <a:latin typeface="Times New Roman"/>
                <a:cs typeface="Times New Roman"/>
              </a:rPr>
              <a:t>â</a:t>
            </a:r>
            <a:r>
              <a:rPr sz="3000" b="1" dirty="0" err="1">
                <a:latin typeface="Times New Roman"/>
                <a:cs typeface="Times New Roman"/>
              </a:rPr>
              <a:t>ches</a:t>
            </a:r>
            <a:r>
              <a:rPr sz="3000" b="1" dirty="0">
                <a:latin typeface="Times New Roman"/>
                <a:cs typeface="Times New Roman"/>
              </a:rPr>
              <a:t> équivalentes </a:t>
            </a:r>
            <a:r>
              <a:rPr sz="3000" dirty="0">
                <a:latin typeface="Times New Roman"/>
                <a:cs typeface="Times New Roman"/>
              </a:rPr>
              <a:t>à celle pour laquelle il a </a:t>
            </a:r>
            <a:r>
              <a:rPr sz="3000" spc="5" dirty="0">
                <a:latin typeface="Times New Roman"/>
                <a:cs typeface="Times New Roman"/>
              </a:rPr>
              <a:t>été  </a:t>
            </a:r>
            <a:r>
              <a:rPr sz="3000" dirty="0">
                <a:latin typeface="Times New Roman"/>
                <a:cs typeface="Times New Roman"/>
              </a:rPr>
              <a:t>conçu.</a:t>
            </a:r>
          </a:p>
          <a:p>
            <a:pPr marL="12700" marR="5715" algn="just">
              <a:lnSpc>
                <a:spcPct val="102899"/>
              </a:lnSpc>
              <a:spcBef>
                <a:spcPts val="1735"/>
              </a:spcBef>
              <a:buSzPct val="110714"/>
              <a:buFont typeface="Wingdings"/>
              <a:buChar char=""/>
              <a:tabLst>
                <a:tab pos="336550" algn="l"/>
              </a:tabLst>
            </a:pPr>
            <a:r>
              <a:rPr sz="2800" b="1" u="heavy" spc="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Exemple: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 reprend l’exemple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l’algorithme de recherche du  chemin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la</a:t>
            </a:r>
            <a:r>
              <a:rPr sz="28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gare</a:t>
            </a:r>
            <a:endParaRPr sz="2800" dirty="0">
              <a:latin typeface="Times New Roman"/>
              <a:cs typeface="Times New Roman"/>
            </a:endParaRPr>
          </a:p>
          <a:p>
            <a:pPr marL="469265" marR="5715" algn="just">
              <a:lnSpc>
                <a:spcPct val="100000"/>
              </a:lnSpc>
              <a:spcBef>
                <a:spcPts val="1200"/>
              </a:spcBef>
            </a:pPr>
            <a:r>
              <a:rPr sz="2800" spc="-25" dirty="0">
                <a:latin typeface="Times New Roman"/>
                <a:cs typeface="Times New Roman"/>
              </a:rPr>
              <a:t>L’algorithme </a:t>
            </a:r>
            <a:r>
              <a:rPr sz="2800" spc="-5" dirty="0">
                <a:latin typeface="Times New Roman"/>
                <a:cs typeface="Times New Roman"/>
              </a:rPr>
              <a:t>de recherche du chemin </a:t>
            </a:r>
            <a:r>
              <a:rPr sz="2800" dirty="0">
                <a:latin typeface="Times New Roman"/>
                <a:cs typeface="Times New Roman"/>
              </a:rPr>
              <a:t>de la </a:t>
            </a:r>
            <a:r>
              <a:rPr sz="2800" spc="-5" dirty="0">
                <a:latin typeface="Times New Roman"/>
                <a:cs typeface="Times New Roman"/>
              </a:rPr>
              <a:t>gare est-il </a:t>
            </a:r>
            <a:r>
              <a:rPr sz="2800" spc="-10" dirty="0">
                <a:latin typeface="Times New Roman"/>
                <a:cs typeface="Times New Roman"/>
              </a:rPr>
              <a:t>réutilisable tel  </a:t>
            </a:r>
            <a:r>
              <a:rPr sz="2800" spc="-5" dirty="0">
                <a:latin typeface="Times New Roman"/>
                <a:cs typeface="Times New Roman"/>
              </a:rPr>
              <a:t>quel pour </a:t>
            </a:r>
            <a:r>
              <a:rPr sz="2800" dirty="0">
                <a:latin typeface="Times New Roman"/>
                <a:cs typeface="Times New Roman"/>
              </a:rPr>
              <a:t>se </a:t>
            </a:r>
            <a:r>
              <a:rPr sz="2800" spc="-5" dirty="0">
                <a:latin typeface="Times New Roman"/>
                <a:cs typeface="Times New Roman"/>
              </a:rPr>
              <a:t>rendre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la mairie </a:t>
            </a:r>
            <a:r>
              <a:rPr sz="2800" dirty="0">
                <a:latin typeface="Times New Roman"/>
                <a:cs typeface="Times New Roman"/>
              </a:rPr>
              <a:t>? A </a:t>
            </a:r>
            <a:r>
              <a:rPr sz="2800" spc="-5" dirty="0">
                <a:latin typeface="Times New Roman"/>
                <a:cs typeface="Times New Roman"/>
              </a:rPr>
              <a:t>priori </a:t>
            </a:r>
            <a:r>
              <a:rPr lang="en-US" sz="2800" spc="-5" dirty="0" err="1">
                <a:latin typeface="Times New Roman"/>
                <a:cs typeface="Times New Roman"/>
              </a:rPr>
              <a:t>cet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5" dirty="0" err="1">
                <a:latin typeface="Times New Roman"/>
                <a:cs typeface="Times New Roman"/>
              </a:rPr>
              <a:t>exemple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5" dirty="0" err="1">
                <a:latin typeface="Times New Roman"/>
                <a:cs typeface="Times New Roman"/>
              </a:rPr>
              <a:t>n’est</a:t>
            </a:r>
            <a:r>
              <a:rPr lang="en-US" sz="2800" spc="-5" dirty="0">
                <a:latin typeface="Times New Roman"/>
                <a:cs typeface="Times New Roman"/>
              </a:rPr>
              <a:t> pas </a:t>
            </a:r>
            <a:r>
              <a:rPr lang="en-US" sz="2800" spc="-5" dirty="0" err="1">
                <a:latin typeface="Times New Roman"/>
                <a:cs typeface="Times New Roman"/>
              </a:rPr>
              <a:t>réutilisable</a:t>
            </a:r>
            <a:r>
              <a:rPr sz="2800" spc="-5" dirty="0">
                <a:latin typeface="Times New Roman"/>
                <a:cs typeface="Times New Roman"/>
              </a:rPr>
              <a:t>, sauf si la mairie </a:t>
            </a:r>
            <a:r>
              <a:rPr sz="2800" spc="-5" dirty="0" err="1">
                <a:latin typeface="Times New Roman"/>
                <a:cs typeface="Times New Roman"/>
              </a:rPr>
              <a:t>est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juste</a:t>
            </a:r>
            <a:r>
              <a:rPr sz="2800" dirty="0">
                <a:latin typeface="Times New Roman"/>
                <a:cs typeface="Times New Roman"/>
              </a:rPr>
              <a:t> à </a:t>
            </a:r>
            <a:r>
              <a:rPr sz="2800" spc="-5" dirty="0">
                <a:latin typeface="Times New Roman"/>
                <a:cs typeface="Times New Roman"/>
              </a:rPr>
              <a:t>coté </a:t>
            </a:r>
            <a:r>
              <a:rPr sz="2800" dirty="0">
                <a:latin typeface="Times New Roman"/>
                <a:cs typeface="Times New Roman"/>
              </a:rPr>
              <a:t>de la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gare.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6676" y="863264"/>
            <a:ext cx="57556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3. Réutilisabilité </a:t>
            </a:r>
            <a:r>
              <a:rPr spc="-10" dirty="0"/>
              <a:t>d’un </a:t>
            </a:r>
            <a:r>
              <a:rPr spc="-5" dirty="0"/>
              <a:t>algorithme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937" y="99208"/>
            <a:ext cx="6891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caractéristiques d’un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15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223" y="1520239"/>
            <a:ext cx="10201275" cy="3570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La complexité d’un algorithme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b="1" dirty="0">
                <a:latin typeface="Times New Roman"/>
                <a:cs typeface="Times New Roman"/>
              </a:rPr>
              <a:t>le nombre </a:t>
            </a:r>
            <a:r>
              <a:rPr sz="3000" b="1" spc="-5" dirty="0">
                <a:latin typeface="Times New Roman"/>
                <a:cs typeface="Times New Roman"/>
              </a:rPr>
              <a:t>d’instructions  </a:t>
            </a:r>
            <a:r>
              <a:rPr sz="3000" b="1" dirty="0">
                <a:latin typeface="Times New Roman"/>
                <a:cs typeface="Times New Roman"/>
              </a:rPr>
              <a:t>élémentaires à exécuter pour réaliser la tâche </a:t>
            </a:r>
            <a:r>
              <a:rPr sz="3000" dirty="0">
                <a:latin typeface="Times New Roman"/>
                <a:cs typeface="Times New Roman"/>
              </a:rPr>
              <a:t>pour laquelle il a </a:t>
            </a:r>
            <a:r>
              <a:rPr sz="3000" spc="5" dirty="0">
                <a:latin typeface="Times New Roman"/>
                <a:cs typeface="Times New Roman"/>
              </a:rPr>
              <a:t>été  </a:t>
            </a:r>
            <a:r>
              <a:rPr sz="3000" dirty="0">
                <a:latin typeface="Times New Roman"/>
                <a:cs typeface="Times New Roman"/>
              </a:rPr>
              <a:t>conçu.</a:t>
            </a:r>
          </a:p>
          <a:p>
            <a:pPr marL="12700" marR="6350" algn="just">
              <a:lnSpc>
                <a:spcPct val="102899"/>
              </a:lnSpc>
              <a:spcBef>
                <a:spcPts val="2095"/>
              </a:spcBef>
              <a:buSzPct val="110714"/>
              <a:buFont typeface="Wingdings"/>
              <a:buChar char=""/>
              <a:tabLst>
                <a:tab pos="336550" algn="l"/>
              </a:tabLst>
            </a:pPr>
            <a:r>
              <a:rPr sz="2800" b="1" u="heavy" spc="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Exemple: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 reprend l’exemple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l’algorithme de recherche du  chemin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la</a:t>
            </a:r>
            <a:r>
              <a:rPr sz="28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gare</a:t>
            </a:r>
            <a:endParaRPr sz="2800" dirty="0">
              <a:latin typeface="Times New Roman"/>
              <a:cs typeface="Times New Roman"/>
            </a:endParaRPr>
          </a:p>
          <a:p>
            <a:pPr marL="470534" marR="5080" indent="-1270" algn="just">
              <a:spcBef>
                <a:spcPts val="1200"/>
              </a:spcBef>
            </a:pPr>
            <a:r>
              <a:rPr lang="fr-FR" sz="2800" dirty="0">
                <a:latin typeface="Times New Roman"/>
                <a:cs typeface="Times New Roman"/>
              </a:rPr>
              <a:t>La complexité de cet exemple est le nombre d’</a:t>
            </a:r>
            <a:r>
              <a:rPr lang="fr-FR" sz="2800" dirty="0" err="1">
                <a:latin typeface="Times New Roman"/>
                <a:cs typeface="Times New Roman"/>
              </a:rPr>
              <a:t>instuctions</a:t>
            </a:r>
            <a:r>
              <a:rPr lang="fr-FR" sz="2800" dirty="0">
                <a:latin typeface="Times New Roman"/>
                <a:cs typeface="Times New Roman"/>
              </a:rPr>
              <a:t> à exécuter pour arriver à la gare.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4791" y="854120"/>
            <a:ext cx="53174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 Complexité </a:t>
            </a:r>
            <a:r>
              <a:rPr spc="-10" dirty="0"/>
              <a:t>d’un</a:t>
            </a:r>
            <a:r>
              <a:rPr spc="-100" dirty="0"/>
              <a:t> </a:t>
            </a:r>
            <a:r>
              <a:rPr spc="-5" dirty="0"/>
              <a:t>algorithme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937" y="99208"/>
            <a:ext cx="6891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caractéristiques d’un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223" y="1747258"/>
            <a:ext cx="10200640" cy="3355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latin typeface="Times New Roman"/>
                <a:cs typeface="Times New Roman"/>
              </a:rPr>
              <a:t>L’efficacité </a:t>
            </a:r>
            <a:r>
              <a:rPr sz="3000" dirty="0">
                <a:latin typeface="Times New Roman"/>
                <a:cs typeface="Times New Roman"/>
              </a:rPr>
              <a:t>d’un algorithme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b="1" spc="-5" dirty="0">
                <a:latin typeface="Times New Roman"/>
                <a:cs typeface="Times New Roman"/>
              </a:rPr>
              <a:t>son </a:t>
            </a:r>
            <a:r>
              <a:rPr sz="3000" b="1" dirty="0">
                <a:latin typeface="Times New Roman"/>
                <a:cs typeface="Times New Roman"/>
              </a:rPr>
              <a:t>aptitude à utiliser de manière  optimale </a:t>
            </a:r>
            <a:r>
              <a:rPr sz="3000" b="1" spc="-5" dirty="0">
                <a:latin typeface="Times New Roman"/>
                <a:cs typeface="Times New Roman"/>
              </a:rPr>
              <a:t>les ressources </a:t>
            </a:r>
            <a:r>
              <a:rPr sz="3000" b="1" dirty="0">
                <a:latin typeface="Times New Roman"/>
                <a:cs typeface="Times New Roman"/>
              </a:rPr>
              <a:t>du matériel</a:t>
            </a:r>
            <a:r>
              <a:rPr sz="3000" dirty="0">
                <a:latin typeface="Times New Roman"/>
                <a:cs typeface="Times New Roman"/>
              </a:rPr>
              <a:t> qui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l’exécute.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12700" marR="5715">
              <a:lnSpc>
                <a:spcPct val="102899"/>
              </a:lnSpc>
              <a:buSzPct val="110714"/>
              <a:buFont typeface="Wingdings"/>
              <a:buChar char=""/>
              <a:tabLst>
                <a:tab pos="336550" algn="l"/>
                <a:tab pos="2099310" algn="l"/>
              </a:tabLst>
            </a:pPr>
            <a:r>
              <a:rPr sz="2800" b="1" u="heavy" spc="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Exemple:	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 reprend l’exemple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l’algorithme de recherche du  chemin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 la</a:t>
            </a:r>
            <a:r>
              <a:rPr sz="28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gare</a:t>
            </a:r>
            <a:endParaRPr sz="2800" dirty="0">
              <a:latin typeface="Times New Roman"/>
              <a:cs typeface="Times New Roman"/>
            </a:endParaRPr>
          </a:p>
          <a:p>
            <a:pPr marL="470534" marR="5080" indent="-1270" algn="just">
              <a:spcBef>
                <a:spcPts val="1200"/>
              </a:spcBef>
            </a:pPr>
            <a:r>
              <a:rPr lang="fr-FR" sz="2800" dirty="0">
                <a:latin typeface="Times New Roman"/>
                <a:cs typeface="Times New Roman"/>
              </a:rPr>
              <a:t>S'il existe un autre </a:t>
            </a:r>
            <a:r>
              <a:rPr lang="fr-FR" sz="2800" dirty="0" err="1">
                <a:latin typeface="Times New Roman"/>
                <a:cs typeface="Times New Roman"/>
              </a:rPr>
              <a:t>racourci</a:t>
            </a:r>
            <a:r>
              <a:rPr lang="fr-FR" sz="2800" dirty="0">
                <a:latin typeface="Times New Roman"/>
                <a:cs typeface="Times New Roman"/>
              </a:rPr>
              <a:t> menant à la gare, il sera plus efficace que ce chemin.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3124" y="947407"/>
            <a:ext cx="4989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 Efficacité </a:t>
            </a:r>
            <a:r>
              <a:rPr spc="-10" dirty="0"/>
              <a:t>d’un</a:t>
            </a:r>
            <a:r>
              <a:rPr spc="-15" dirty="0"/>
              <a:t> </a:t>
            </a:r>
            <a:r>
              <a:rPr spc="-5" dirty="0"/>
              <a:t>algorithme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937" y="99208"/>
            <a:ext cx="6891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caractéristiques d’un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17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9595" y="1597605"/>
            <a:ext cx="1112964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1148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 </a:t>
            </a:r>
            <a:r>
              <a:rPr sz="3000" spc="-5" dirty="0">
                <a:latin typeface="Times New Roman"/>
                <a:cs typeface="Times New Roman"/>
              </a:rPr>
              <a:t>Un </a:t>
            </a:r>
            <a:r>
              <a:rPr sz="3000" b="1" dirty="0">
                <a:solidFill>
                  <a:srgbClr val="00B0F0"/>
                </a:solidFill>
                <a:latin typeface="Times New Roman"/>
                <a:cs typeface="Times New Roman"/>
              </a:rPr>
              <a:t>algorithme </a:t>
            </a:r>
            <a:r>
              <a:rPr sz="3000" dirty="0">
                <a:latin typeface="Times New Roman"/>
                <a:cs typeface="Times New Roman"/>
              </a:rPr>
              <a:t>exprime la structure logique d’un</a:t>
            </a:r>
            <a:r>
              <a:rPr sz="3000" spc="6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programme  </a:t>
            </a:r>
            <a:r>
              <a:rPr sz="3000" dirty="0" err="1">
                <a:latin typeface="Times New Roman"/>
                <a:cs typeface="Times New Roman"/>
              </a:rPr>
              <a:t>informatique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lang="fr-FR" sz="3000" dirty="0">
                <a:latin typeface="Times New Roman"/>
                <a:cs typeface="Times New Roman"/>
              </a:rPr>
              <a:t>indépendamment</a:t>
            </a:r>
            <a:r>
              <a:rPr sz="3000" dirty="0">
                <a:latin typeface="Times New Roman"/>
                <a:cs typeface="Times New Roman"/>
              </a:rPr>
              <a:t> du langage de programmation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utilisé.</a:t>
            </a:r>
          </a:p>
          <a:p>
            <a:pPr marL="12700" marR="571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11480" algn="l"/>
              </a:tabLst>
            </a:pPr>
            <a:r>
              <a:rPr lang="fr-FR" sz="300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La </a:t>
            </a:r>
            <a:r>
              <a:rPr sz="3000" b="1" spc="-5" dirty="0">
                <a:solidFill>
                  <a:srgbClr val="00B0F0"/>
                </a:solidFill>
                <a:latin typeface="Times New Roman"/>
                <a:cs typeface="Times New Roman"/>
              </a:rPr>
              <a:t>programmation </a:t>
            </a:r>
            <a:r>
              <a:rPr sz="3000" spc="-5" dirty="0">
                <a:latin typeface="Times New Roman"/>
                <a:cs typeface="Times New Roman"/>
              </a:rPr>
              <a:t>consiste </a:t>
            </a:r>
            <a:r>
              <a:rPr sz="3000" dirty="0">
                <a:latin typeface="Times New Roman"/>
                <a:cs typeface="Times New Roman"/>
              </a:rPr>
              <a:t>à « expliquer » à un ordinateur en </a:t>
            </a:r>
            <a:r>
              <a:rPr sz="3000" dirty="0" err="1">
                <a:latin typeface="Times New Roman"/>
                <a:cs typeface="Times New Roman"/>
              </a:rPr>
              <a:t>détail</a:t>
            </a:r>
            <a:r>
              <a:rPr lang="fr-FR" sz="3000" dirty="0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  ce qu’il doit faire </a:t>
            </a:r>
            <a:r>
              <a:rPr sz="3000" spc="-5" dirty="0">
                <a:latin typeface="Times New Roman"/>
                <a:cs typeface="Times New Roman"/>
              </a:rPr>
              <a:t>sous </a:t>
            </a:r>
            <a:r>
              <a:rPr sz="3000" dirty="0">
                <a:latin typeface="Times New Roman"/>
                <a:cs typeface="Times New Roman"/>
              </a:rPr>
              <a:t>forme de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programme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1148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 </a:t>
            </a:r>
            <a:r>
              <a:rPr sz="3000" spc="-5" dirty="0">
                <a:latin typeface="Times New Roman"/>
                <a:cs typeface="Times New Roman"/>
              </a:rPr>
              <a:t>Un </a:t>
            </a:r>
            <a:r>
              <a:rPr sz="30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programme </a:t>
            </a:r>
            <a:r>
              <a:rPr sz="3000" dirty="0">
                <a:latin typeface="Times New Roman"/>
                <a:cs typeface="Times New Roman"/>
              </a:rPr>
              <a:t>n’est rien d’autre qu’une </a:t>
            </a:r>
            <a:r>
              <a:rPr sz="3000" spc="-5" dirty="0">
                <a:latin typeface="Times New Roman"/>
                <a:cs typeface="Times New Roman"/>
              </a:rPr>
              <a:t>suite </a:t>
            </a:r>
            <a:r>
              <a:rPr sz="3000" dirty="0" err="1">
                <a:latin typeface="Times New Roman"/>
                <a:cs typeface="Times New Roman"/>
              </a:rPr>
              <a:t>d’instructions</a:t>
            </a:r>
            <a:r>
              <a:rPr sz="3000" dirty="0">
                <a:latin typeface="Times New Roman"/>
                <a:cs typeface="Times New Roman"/>
              </a:rPr>
              <a:t>,  </a:t>
            </a:r>
            <a:r>
              <a:rPr sz="3000" dirty="0" err="1">
                <a:latin typeface="Times New Roman"/>
                <a:cs typeface="Times New Roman"/>
              </a:rPr>
              <a:t>encodées</a:t>
            </a:r>
            <a:r>
              <a:rPr sz="3000" dirty="0">
                <a:latin typeface="Times New Roman"/>
                <a:cs typeface="Times New Roman"/>
              </a:rPr>
              <a:t> en respectant un ensemble de conventions fixées à l’avance  par un langage informatique </a:t>
            </a:r>
            <a:r>
              <a:rPr sz="3000" spc="-5" dirty="0">
                <a:latin typeface="Times New Roman"/>
                <a:cs typeface="Times New Roman"/>
              </a:rPr>
              <a:t>(Java, </a:t>
            </a:r>
            <a:r>
              <a:rPr sz="3000" spc="-85" dirty="0">
                <a:latin typeface="Times New Roman"/>
                <a:cs typeface="Times New Roman"/>
              </a:rPr>
              <a:t>PHP,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…).</a:t>
            </a:r>
          </a:p>
          <a:p>
            <a:pPr marL="410845" indent="-39878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11480" algn="l"/>
              </a:tabLst>
            </a:pP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machine</a:t>
            </a:r>
            <a:r>
              <a:rPr sz="3000" spc="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décode</a:t>
            </a:r>
            <a:r>
              <a:rPr sz="3000" spc="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alors</a:t>
            </a:r>
            <a:r>
              <a:rPr sz="3000" spc="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ces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instructions</a:t>
            </a:r>
            <a:r>
              <a:rPr sz="3000" spc="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associant</a:t>
            </a:r>
            <a:r>
              <a:rPr sz="3000" spc="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à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chaque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«mot» du langage informatique une action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précise.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46284" y="791827"/>
            <a:ext cx="5862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Algorithmique &amp;</a:t>
            </a:r>
            <a:r>
              <a:rPr spc="-25" dirty="0"/>
              <a:t> </a:t>
            </a:r>
            <a:r>
              <a:rPr spc="-10" dirty="0"/>
              <a:t>programmation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18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1820" y="1911397"/>
            <a:ext cx="8890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d'u</a:t>
            </a:r>
            <a:r>
              <a:rPr sz="3200" spc="-10" dirty="0">
                <a:latin typeface="Times New Roman"/>
                <a:cs typeface="Times New Roman"/>
              </a:rPr>
              <a:t>n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8223" y="1911397"/>
            <a:ext cx="91059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  <a:tabLst>
                <a:tab pos="745490" algn="l"/>
                <a:tab pos="1908175" algn="l"/>
                <a:tab pos="2596515" algn="l"/>
                <a:tab pos="5386070" algn="l"/>
                <a:tab pos="6372860" algn="l"/>
                <a:tab pos="8549640" algn="l"/>
              </a:tabLst>
            </a:pPr>
            <a:r>
              <a:rPr sz="3200" spc="-5" dirty="0">
                <a:latin typeface="Times New Roman"/>
                <a:cs typeface="Times New Roman"/>
              </a:rPr>
              <a:t>Le	cyc</a:t>
            </a:r>
            <a:r>
              <a:rPr sz="3200" dirty="0">
                <a:latin typeface="Times New Roman"/>
                <a:cs typeface="Times New Roman"/>
              </a:rPr>
              <a:t>l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dévelop</a:t>
            </a:r>
            <a:r>
              <a:rPr sz="3200" spc="-10" dirty="0">
                <a:latin typeface="Times New Roman"/>
                <a:cs typeface="Times New Roman"/>
              </a:rPr>
              <a:t>p</a:t>
            </a:r>
            <a:r>
              <a:rPr sz="3200" spc="-5" dirty="0">
                <a:latin typeface="Times New Roman"/>
                <a:cs typeface="Times New Roman"/>
              </a:rPr>
              <a:t>em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nt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d'un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p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og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am</a:t>
            </a:r>
            <a:r>
              <a:rPr sz="3200" spc="-10" dirty="0">
                <a:latin typeface="Times New Roman"/>
                <a:cs typeface="Times New Roman"/>
              </a:rPr>
              <a:t>m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(ou  application) informatique peut se résumer ainsi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74004" y="948018"/>
            <a:ext cx="72840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Cycle de développement </a:t>
            </a:r>
            <a:r>
              <a:rPr spc="-10" dirty="0"/>
              <a:t>d’un programme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08354" y="3664141"/>
            <a:ext cx="14814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Problème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4594" y="3664141"/>
            <a:ext cx="12331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Analyse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1080" y="3664141"/>
            <a:ext cx="1765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Algo</a:t>
            </a:r>
            <a:r>
              <a:rPr sz="2800" b="1" spc="-5" dirty="0">
                <a:latin typeface="Times New Roman"/>
                <a:cs typeface="Times New Roman"/>
              </a:rPr>
              <a:t>r</a:t>
            </a:r>
            <a:r>
              <a:rPr sz="2800" b="1" dirty="0">
                <a:latin typeface="Times New Roman"/>
                <a:cs typeface="Times New Roman"/>
              </a:rPr>
              <a:t>ithme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66971" y="3832860"/>
            <a:ext cx="740664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9483" y="3832860"/>
            <a:ext cx="737616" cy="3108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36916" y="4800672"/>
            <a:ext cx="1547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Exécution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3121" y="4800672"/>
            <a:ext cx="1925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Compilation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7916" y="4800672"/>
            <a:ext cx="183768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Programme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96867" y="4985003"/>
            <a:ext cx="667511" cy="3017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25995" y="4975859"/>
            <a:ext cx="667511" cy="2987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5611" y="4262627"/>
            <a:ext cx="310895" cy="5943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19</a:t>
            </a:fld>
            <a:endParaRPr spc="-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Cycle de développement </a:t>
            </a:r>
            <a:r>
              <a:rPr spc="-10" dirty="0"/>
              <a:t>d’un programme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9595" y="1948868"/>
            <a:ext cx="10711815" cy="3642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3430" indent="-761365">
              <a:lnSpc>
                <a:spcPct val="100000"/>
              </a:lnSpc>
              <a:spcBef>
                <a:spcPts val="100"/>
              </a:spcBef>
              <a:buAutoNum type="romanUcPeriod"/>
              <a:tabLst>
                <a:tab pos="773430" algn="l"/>
                <a:tab pos="77406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Problème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3000" spc="-5" dirty="0">
                <a:latin typeface="Times New Roman"/>
                <a:cs typeface="Times New Roman"/>
              </a:rPr>
              <a:t>Ex </a:t>
            </a:r>
            <a:r>
              <a:rPr sz="3000" dirty="0">
                <a:latin typeface="Times New Roman"/>
                <a:cs typeface="Times New Roman"/>
              </a:rPr>
              <a:t>: donner le plus court </a:t>
            </a:r>
            <a:r>
              <a:rPr sz="3000" dirty="0" err="1">
                <a:latin typeface="Times New Roman"/>
                <a:cs typeface="Times New Roman"/>
              </a:rPr>
              <a:t>chemin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lang="fr-FR" sz="3000" dirty="0">
                <a:latin typeface="Times New Roman"/>
                <a:cs typeface="Times New Roman"/>
              </a:rPr>
              <a:t>entre deux villes</a:t>
            </a:r>
            <a:r>
              <a:rPr sz="3000" spc="-5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752475" indent="-740410">
              <a:lnSpc>
                <a:spcPct val="100000"/>
              </a:lnSpc>
              <a:spcBef>
                <a:spcPts val="1800"/>
              </a:spcBef>
              <a:buAutoNum type="romanUcPeriod" startAt="2"/>
              <a:tabLst>
                <a:tab pos="752475" algn="l"/>
                <a:tab pos="75311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Analyse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78485" algn="l"/>
              </a:tabLst>
            </a:pPr>
            <a:r>
              <a:rPr sz="3000" dirty="0">
                <a:latin typeface="Symbol"/>
                <a:cs typeface="Symbol"/>
              </a:rPr>
              <a:t></a:t>
            </a:r>
            <a:r>
              <a:rPr sz="3000" dirty="0">
                <a:latin typeface="Times New Roman"/>
                <a:cs typeface="Times New Roman"/>
              </a:rPr>
              <a:t>	phase de réflexion qui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permet</a:t>
            </a:r>
            <a:r>
              <a:rPr lang="fr-FR" sz="3000" dirty="0">
                <a:latin typeface="Times New Roman"/>
                <a:cs typeface="Times New Roman"/>
              </a:rPr>
              <a:t> de </a:t>
            </a:r>
            <a:r>
              <a:rPr sz="3000" dirty="0">
                <a:latin typeface="Times New Roman"/>
                <a:cs typeface="Times New Roman"/>
              </a:rPr>
              <a:t>:</a:t>
            </a:r>
          </a:p>
          <a:p>
            <a:pPr marL="1173480" lvl="1" indent="-704215">
              <a:lnSpc>
                <a:spcPct val="100000"/>
              </a:lnSpc>
              <a:spcBef>
                <a:spcPts val="720"/>
              </a:spcBef>
              <a:spcAft>
                <a:spcPts val="600"/>
              </a:spcAft>
              <a:buAutoNum type="arabicPeriod"/>
              <a:tabLst>
                <a:tab pos="1173480" algn="l"/>
                <a:tab pos="1174115" algn="l"/>
              </a:tabLst>
            </a:pPr>
            <a:r>
              <a:rPr sz="3000" dirty="0">
                <a:latin typeface="Times New Roman"/>
                <a:cs typeface="Times New Roman"/>
              </a:rPr>
              <a:t>Identifier le problème : </a:t>
            </a:r>
            <a:r>
              <a:rPr sz="3000" spc="-5" dirty="0">
                <a:latin typeface="Times New Roman"/>
                <a:cs typeface="Times New Roman"/>
              </a:rPr>
              <a:t>quelle(s) donnée(s), quel(s)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résultat</a:t>
            </a:r>
            <a:r>
              <a:rPr sz="3000" dirty="0">
                <a:latin typeface="Times New Roman"/>
                <a:cs typeface="Times New Roman"/>
              </a:rPr>
              <a:t>(s)</a:t>
            </a:r>
            <a:r>
              <a:rPr lang="fr-FR" sz="3000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984250" marR="175895" lvl="1" indent="-514350">
              <a:lnSpc>
                <a:spcPct val="100000"/>
              </a:lnSpc>
              <a:buFont typeface="+mj-lt"/>
              <a:buAutoNum type="arabicPeriod"/>
              <a:tabLst>
                <a:tab pos="1173480" algn="l"/>
                <a:tab pos="1174115" algn="l"/>
              </a:tabLst>
            </a:pPr>
            <a:r>
              <a:rPr lang="fr-FR" sz="3000" dirty="0">
                <a:latin typeface="Times New Roman"/>
                <a:cs typeface="Times New Roman"/>
              </a:rPr>
              <a:t>  </a:t>
            </a:r>
            <a:r>
              <a:rPr sz="3000" dirty="0" err="1">
                <a:latin typeface="Times New Roman"/>
                <a:cs typeface="Times New Roman"/>
              </a:rPr>
              <a:t>Découper</a:t>
            </a:r>
            <a:r>
              <a:rPr sz="3000" dirty="0">
                <a:latin typeface="Times New Roman"/>
                <a:cs typeface="Times New Roman"/>
              </a:rPr>
              <a:t> le </a:t>
            </a:r>
            <a:r>
              <a:rPr sz="3000" dirty="0" err="1">
                <a:latin typeface="Times New Roman"/>
                <a:cs typeface="Times New Roman"/>
              </a:rPr>
              <a:t>problème</a:t>
            </a:r>
            <a:r>
              <a:rPr sz="3000" dirty="0">
                <a:latin typeface="Times New Roman"/>
                <a:cs typeface="Times New Roman"/>
              </a:rPr>
              <a:t> en </a:t>
            </a:r>
            <a:r>
              <a:rPr sz="3000" dirty="0" err="1">
                <a:latin typeface="Times New Roman"/>
                <a:cs typeface="Times New Roman"/>
              </a:rPr>
              <a:t>une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succession </a:t>
            </a:r>
            <a:r>
              <a:rPr sz="3000" dirty="0">
                <a:latin typeface="Times New Roman"/>
                <a:cs typeface="Times New Roman"/>
              </a:rPr>
              <a:t>de </a:t>
            </a:r>
            <a:r>
              <a:rPr sz="3000" dirty="0" err="1">
                <a:latin typeface="Times New Roman"/>
                <a:cs typeface="Times New Roman"/>
              </a:rPr>
              <a:t>tâches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simples et  </a:t>
            </a:r>
            <a:r>
              <a:rPr sz="3000" spc="-5" dirty="0" err="1">
                <a:latin typeface="Times New Roman"/>
                <a:cs typeface="Times New Roman"/>
              </a:rPr>
              <a:t>distinctes</a:t>
            </a:r>
            <a:r>
              <a:rPr sz="3000" spc="-5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Cycle de développement </a:t>
            </a:r>
            <a:r>
              <a:rPr spc="-10" dirty="0"/>
              <a:t>d’un programme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21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5280" y="1583219"/>
            <a:ext cx="11200130" cy="16103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300"/>
              </a:spcBef>
              <a:buAutoNum type="romanUcPeriod" startAt="3"/>
              <a:tabLst>
                <a:tab pos="584200" algn="l"/>
              </a:tabLst>
            </a:pPr>
            <a:r>
              <a:rPr sz="2800" b="1" dirty="0">
                <a:latin typeface="Times New Roman"/>
                <a:cs typeface="Times New Roman"/>
              </a:rPr>
              <a:t>Algorithme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469265" marR="5080" lvl="1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930275" algn="l"/>
                <a:tab pos="930910" algn="l"/>
                <a:tab pos="2936875" algn="l"/>
                <a:tab pos="3760470" algn="l"/>
                <a:tab pos="5589905" algn="l"/>
                <a:tab pos="6097270" algn="l"/>
                <a:tab pos="7353934" algn="l"/>
                <a:tab pos="8039100" algn="l"/>
                <a:tab pos="9277985" algn="l"/>
                <a:tab pos="10081895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sc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10" dirty="0">
                <a:latin typeface="Times New Roman"/>
                <a:cs typeface="Times New Roman"/>
              </a:rPr>
              <a:t>ti</a:t>
            </a:r>
            <a:r>
              <a:rPr sz="2800" dirty="0">
                <a:latin typeface="Times New Roman"/>
                <a:cs typeface="Times New Roman"/>
              </a:rPr>
              <a:t>on	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opé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ati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s	à	</a:t>
            </a:r>
            <a:r>
              <a:rPr sz="2800" spc="-10" dirty="0">
                <a:latin typeface="Times New Roman"/>
                <a:cs typeface="Times New Roman"/>
              </a:rPr>
              <a:t>me</a:t>
            </a:r>
            <a:r>
              <a:rPr sz="2800" dirty="0">
                <a:latin typeface="Times New Roman"/>
                <a:cs typeface="Times New Roman"/>
              </a:rPr>
              <a:t>tt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n	œuv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	(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ang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e  </a:t>
            </a:r>
            <a:r>
              <a:rPr sz="2800" spc="-5" dirty="0" err="1">
                <a:latin typeface="Times New Roman"/>
                <a:cs typeface="Times New Roman"/>
              </a:rPr>
              <a:t>algorithmique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lang="fr-FR" sz="2800" spc="-5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expliquant comment obtenir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5" dirty="0">
                <a:latin typeface="Times New Roman"/>
                <a:cs typeface="Times New Roman"/>
              </a:rPr>
              <a:t>résultat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partir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données.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480" y="3320275"/>
            <a:ext cx="107429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09" indent="-461009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73075" algn="l"/>
                <a:tab pos="473709" algn="l"/>
                <a:tab pos="2375535" algn="l"/>
                <a:tab pos="4868545" algn="l"/>
                <a:tab pos="5568315" algn="l"/>
                <a:tab pos="6169660" algn="l"/>
                <a:tab pos="6946900" algn="l"/>
                <a:tab pos="8257540" algn="l"/>
                <a:tab pos="8837930" algn="l"/>
                <a:tab pos="9338945" algn="l"/>
                <a:tab pos="10255250" algn="l"/>
              </a:tabLst>
            </a:pP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sc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10" dirty="0">
                <a:latin typeface="Times New Roman"/>
                <a:cs typeface="Times New Roman"/>
              </a:rPr>
              <a:t>ti</a:t>
            </a:r>
            <a:r>
              <a:rPr sz="2800" dirty="0">
                <a:latin typeface="Times New Roman"/>
                <a:cs typeface="Times New Roman"/>
              </a:rPr>
              <a:t>on	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réh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ns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Times New Roman"/>
                <a:cs typeface="Times New Roman"/>
              </a:rPr>
              <a:t>pa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10" dirty="0">
                <a:latin typeface="Times New Roman"/>
                <a:cs typeface="Times New Roman"/>
              </a:rPr>
              <a:t>ê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5" dirty="0" err="1">
                <a:latin typeface="Times New Roman"/>
                <a:cs typeface="Times New Roman"/>
              </a:rPr>
              <a:t>hum</a:t>
            </a:r>
            <a:r>
              <a:rPr sz="2800" spc="-10" dirty="0" err="1">
                <a:latin typeface="Times New Roman"/>
                <a:cs typeface="Times New Roman"/>
              </a:rPr>
              <a:t>ai</a:t>
            </a:r>
            <a:r>
              <a:rPr sz="2800" dirty="0" err="1">
                <a:latin typeface="Times New Roman"/>
                <a:cs typeface="Times New Roman"/>
              </a:rPr>
              <a:t>n</a:t>
            </a:r>
            <a:r>
              <a:rPr lang="fr-FR" sz="280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a	s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e	d</a:t>
            </a:r>
            <a:r>
              <a:rPr sz="2800" spc="-5" dirty="0">
                <a:latin typeface="Times New Roman"/>
                <a:cs typeface="Times New Roman"/>
              </a:rPr>
              <a:t>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2480" y="3594798"/>
            <a:ext cx="10742930" cy="1613262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0"/>
              </a:spcBef>
            </a:pPr>
            <a:r>
              <a:rPr sz="2800" spc="-5" dirty="0">
                <a:latin typeface="Times New Roman"/>
                <a:cs typeface="Times New Roman"/>
              </a:rPr>
              <a:t>opérations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10" dirty="0">
                <a:latin typeface="Times New Roman"/>
                <a:cs typeface="Times New Roman"/>
              </a:rPr>
              <a:t>effectuer </a:t>
            </a:r>
            <a:r>
              <a:rPr sz="2800" dirty="0">
                <a:latin typeface="Times New Roman"/>
                <a:cs typeface="Times New Roman"/>
              </a:rPr>
              <a:t>pour résoudre 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lang="fr-FR" sz="2800" spc="-5" dirty="0">
                <a:latin typeface="Times New Roman"/>
                <a:cs typeface="Times New Roman"/>
              </a:rPr>
              <a:t>p</a:t>
            </a:r>
            <a:r>
              <a:rPr sz="2800" spc="-5" dirty="0" err="1">
                <a:latin typeface="Times New Roman"/>
                <a:cs typeface="Times New Roman"/>
              </a:rPr>
              <a:t>roblème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7434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C</a:t>
            </a:r>
            <a:r>
              <a:rPr sz="2800" spc="-5" dirty="0">
                <a:latin typeface="Times New Roman"/>
                <a:cs typeface="Times New Roman"/>
              </a:rPr>
              <a:t>e langage </a:t>
            </a:r>
            <a:r>
              <a:rPr sz="2800" spc="-5" dirty="0" err="1">
                <a:latin typeface="Times New Roman"/>
                <a:cs typeface="Times New Roman"/>
              </a:rPr>
              <a:t>algorithmique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lang="fr-FR" sz="2800" spc="-5" dirty="0">
                <a:latin typeface="Times New Roman"/>
                <a:cs typeface="Times New Roman"/>
              </a:rPr>
              <a:t>doit </a:t>
            </a:r>
            <a:r>
              <a:rPr sz="2800" spc="-10" dirty="0" err="1">
                <a:latin typeface="Times New Roman"/>
                <a:cs typeface="Times New Roman"/>
              </a:rPr>
              <a:t>suffisamment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proche des  langages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 err="1">
                <a:latin typeface="Times New Roman"/>
                <a:cs typeface="Times New Roman"/>
              </a:rPr>
              <a:t>programmation</a:t>
            </a:r>
            <a:r>
              <a:rPr lang="fr-FR" sz="2800" spc="-5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pour pouvoir être traduit </a:t>
            </a:r>
            <a:r>
              <a:rPr sz="2800" spc="-10" dirty="0">
                <a:latin typeface="Times New Roman"/>
                <a:cs typeface="Times New Roman"/>
              </a:rPr>
              <a:t>aisément </a:t>
            </a:r>
            <a:r>
              <a:rPr sz="2800" spc="-5" dirty="0">
                <a:latin typeface="Times New Roman"/>
                <a:cs typeface="Times New Roman"/>
              </a:rPr>
              <a:t>vers ces  derniers.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Cycle de développement </a:t>
            </a:r>
            <a:r>
              <a:rPr spc="-10" dirty="0"/>
              <a:t>d’un programme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22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9595" y="1808285"/>
            <a:ext cx="10866755" cy="2305118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215"/>
              </a:spcBef>
              <a:buAutoNum type="romanUcPeriod" startAt="4"/>
              <a:tabLst>
                <a:tab pos="5842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Programme </a:t>
            </a:r>
            <a:r>
              <a:rPr sz="2800" dirty="0">
                <a:latin typeface="Wingdings"/>
                <a:cs typeface="Wingdings"/>
              </a:rPr>
              <a:t>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source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lvl="1">
              <a:lnSpc>
                <a:spcPct val="100000"/>
              </a:lnSpc>
              <a:spcBef>
                <a:spcPts val="1190"/>
              </a:spcBef>
              <a:buFont typeface="Wingdings"/>
              <a:buChar char=""/>
              <a:tabLst>
                <a:tab pos="962660" algn="l"/>
                <a:tab pos="963294" algn="l"/>
              </a:tabLst>
            </a:pPr>
            <a:r>
              <a:rPr lang="fr-FR" sz="3000" dirty="0">
                <a:latin typeface="Times New Roman"/>
                <a:cs typeface="Times New Roman"/>
              </a:rPr>
              <a:t>  </a:t>
            </a:r>
            <a:r>
              <a:rPr sz="3000" dirty="0" err="1">
                <a:latin typeface="Times New Roman"/>
                <a:cs typeface="Times New Roman"/>
              </a:rPr>
              <a:t>Fichier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résultant </a:t>
            </a:r>
            <a:r>
              <a:rPr sz="3000" dirty="0">
                <a:latin typeface="Times New Roman"/>
                <a:cs typeface="Times New Roman"/>
              </a:rPr>
              <a:t>de la traduction de l'algorithme dans un langage  de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programmation</a:t>
            </a:r>
            <a:r>
              <a:rPr lang="fr-FR" sz="3000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962660" lvl="1" indent="-49339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962660" algn="l"/>
                <a:tab pos="963294" algn="l"/>
              </a:tabLst>
            </a:pPr>
            <a:r>
              <a:rPr sz="3000" dirty="0" err="1">
                <a:latin typeface="Times New Roman"/>
                <a:cs typeface="Times New Roman"/>
              </a:rPr>
              <a:t>Fichier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lang="fr-FR" sz="3000" dirty="0">
                <a:latin typeface="Times New Roman"/>
                <a:cs typeface="Times New Roman"/>
              </a:rPr>
              <a:t>contenant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des </a:t>
            </a:r>
            <a:r>
              <a:rPr sz="3000" dirty="0">
                <a:latin typeface="Times New Roman"/>
                <a:cs typeface="Times New Roman"/>
              </a:rPr>
              <a:t>instructions </a:t>
            </a:r>
            <a:r>
              <a:rPr lang="fr-FR" sz="3000" dirty="0">
                <a:latin typeface="Times New Roman"/>
                <a:cs typeface="Times New Roman"/>
              </a:rPr>
              <a:t>avec </a:t>
            </a:r>
            <a:r>
              <a:rPr sz="3000" spc="-5" dirty="0" err="1">
                <a:latin typeface="Times New Roman"/>
                <a:cs typeface="Times New Roman"/>
              </a:rPr>
              <a:t>leurs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enchaînements</a:t>
            </a:r>
            <a:r>
              <a:rPr lang="fr-FR" sz="3000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Cycle de développement </a:t>
            </a:r>
            <a:r>
              <a:rPr spc="-10" dirty="0"/>
              <a:t>d’un programme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23</a:t>
            </a:fld>
            <a:endParaRPr spc="-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9595" y="1948868"/>
            <a:ext cx="110578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 algn="just">
              <a:lnSpc>
                <a:spcPct val="100000"/>
              </a:lnSpc>
              <a:spcBef>
                <a:spcPts val="100"/>
              </a:spcBef>
            </a:pPr>
            <a:r>
              <a:rPr sz="3000" b="1" spc="-195" dirty="0">
                <a:latin typeface="Times New Roman"/>
                <a:cs typeface="Times New Roman"/>
              </a:rPr>
              <a:t>V. </a:t>
            </a:r>
            <a:r>
              <a:rPr sz="3000" b="1" spc="-5" dirty="0">
                <a:latin typeface="Times New Roman"/>
                <a:cs typeface="Times New Roman"/>
              </a:rPr>
              <a:t>Compilation: </a:t>
            </a:r>
            <a:r>
              <a:rPr sz="3000" spc="-5" dirty="0">
                <a:latin typeface="Times New Roman"/>
                <a:cs typeface="Times New Roman"/>
              </a:rPr>
              <a:t>désigne </a:t>
            </a:r>
            <a:r>
              <a:rPr sz="3000" dirty="0">
                <a:latin typeface="Times New Roman"/>
                <a:cs typeface="Times New Roman"/>
              </a:rPr>
              <a:t>le </a:t>
            </a:r>
            <a:r>
              <a:rPr sz="3000" spc="-5" dirty="0">
                <a:latin typeface="Times New Roman"/>
                <a:cs typeface="Times New Roman"/>
              </a:rPr>
              <a:t>processus </a:t>
            </a:r>
            <a:r>
              <a:rPr sz="3000" dirty="0">
                <a:latin typeface="Times New Roman"/>
                <a:cs typeface="Times New Roman"/>
              </a:rPr>
              <a:t>de </a:t>
            </a:r>
            <a:r>
              <a:rPr sz="3000" spc="-5" dirty="0">
                <a:latin typeface="Times New Roman"/>
                <a:cs typeface="Times New Roman"/>
              </a:rPr>
              <a:t>transformation d’un  </a:t>
            </a:r>
            <a:r>
              <a:rPr sz="3000" dirty="0">
                <a:latin typeface="Times New Roman"/>
                <a:cs typeface="Times New Roman"/>
              </a:rPr>
              <a:t>programme écrit dans un langage lisible par un </a:t>
            </a:r>
            <a:r>
              <a:rPr sz="3000" dirty="0" err="1">
                <a:latin typeface="Times New Roman"/>
                <a:cs typeface="Times New Roman"/>
              </a:rPr>
              <a:t>humain</a:t>
            </a:r>
            <a:r>
              <a:rPr lang="fr-FR" sz="3000" dirty="0">
                <a:latin typeface="Times New Roman"/>
                <a:cs typeface="Times New Roman"/>
              </a:rPr>
              <a:t>,</a:t>
            </a:r>
            <a:r>
              <a:rPr sz="3000" dirty="0">
                <a:latin typeface="Times New Roman"/>
                <a:cs typeface="Times New Roman"/>
              </a:rPr>
              <a:t> en un  programme exécutable par une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machine.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595" y="3777668"/>
            <a:ext cx="5435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latin typeface="Times New Roman"/>
                <a:cs typeface="Times New Roman"/>
              </a:rPr>
              <a:t>V</a:t>
            </a:r>
            <a:r>
              <a:rPr sz="3000" b="1" spc="-5" dirty="0">
                <a:latin typeface="Times New Roman"/>
                <a:cs typeface="Times New Roman"/>
              </a:rPr>
              <a:t>I</a:t>
            </a:r>
            <a:r>
              <a:rPr sz="3000" b="1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0937" y="3777668"/>
            <a:ext cx="25203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3435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E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spc="5" dirty="0">
                <a:latin typeface="Times New Roman"/>
                <a:cs typeface="Times New Roman"/>
              </a:rPr>
              <a:t>é</a:t>
            </a:r>
            <a:r>
              <a:rPr sz="3000" b="1" spc="-5" dirty="0">
                <a:latin typeface="Times New Roman"/>
                <a:cs typeface="Times New Roman"/>
              </a:rPr>
              <a:t>cution: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9669" y="3777668"/>
            <a:ext cx="20980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980" algn="l"/>
              </a:tabLst>
            </a:pPr>
            <a:r>
              <a:rPr sz="3000" dirty="0">
                <a:latin typeface="Times New Roman"/>
                <a:cs typeface="Times New Roman"/>
              </a:rPr>
              <a:t>le	</a:t>
            </a:r>
            <a:r>
              <a:rPr sz="3000" spc="-5" dirty="0">
                <a:latin typeface="Times New Roman"/>
                <a:cs typeface="Times New Roman"/>
              </a:rPr>
              <a:t>processus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49453" y="3777668"/>
            <a:ext cx="22879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5475" algn="l"/>
              </a:tabLst>
            </a:pPr>
            <a:r>
              <a:rPr sz="3000" dirty="0">
                <a:latin typeface="Times New Roman"/>
                <a:cs typeface="Times New Roman"/>
              </a:rPr>
              <a:t>ordi</a:t>
            </a:r>
            <a:r>
              <a:rPr sz="3000" spc="5" dirty="0">
                <a:latin typeface="Times New Roman"/>
                <a:cs typeface="Times New Roman"/>
              </a:rPr>
              <a:t>n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eur	</a:t>
            </a:r>
            <a:r>
              <a:rPr sz="3000" spc="-10" dirty="0">
                <a:latin typeface="Times New Roman"/>
                <a:cs typeface="Times New Roman"/>
              </a:rPr>
              <a:t>ou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1095" y="4234868"/>
            <a:ext cx="2334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065" algn="l"/>
              </a:tabLst>
            </a:pPr>
            <a:r>
              <a:rPr sz="3000" dirty="0">
                <a:latin typeface="Times New Roman"/>
                <a:cs typeface="Times New Roman"/>
              </a:rPr>
              <a:t>une	</a:t>
            </a:r>
            <a:r>
              <a:rPr sz="3000" spc="5" dirty="0">
                <a:latin typeface="Times New Roman"/>
                <a:cs typeface="Times New Roman"/>
              </a:rPr>
              <a:t>ma</a:t>
            </a:r>
            <a:r>
              <a:rPr sz="3000" dirty="0">
                <a:latin typeface="Times New Roman"/>
                <a:cs typeface="Times New Roman"/>
              </a:rPr>
              <a:t>ch</a:t>
            </a:r>
            <a:r>
              <a:rPr sz="3000" spc="5" dirty="0">
                <a:latin typeface="Times New Roman"/>
                <a:cs typeface="Times New Roman"/>
              </a:rPr>
              <a:t>i</a:t>
            </a:r>
            <a:r>
              <a:rPr sz="3000" dirty="0">
                <a:latin typeface="Times New Roman"/>
                <a:cs typeface="Times New Roman"/>
              </a:rPr>
              <a:t>ne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5537" y="4234868"/>
            <a:ext cx="2336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0695" algn="l"/>
              </a:tabLst>
            </a:pPr>
            <a:r>
              <a:rPr sz="3000" dirty="0">
                <a:latin typeface="Times New Roman"/>
                <a:cs typeface="Times New Roman"/>
              </a:rPr>
              <a:t>v</a:t>
            </a:r>
            <a:r>
              <a:rPr sz="3000" spc="5" dirty="0">
                <a:latin typeface="Times New Roman"/>
                <a:cs typeface="Times New Roman"/>
              </a:rPr>
              <a:t>i</a:t>
            </a:r>
            <a:r>
              <a:rPr sz="3000" dirty="0">
                <a:latin typeface="Times New Roman"/>
                <a:cs typeface="Times New Roman"/>
              </a:rPr>
              <a:t>rtu</a:t>
            </a:r>
            <a:r>
              <a:rPr sz="3000" spc="5" dirty="0">
                <a:latin typeface="Times New Roman"/>
                <a:cs typeface="Times New Roman"/>
              </a:rPr>
              <a:t>ell</a:t>
            </a:r>
            <a:r>
              <a:rPr sz="3000" dirty="0">
                <a:latin typeface="Times New Roman"/>
                <a:cs typeface="Times New Roman"/>
              </a:rPr>
              <a:t>e	</a:t>
            </a:r>
            <a:r>
              <a:rPr sz="3000" spc="5" dirty="0">
                <a:latin typeface="Times New Roman"/>
                <a:cs typeface="Times New Roman"/>
              </a:rPr>
              <a:t>m</a:t>
            </a:r>
            <a:r>
              <a:rPr sz="3000" dirty="0">
                <a:latin typeface="Times New Roman"/>
                <a:cs typeface="Times New Roman"/>
              </a:rPr>
              <a:t>et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5491" y="3777668"/>
            <a:ext cx="50304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4069" algn="l"/>
                <a:tab pos="2061210" algn="l"/>
              </a:tabLst>
            </a:pPr>
            <a:r>
              <a:rPr sz="3000" dirty="0">
                <a:latin typeface="Times New Roman"/>
                <a:cs typeface="Times New Roman"/>
              </a:rPr>
              <a:t>par	lequel	un</a:t>
            </a:r>
            <a:endParaRPr sz="30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  <a:tabLst>
                <a:tab pos="933450" algn="l"/>
                <a:tab pos="2350135" algn="l"/>
                <a:tab pos="3238500" algn="l"/>
              </a:tabLst>
            </a:pPr>
            <a:r>
              <a:rPr sz="3000" spc="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n	œu</a:t>
            </a:r>
            <a:r>
              <a:rPr sz="3000" spc="-10" dirty="0">
                <a:latin typeface="Times New Roman"/>
                <a:cs typeface="Times New Roman"/>
              </a:rPr>
              <a:t>v</a:t>
            </a:r>
            <a:r>
              <a:rPr sz="3000" dirty="0">
                <a:latin typeface="Times New Roman"/>
                <a:cs typeface="Times New Roman"/>
              </a:rPr>
              <a:t>re	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" dirty="0">
                <a:latin typeface="Times New Roman"/>
                <a:cs typeface="Times New Roman"/>
              </a:rPr>
              <a:t>ins</a:t>
            </a:r>
            <a:r>
              <a:rPr sz="3000" dirty="0">
                <a:latin typeface="Times New Roman"/>
                <a:cs typeface="Times New Roman"/>
              </a:rPr>
              <a:t>tructions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1095" y="4692068"/>
            <a:ext cx="26123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/>
                <a:cs typeface="Times New Roman"/>
              </a:rPr>
              <a:t>d'un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programme.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800" y="1149017"/>
            <a:ext cx="1203959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C00000"/>
                </a:solidFill>
              </a:rPr>
              <a:t>Quel sont les </a:t>
            </a:r>
            <a:r>
              <a:rPr spc="-5" dirty="0" err="1">
                <a:solidFill>
                  <a:srgbClr val="C00000"/>
                </a:solidFill>
              </a:rPr>
              <a:t>qualités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5" dirty="0" err="1">
                <a:solidFill>
                  <a:srgbClr val="C00000"/>
                </a:solidFill>
              </a:rPr>
              <a:t>demandé</a:t>
            </a:r>
            <a:r>
              <a:rPr lang="fr-FR" spc="-5" dirty="0">
                <a:solidFill>
                  <a:srgbClr val="C00000"/>
                </a:solidFill>
              </a:rPr>
              <a:t>es</a:t>
            </a:r>
            <a:r>
              <a:rPr spc="-5" dirty="0">
                <a:solidFill>
                  <a:srgbClr val="C00000"/>
                </a:solidFill>
              </a:rPr>
              <a:t> pour </a:t>
            </a:r>
            <a:r>
              <a:rPr spc="-20" dirty="0">
                <a:solidFill>
                  <a:srgbClr val="C00000"/>
                </a:solidFill>
              </a:rPr>
              <a:t>être </a:t>
            </a:r>
            <a:r>
              <a:rPr spc="-5" dirty="0">
                <a:solidFill>
                  <a:srgbClr val="C00000"/>
                </a:solidFill>
              </a:rPr>
              <a:t>bon en algorithmique</a:t>
            </a:r>
            <a:r>
              <a:rPr spc="2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6719" y="2052775"/>
            <a:ext cx="11414760" cy="393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marR="5080" indent="-51435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05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Rigueur: </a:t>
            </a:r>
            <a:r>
              <a:rPr sz="3000" dirty="0">
                <a:latin typeface="Times New Roman"/>
                <a:cs typeface="Times New Roman"/>
              </a:rPr>
              <a:t>chaque </a:t>
            </a:r>
            <a:r>
              <a:rPr sz="3000" spc="-5" dirty="0">
                <a:latin typeface="Times New Roman"/>
                <a:cs typeface="Times New Roman"/>
              </a:rPr>
              <a:t>fois qu’on </a:t>
            </a:r>
            <a:r>
              <a:rPr sz="3000" dirty="0">
                <a:latin typeface="Times New Roman"/>
                <a:cs typeface="Times New Roman"/>
              </a:rPr>
              <a:t>écrit une </a:t>
            </a:r>
            <a:r>
              <a:rPr sz="3000" spc="-5" dirty="0">
                <a:latin typeface="Times New Roman"/>
                <a:cs typeface="Times New Roman"/>
              </a:rPr>
              <a:t>série </a:t>
            </a:r>
            <a:r>
              <a:rPr sz="3000" dirty="0">
                <a:latin typeface="Times New Roman"/>
                <a:cs typeface="Times New Roman"/>
              </a:rPr>
              <a:t>d’instructions, il faut </a:t>
            </a:r>
            <a:r>
              <a:rPr sz="3000" spc="-10" dirty="0">
                <a:latin typeface="Times New Roman"/>
                <a:cs typeface="Times New Roman"/>
              </a:rPr>
              <a:t>se  </a:t>
            </a:r>
            <a:r>
              <a:rPr sz="3000" dirty="0">
                <a:latin typeface="Times New Roman"/>
                <a:cs typeface="Times New Roman"/>
              </a:rPr>
              <a:t>mettre à la place de la machine qui va les </a:t>
            </a:r>
            <a:r>
              <a:rPr sz="3000" spc="-15" dirty="0">
                <a:latin typeface="Times New Roman"/>
                <a:cs typeface="Times New Roman"/>
              </a:rPr>
              <a:t>exécuter, </a:t>
            </a:r>
            <a:r>
              <a:rPr sz="3000" dirty="0">
                <a:latin typeface="Times New Roman"/>
                <a:cs typeface="Times New Roman"/>
              </a:rPr>
              <a:t>pour vérifier </a:t>
            </a: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spc="5" dirty="0">
                <a:latin typeface="Times New Roman"/>
                <a:cs typeface="Times New Roman"/>
              </a:rPr>
              <a:t>le  </a:t>
            </a:r>
            <a:r>
              <a:rPr sz="3000" spc="-5" dirty="0">
                <a:latin typeface="Times New Roman"/>
                <a:cs typeface="Times New Roman"/>
              </a:rPr>
              <a:t>résultat </a:t>
            </a:r>
            <a:r>
              <a:rPr sz="3000" dirty="0">
                <a:latin typeface="Times New Roman"/>
                <a:cs typeface="Times New Roman"/>
              </a:rPr>
              <a:t>obtenu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bien celui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escompté.</a:t>
            </a:r>
            <a:endParaRPr sz="3000" dirty="0">
              <a:latin typeface="Times New Roman"/>
              <a:cs typeface="Times New Roman"/>
            </a:endParaRPr>
          </a:p>
          <a:p>
            <a:pPr marL="527050" indent="-51435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05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Intuition:</a:t>
            </a:r>
            <a:endParaRPr sz="3000" dirty="0">
              <a:latin typeface="Times New Roman"/>
              <a:cs typeface="Times New Roman"/>
            </a:endParaRPr>
          </a:p>
          <a:p>
            <a:pPr marL="469265" marR="5080" lvl="1" algn="just">
              <a:lnSpc>
                <a:spcPct val="100000"/>
              </a:lnSpc>
              <a:spcAft>
                <a:spcPts val="600"/>
              </a:spcAft>
              <a:buFont typeface="Wingdings"/>
              <a:buChar char=""/>
              <a:tabLst>
                <a:tab pos="835025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 </a:t>
            </a:r>
            <a:r>
              <a:rPr sz="3000" spc="-5" dirty="0" err="1">
                <a:latin typeface="Times New Roman"/>
                <a:cs typeface="Times New Roman"/>
              </a:rPr>
              <a:t>Aucune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recette ne permet de </a:t>
            </a:r>
            <a:r>
              <a:rPr sz="3000" spc="-5" dirty="0">
                <a:latin typeface="Times New Roman"/>
                <a:cs typeface="Times New Roman"/>
              </a:rPr>
              <a:t>savoir </a:t>
            </a:r>
            <a:r>
              <a:rPr sz="3000" dirty="0">
                <a:latin typeface="Times New Roman"/>
                <a:cs typeface="Times New Roman"/>
              </a:rPr>
              <a:t>a priori quelles </a:t>
            </a:r>
            <a:r>
              <a:rPr sz="3000" spc="-5" dirty="0">
                <a:latin typeface="Times New Roman"/>
                <a:cs typeface="Times New Roman"/>
              </a:rPr>
              <a:t>instructions  </a:t>
            </a:r>
            <a:r>
              <a:rPr sz="3000" dirty="0">
                <a:latin typeface="Times New Roman"/>
                <a:cs typeface="Times New Roman"/>
              </a:rPr>
              <a:t>permettront d’obtenir le </a:t>
            </a:r>
            <a:r>
              <a:rPr sz="3000" spc="-5" dirty="0">
                <a:latin typeface="Times New Roman"/>
                <a:cs typeface="Times New Roman"/>
              </a:rPr>
              <a:t>résultat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voulu.</a:t>
            </a:r>
          </a:p>
          <a:p>
            <a:pPr marL="469265" marR="5080" lvl="1" algn="just">
              <a:lnSpc>
                <a:spcPct val="100000"/>
              </a:lnSpc>
              <a:buFont typeface="Wingdings"/>
              <a:buChar char=""/>
              <a:tabLst>
                <a:tab pos="814069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 </a:t>
            </a:r>
            <a:r>
              <a:rPr sz="3000" spc="-5" dirty="0" err="1">
                <a:latin typeface="Times New Roman"/>
                <a:cs typeface="Times New Roman"/>
              </a:rPr>
              <a:t>Alors</a:t>
            </a:r>
            <a:r>
              <a:rPr sz="3000" spc="-5" dirty="0">
                <a:latin typeface="Times New Roman"/>
                <a:cs typeface="Times New Roman"/>
              </a:rPr>
              <a:t> on est </a:t>
            </a:r>
            <a:r>
              <a:rPr sz="3000" dirty="0">
                <a:latin typeface="Times New Roman"/>
                <a:cs typeface="Times New Roman"/>
              </a:rPr>
              <a:t>plus ou moins intuitifs, mais </a:t>
            </a:r>
            <a:r>
              <a:rPr sz="3000" spc="-5" dirty="0">
                <a:latin typeface="Times New Roman"/>
                <a:cs typeface="Times New Roman"/>
              </a:rPr>
              <a:t>les </a:t>
            </a:r>
            <a:r>
              <a:rPr sz="3000" dirty="0">
                <a:latin typeface="Times New Roman"/>
                <a:cs typeface="Times New Roman"/>
              </a:rPr>
              <a:t>réflexes, cela  </a:t>
            </a:r>
            <a:r>
              <a:rPr sz="3000" spc="-5" dirty="0">
                <a:latin typeface="Times New Roman"/>
                <a:cs typeface="Times New Roman"/>
              </a:rPr>
              <a:t>s’acquiert, </a:t>
            </a:r>
            <a:r>
              <a:rPr sz="3000" dirty="0">
                <a:latin typeface="Times New Roman"/>
                <a:cs typeface="Times New Roman"/>
              </a:rPr>
              <a:t>et l’expérience finit par compenser </a:t>
            </a:r>
            <a:r>
              <a:rPr sz="3000" spc="-10" dirty="0">
                <a:latin typeface="Times New Roman"/>
                <a:cs typeface="Times New Roman"/>
              </a:rPr>
              <a:t>largement </a:t>
            </a:r>
            <a:r>
              <a:rPr sz="3000" spc="-5" dirty="0">
                <a:latin typeface="Times New Roman"/>
                <a:cs typeface="Times New Roman"/>
              </a:rPr>
              <a:t>des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intuitions.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5032" y="934702"/>
            <a:ext cx="66598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51070" algn="l"/>
              </a:tabLst>
            </a:pPr>
            <a:r>
              <a:rPr spc="-5" dirty="0">
                <a:solidFill>
                  <a:srgbClr val="C00000"/>
                </a:solidFill>
              </a:rPr>
              <a:t>Caractéristiques</a:t>
            </a:r>
            <a:r>
              <a:rPr spc="30" dirty="0">
                <a:solidFill>
                  <a:srgbClr val="C00000"/>
                </a:solidFill>
              </a:rPr>
              <a:t> </a:t>
            </a:r>
            <a:r>
              <a:rPr spc="-10">
                <a:solidFill>
                  <a:srgbClr val="C00000"/>
                </a:solidFill>
              </a:rPr>
              <a:t>d’un</a:t>
            </a:r>
            <a:r>
              <a:rPr spc="5">
                <a:solidFill>
                  <a:srgbClr val="C00000"/>
                </a:solidFill>
              </a:rPr>
              <a:t> </a:t>
            </a:r>
            <a:r>
              <a:rPr spc="-5">
                <a:solidFill>
                  <a:srgbClr val="C00000"/>
                </a:solidFill>
              </a:rPr>
              <a:t>bon</a:t>
            </a:r>
            <a:r>
              <a:rPr lang="fr-FR" spc="-5" dirty="0">
                <a:solidFill>
                  <a:srgbClr val="C00000"/>
                </a:solidFill>
              </a:rPr>
              <a:t> </a:t>
            </a:r>
            <a:r>
              <a:rPr spc="-5">
                <a:solidFill>
                  <a:srgbClr val="C00000"/>
                </a:solidFill>
              </a:rPr>
              <a:t>algorithme</a:t>
            </a:r>
            <a:endParaRPr spc="-5"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08288" y="1773516"/>
            <a:ext cx="902906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830" indent="-5327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44830" algn="l"/>
                <a:tab pos="545465" algn="l"/>
              </a:tabLst>
            </a:pPr>
            <a:r>
              <a:rPr sz="3000" spc="-5" dirty="0">
                <a:latin typeface="Times New Roman"/>
                <a:cs typeface="Times New Roman"/>
              </a:rPr>
              <a:t>Systématique</a:t>
            </a:r>
            <a:endParaRPr sz="3000" dirty="0">
              <a:latin typeface="Times New Roman"/>
              <a:cs typeface="Times New Roman"/>
            </a:endParaRPr>
          </a:p>
          <a:p>
            <a:pPr marL="544830" indent="-532765">
              <a:lnSpc>
                <a:spcPct val="100000"/>
              </a:lnSpc>
              <a:buFont typeface="Wingdings"/>
              <a:buChar char=""/>
              <a:tabLst>
                <a:tab pos="544830" algn="l"/>
                <a:tab pos="545465" algn="l"/>
              </a:tabLst>
            </a:pPr>
            <a:r>
              <a:rPr sz="3000" spc="-5" dirty="0">
                <a:latin typeface="Times New Roman"/>
                <a:cs typeface="Times New Roman"/>
              </a:rPr>
              <a:t>Bien structuré </a:t>
            </a:r>
            <a:r>
              <a:rPr sz="3000" dirty="0">
                <a:latin typeface="Times New Roman"/>
                <a:cs typeface="Times New Roman"/>
              </a:rPr>
              <a:t>(et </a:t>
            </a:r>
            <a:r>
              <a:rPr sz="3000" spc="-5" dirty="0">
                <a:latin typeface="Times New Roman"/>
                <a:cs typeface="Times New Roman"/>
              </a:rPr>
              <a:t>si possible simple </a:t>
            </a:r>
            <a:r>
              <a:rPr sz="3000" dirty="0">
                <a:latin typeface="Times New Roman"/>
                <a:cs typeface="Times New Roman"/>
              </a:rPr>
              <a:t>à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comprendre)</a:t>
            </a:r>
          </a:p>
          <a:p>
            <a:pPr marL="544830" indent="-532765">
              <a:lnSpc>
                <a:spcPct val="100000"/>
              </a:lnSpc>
              <a:buFont typeface="Wingdings"/>
              <a:buChar char=""/>
              <a:tabLst>
                <a:tab pos="544830" algn="l"/>
                <a:tab pos="545465" algn="l"/>
              </a:tabLst>
            </a:pPr>
            <a:r>
              <a:rPr sz="3000" spc="-5" dirty="0">
                <a:latin typeface="Times New Roman"/>
                <a:cs typeface="Times New Roman"/>
              </a:rPr>
              <a:t>Juste</a:t>
            </a:r>
            <a:endParaRPr sz="3000" dirty="0">
              <a:latin typeface="Times New Roman"/>
              <a:cs typeface="Times New Roman"/>
            </a:endParaRPr>
          </a:p>
          <a:p>
            <a:pPr marL="544830" indent="-532765">
              <a:lnSpc>
                <a:spcPct val="100000"/>
              </a:lnSpc>
              <a:buFont typeface="Wingdings"/>
              <a:buChar char=""/>
              <a:tabLst>
                <a:tab pos="544830" algn="l"/>
                <a:tab pos="545465" algn="l"/>
              </a:tabLst>
            </a:pPr>
            <a:r>
              <a:rPr sz="3000" dirty="0">
                <a:latin typeface="Times New Roman"/>
                <a:cs typeface="Times New Roman"/>
              </a:rPr>
              <a:t>Eventuellement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élégant</a:t>
            </a:r>
          </a:p>
          <a:p>
            <a:pPr marL="544830" indent="-532765">
              <a:lnSpc>
                <a:spcPct val="100000"/>
              </a:lnSpc>
              <a:buFont typeface="Wingdings"/>
              <a:buChar char=""/>
              <a:tabLst>
                <a:tab pos="544830" algn="l"/>
                <a:tab pos="545465" algn="l"/>
              </a:tabLst>
            </a:pPr>
            <a:r>
              <a:rPr sz="3000" spc="-5" dirty="0">
                <a:latin typeface="Times New Roman"/>
                <a:cs typeface="Times New Roman"/>
              </a:rPr>
              <a:t>Lisible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:</a:t>
            </a:r>
          </a:p>
          <a:p>
            <a:pPr marL="812800" lvl="1" indent="-343535">
              <a:lnSpc>
                <a:spcPct val="100000"/>
              </a:lnSpc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3000" spc="-5" dirty="0">
                <a:latin typeface="Times New Roman"/>
                <a:cs typeface="Times New Roman"/>
              </a:rPr>
              <a:t>Retour </a:t>
            </a:r>
            <a:r>
              <a:rPr sz="3000" dirty="0">
                <a:latin typeface="Times New Roman"/>
                <a:cs typeface="Times New Roman"/>
              </a:rPr>
              <a:t>à la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ligne</a:t>
            </a:r>
          </a:p>
          <a:p>
            <a:pPr marL="812800" marR="5080" lvl="1" indent="-342900">
              <a:lnSpc>
                <a:spcPct val="100000"/>
              </a:lnSpc>
              <a:buFont typeface="Wingdings"/>
              <a:buChar char=""/>
              <a:tabLst>
                <a:tab pos="812165" algn="l"/>
                <a:tab pos="812800" algn="l"/>
                <a:tab pos="3210560" algn="l"/>
                <a:tab pos="3509645" algn="l"/>
                <a:tab pos="4506595" algn="l"/>
                <a:tab pos="4892675" algn="l"/>
                <a:tab pos="5382260" algn="l"/>
                <a:tab pos="6743700" algn="l"/>
                <a:tab pos="7085965" algn="l"/>
              </a:tabLst>
            </a:pPr>
            <a:r>
              <a:rPr sz="3000" spc="-5" dirty="0">
                <a:latin typeface="Times New Roman"/>
                <a:cs typeface="Times New Roman"/>
              </a:rPr>
              <a:t>C</a:t>
            </a:r>
            <a:r>
              <a:rPr sz="3000" dirty="0">
                <a:latin typeface="Times New Roman"/>
                <a:cs typeface="Times New Roman"/>
              </a:rPr>
              <a:t>o</a:t>
            </a:r>
            <a:r>
              <a:rPr sz="3000" spc="5" dirty="0">
                <a:latin typeface="Times New Roman"/>
                <a:cs typeface="Times New Roman"/>
              </a:rPr>
              <a:t>mm</a:t>
            </a:r>
            <a:r>
              <a:rPr sz="3000" dirty="0">
                <a:latin typeface="Times New Roman"/>
                <a:cs typeface="Times New Roman"/>
              </a:rPr>
              <a:t>en</a:t>
            </a:r>
            <a:r>
              <a:rPr sz="3000" spc="5" dirty="0">
                <a:latin typeface="Times New Roman"/>
                <a:cs typeface="Times New Roman"/>
              </a:rPr>
              <a:t>ta</a:t>
            </a:r>
            <a:r>
              <a:rPr sz="3000" dirty="0">
                <a:latin typeface="Times New Roman"/>
                <a:cs typeface="Times New Roman"/>
              </a:rPr>
              <a:t>ir</a:t>
            </a:r>
            <a:r>
              <a:rPr sz="3000" spc="-5" dirty="0">
                <a:latin typeface="Times New Roman"/>
                <a:cs typeface="Times New Roman"/>
              </a:rPr>
              <a:t>es</a:t>
            </a:r>
            <a:r>
              <a:rPr sz="3000" dirty="0">
                <a:latin typeface="Times New Roman"/>
                <a:cs typeface="Times New Roman"/>
              </a:rPr>
              <a:t>	(	cou</a:t>
            </a:r>
            <a:r>
              <a:rPr sz="3000" spc="-5" dirty="0">
                <a:latin typeface="Times New Roman"/>
                <a:cs typeface="Times New Roman"/>
              </a:rPr>
              <a:t>rs</a:t>
            </a:r>
            <a:r>
              <a:rPr sz="3000" dirty="0">
                <a:latin typeface="Times New Roman"/>
                <a:cs typeface="Times New Roman"/>
              </a:rPr>
              <a:t>	+	</a:t>
            </a:r>
            <a:r>
              <a:rPr sz="3000" spc="-10" dirty="0">
                <a:latin typeface="Times New Roman"/>
                <a:cs typeface="Times New Roman"/>
              </a:rPr>
              <a:t>s</a:t>
            </a:r>
            <a:r>
              <a:rPr sz="3000" spc="-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5" dirty="0">
                <a:latin typeface="Times New Roman"/>
                <a:cs typeface="Times New Roman"/>
              </a:rPr>
              <a:t>li</a:t>
            </a:r>
            <a:r>
              <a:rPr sz="3000" dirty="0">
                <a:latin typeface="Times New Roman"/>
                <a:cs typeface="Times New Roman"/>
              </a:rPr>
              <a:t>m</a:t>
            </a:r>
            <a:r>
              <a:rPr sz="3000" spc="5" dirty="0">
                <a:latin typeface="Times New Roman"/>
                <a:cs typeface="Times New Roman"/>
              </a:rPr>
              <a:t>ite</a:t>
            </a:r>
            <a:r>
              <a:rPr sz="3000" dirty="0">
                <a:latin typeface="Times New Roman"/>
                <a:cs typeface="Times New Roman"/>
              </a:rPr>
              <a:t>nt	à	l’e</a:t>
            </a:r>
            <a:r>
              <a:rPr sz="3000" spc="5" dirty="0">
                <a:latin typeface="Times New Roman"/>
                <a:cs typeface="Times New Roman"/>
              </a:rPr>
              <a:t>x</a:t>
            </a:r>
            <a:r>
              <a:rPr sz="3000" dirty="0">
                <a:latin typeface="Times New Roman"/>
                <a:cs typeface="Times New Roman"/>
              </a:rPr>
              <a:t>pl</a:t>
            </a:r>
            <a:r>
              <a:rPr sz="3000" spc="5" dirty="0">
                <a:latin typeface="Times New Roman"/>
                <a:cs typeface="Times New Roman"/>
              </a:rPr>
              <a:t>ica</a:t>
            </a:r>
            <a:r>
              <a:rPr sz="3000" dirty="0">
                <a:latin typeface="Times New Roman"/>
                <a:cs typeface="Times New Roman"/>
              </a:rPr>
              <a:t>ti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n  </a:t>
            </a:r>
            <a:r>
              <a:rPr sz="3000" spc="-5" dirty="0">
                <a:latin typeface="Times New Roman"/>
                <a:cs typeface="Times New Roman"/>
              </a:rPr>
              <a:t>des </a:t>
            </a:r>
            <a:r>
              <a:rPr sz="3000" dirty="0">
                <a:latin typeface="Times New Roman"/>
                <a:cs typeface="Times New Roman"/>
              </a:rPr>
              <a:t>idées </a:t>
            </a:r>
            <a:r>
              <a:rPr sz="3000" spc="-5" dirty="0">
                <a:latin typeface="Times New Roman"/>
                <a:cs typeface="Times New Roman"/>
              </a:rPr>
              <a:t>essentielles ou des points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délicats)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25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039" y="805097"/>
            <a:ext cx="7799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51070" algn="l"/>
              </a:tabLst>
            </a:pPr>
            <a:r>
              <a:rPr spc="-5" dirty="0">
                <a:solidFill>
                  <a:srgbClr val="C00000"/>
                </a:solidFill>
              </a:rPr>
              <a:t>Caractéristiques</a:t>
            </a:r>
            <a:r>
              <a:rPr spc="3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d’un</a:t>
            </a:r>
            <a:r>
              <a:rPr spc="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bon	algorithme</a:t>
            </a:r>
            <a:r>
              <a:rPr spc="-45" dirty="0">
                <a:solidFill>
                  <a:srgbClr val="C00000"/>
                </a:solidFill>
              </a:rPr>
              <a:t> </a:t>
            </a:r>
            <a:r>
              <a:rPr b="0" spc="-5" dirty="0">
                <a:solidFill>
                  <a:srgbClr val="C00000"/>
                </a:solidFill>
                <a:latin typeface="Times New Roman"/>
                <a:cs typeface="Times New Roman"/>
              </a:rPr>
              <a:t>(suite)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7" y="99208"/>
            <a:ext cx="20974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6850" y="1630640"/>
            <a:ext cx="7074534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indent="-49339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05459" algn="l"/>
                <a:tab pos="506095" algn="l"/>
              </a:tabLst>
            </a:pPr>
            <a:r>
              <a:rPr sz="3000" spc="-5" dirty="0">
                <a:latin typeface="Times New Roman"/>
                <a:cs typeface="Times New Roman"/>
              </a:rPr>
              <a:t>Pas </a:t>
            </a:r>
            <a:r>
              <a:rPr sz="3000" dirty="0">
                <a:latin typeface="Times New Roman"/>
                <a:cs typeface="Times New Roman"/>
              </a:rPr>
              <a:t>trop long (décomposition en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modules);</a:t>
            </a:r>
            <a:endParaRPr sz="3000">
              <a:latin typeface="Times New Roman"/>
              <a:cs typeface="Times New Roman"/>
            </a:endParaRPr>
          </a:p>
          <a:p>
            <a:pPr marL="505459" indent="-493395">
              <a:lnSpc>
                <a:spcPct val="100000"/>
              </a:lnSpc>
              <a:buFont typeface="Wingdings"/>
              <a:buChar char=""/>
              <a:tabLst>
                <a:tab pos="505459" algn="l"/>
                <a:tab pos="506095" algn="l"/>
              </a:tabLst>
            </a:pPr>
            <a:r>
              <a:rPr sz="3000" spc="-10" dirty="0">
                <a:latin typeface="Times New Roman"/>
                <a:cs typeface="Times New Roman"/>
              </a:rPr>
              <a:t>Efficace</a:t>
            </a:r>
            <a:endParaRPr sz="3000">
              <a:latin typeface="Times New Roman"/>
              <a:cs typeface="Times New Roman"/>
            </a:endParaRPr>
          </a:p>
          <a:p>
            <a:pPr marL="1283970" lvl="1" indent="-357505">
              <a:lnSpc>
                <a:spcPct val="100000"/>
              </a:lnSpc>
              <a:buFont typeface="Wingdings"/>
              <a:buChar char=""/>
              <a:tabLst>
                <a:tab pos="1283970" algn="l"/>
                <a:tab pos="1284605" algn="l"/>
              </a:tabLst>
            </a:pPr>
            <a:r>
              <a:rPr sz="3000" spc="-45" dirty="0">
                <a:latin typeface="Times New Roman"/>
                <a:cs typeface="Times New Roman"/>
              </a:rPr>
              <a:t>Temps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d’exécution</a:t>
            </a:r>
            <a:endParaRPr sz="300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>
                <a:latin typeface="Times New Roman"/>
                <a:cs typeface="Times New Roman"/>
              </a:rPr>
              <a:t>Quantité </a:t>
            </a:r>
            <a:r>
              <a:rPr sz="3000" spc="-5" dirty="0">
                <a:latin typeface="Times New Roman"/>
                <a:cs typeface="Times New Roman"/>
              </a:rPr>
              <a:t>d’espace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mémoire</a:t>
            </a:r>
            <a:endParaRPr sz="300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>
                <a:latin typeface="Times New Roman"/>
                <a:cs typeface="Times New Roman"/>
              </a:rPr>
              <a:t>Quantité </a:t>
            </a:r>
            <a:r>
              <a:rPr sz="3000" spc="-5" dirty="0">
                <a:latin typeface="Times New Roman"/>
                <a:cs typeface="Times New Roman"/>
              </a:rPr>
              <a:t>d’espace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disque</a:t>
            </a:r>
            <a:endParaRPr sz="300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>
                <a:latin typeface="Times New Roman"/>
                <a:cs typeface="Times New Roman"/>
              </a:rPr>
              <a:t>Quantité d’information à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lire/écrire</a:t>
            </a:r>
            <a:endParaRPr sz="300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>
                <a:latin typeface="Times New Roman"/>
                <a:cs typeface="Times New Roman"/>
              </a:rPr>
              <a:t>Quantité d’information à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transférer</a:t>
            </a:r>
            <a:endParaRPr sz="300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>
                <a:latin typeface="Times New Roman"/>
                <a:cs typeface="Times New Roman"/>
              </a:rPr>
              <a:t>…</a:t>
            </a:r>
            <a:endParaRPr sz="3000">
              <a:latin typeface="Times New Roman"/>
              <a:cs typeface="Times New Roman"/>
            </a:endParaRPr>
          </a:p>
          <a:p>
            <a:pPr marL="505459" indent="-493395">
              <a:lnSpc>
                <a:spcPct val="100000"/>
              </a:lnSpc>
              <a:buFont typeface="Wingdings"/>
              <a:buChar char=""/>
              <a:tabLst>
                <a:tab pos="505459" algn="l"/>
                <a:tab pos="506095" algn="l"/>
              </a:tabLst>
            </a:pPr>
            <a:r>
              <a:rPr sz="3000" spc="-5" dirty="0">
                <a:latin typeface="Times New Roman"/>
                <a:cs typeface="Times New Roman"/>
              </a:rPr>
              <a:t>Préférer parfois </a:t>
            </a:r>
            <a:r>
              <a:rPr sz="3000" dirty="0">
                <a:latin typeface="Times New Roman"/>
                <a:cs typeface="Times New Roman"/>
              </a:rPr>
              <a:t>la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récursivité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58111" y="2357424"/>
            <a:ext cx="9573260" cy="1447165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329565" rIns="0" bIns="0" rtlCol="0">
            <a:spAutoFit/>
          </a:bodyPr>
          <a:lstStyle/>
          <a:p>
            <a:pPr marL="725170">
              <a:lnSpc>
                <a:spcPct val="100000"/>
              </a:lnSpc>
              <a:spcBef>
                <a:spcPts val="2595"/>
              </a:spcBef>
              <a:tabLst>
                <a:tab pos="2366010" algn="l"/>
              </a:tabLst>
            </a:pPr>
            <a:r>
              <a:rPr sz="4800" spc="-5" dirty="0">
                <a:solidFill>
                  <a:srgbClr val="C00000"/>
                </a:solidFill>
                <a:latin typeface="Times New Roman"/>
                <a:cs typeface="Times New Roman"/>
              </a:rPr>
              <a:t>Outils	</a:t>
            </a:r>
            <a:r>
              <a:rPr sz="4800" dirty="0">
                <a:solidFill>
                  <a:srgbClr val="C00000"/>
                </a:solidFill>
                <a:latin typeface="Times New Roman"/>
                <a:cs typeface="Times New Roman"/>
              </a:rPr>
              <a:t>de base de</a:t>
            </a:r>
            <a:r>
              <a:rPr sz="4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800" spc="-5" dirty="0">
                <a:solidFill>
                  <a:srgbClr val="C00000"/>
                </a:solidFill>
                <a:latin typeface="Times New Roman"/>
                <a:cs typeface="Times New Roman"/>
              </a:rPr>
              <a:t>l’algorithmique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27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8687" y="876536"/>
            <a:ext cx="53721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Outils de base </a:t>
            </a:r>
            <a:r>
              <a:rPr sz="32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d’un</a:t>
            </a:r>
            <a:r>
              <a:rPr sz="32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algorithme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72179" y="1662428"/>
            <a:ext cx="39071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3045" algn="l"/>
                <a:tab pos="3126740" algn="l"/>
                <a:tab pos="3600450" algn="l"/>
              </a:tabLst>
            </a:pPr>
            <a:r>
              <a:rPr sz="3200" spc="-5" dirty="0">
                <a:latin typeface="Times New Roman"/>
                <a:cs typeface="Times New Roman"/>
              </a:rPr>
              <a:t>ram</a:t>
            </a:r>
            <a:r>
              <a:rPr sz="3200" dirty="0">
                <a:latin typeface="Times New Roman"/>
                <a:cs typeface="Times New Roman"/>
              </a:rPr>
              <a:t>è</a:t>
            </a:r>
            <a:r>
              <a:rPr sz="3200" spc="-5" dirty="0">
                <a:latin typeface="Times New Roman"/>
                <a:cs typeface="Times New Roman"/>
              </a:rPr>
              <a:t>ne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tou</a:t>
            </a:r>
            <a:r>
              <a:rPr sz="3200" spc="-15" dirty="0">
                <a:latin typeface="Times New Roman"/>
                <a:cs typeface="Times New Roman"/>
              </a:rPr>
              <a:t>j</a:t>
            </a:r>
            <a:r>
              <a:rPr sz="3200" spc="-5" dirty="0">
                <a:latin typeface="Times New Roman"/>
                <a:cs typeface="Times New Roman"/>
              </a:rPr>
              <a:t>ou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à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la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837" y="1662428"/>
            <a:ext cx="5717540" cy="3991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01370" algn="l"/>
                <a:tab pos="2854325" algn="l"/>
                <a:tab pos="5245100" algn="l"/>
              </a:tabLst>
            </a:pPr>
            <a:r>
              <a:rPr sz="3200" spc="-5" dirty="0">
                <a:latin typeface="Times New Roman"/>
                <a:cs typeface="Times New Roman"/>
              </a:rPr>
              <a:t>Un	algorithme	informatique	se  combinaison de 4 briques de base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428750" indent="-502920">
              <a:lnSpc>
                <a:spcPct val="100000"/>
              </a:lnSpc>
              <a:spcBef>
                <a:spcPts val="2435"/>
              </a:spcBef>
              <a:buFont typeface="Wingdings"/>
              <a:buChar char=""/>
              <a:tabLst>
                <a:tab pos="1428750" algn="l"/>
                <a:tab pos="1429385" algn="l"/>
              </a:tabLst>
            </a:pPr>
            <a:r>
              <a:rPr sz="3200" spc="-10" dirty="0">
                <a:latin typeface="Times New Roman"/>
                <a:cs typeface="Times New Roman"/>
              </a:rPr>
              <a:t>Affectation </a:t>
            </a:r>
            <a:r>
              <a:rPr sz="3200" spc="-5" dirty="0">
                <a:latin typeface="Times New Roman"/>
                <a:cs typeface="Times New Roman"/>
              </a:rPr>
              <a:t>de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variables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Lecture /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écriture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Les tests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14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Les boucles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28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1033" y="1703124"/>
            <a:ext cx="10773410" cy="417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73709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En informatique, l’essentiel du travail </a:t>
            </a:r>
            <a:r>
              <a:rPr sz="2800" spc="-10" dirty="0">
                <a:latin typeface="Times New Roman"/>
                <a:cs typeface="Times New Roman"/>
              </a:rPr>
              <a:t>effectué </a:t>
            </a:r>
            <a:r>
              <a:rPr sz="2800" spc="-5" dirty="0">
                <a:latin typeface="Times New Roman"/>
                <a:cs typeface="Times New Roman"/>
              </a:rPr>
              <a:t>par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5" dirty="0">
                <a:latin typeface="Times New Roman"/>
                <a:cs typeface="Times New Roman"/>
              </a:rPr>
              <a:t>programme  d’ordinateur consiste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manipuler des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données.</a:t>
            </a:r>
            <a:endParaRPr sz="2800" dirty="0">
              <a:latin typeface="Times New Roman"/>
              <a:cs typeface="Times New Roman"/>
            </a:endParaRPr>
          </a:p>
          <a:p>
            <a:pPr marL="12700" marR="6350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 err="1">
                <a:latin typeface="Times New Roman"/>
                <a:cs typeface="Times New Roman"/>
              </a:rPr>
              <a:t>Ces</a:t>
            </a:r>
            <a:r>
              <a:rPr sz="2800" spc="-5" dirty="0">
                <a:latin typeface="Times New Roman"/>
                <a:cs typeface="Times New Roman"/>
              </a:rPr>
              <a:t> données peuvent être </a:t>
            </a:r>
            <a:r>
              <a:rPr sz="2800" spc="-5" dirty="0" err="1">
                <a:latin typeface="Times New Roman"/>
                <a:cs typeface="Times New Roman"/>
              </a:rPr>
              <a:t>très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diverses</a:t>
            </a:r>
            <a:r>
              <a:rPr lang="en-US" sz="2800" spc="-5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et pour </a:t>
            </a:r>
            <a:r>
              <a:rPr sz="2800" spc="-10" dirty="0">
                <a:latin typeface="Times New Roman"/>
                <a:cs typeface="Times New Roman"/>
              </a:rPr>
              <a:t>accéder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ces données, </a:t>
            </a:r>
            <a:r>
              <a:rPr sz="2800" spc="-10" dirty="0">
                <a:latin typeface="Times New Roman"/>
                <a:cs typeface="Times New Roman"/>
              </a:rPr>
              <a:t>il  </a:t>
            </a:r>
            <a:r>
              <a:rPr sz="2800" spc="-5" dirty="0">
                <a:latin typeface="Times New Roman"/>
                <a:cs typeface="Times New Roman"/>
              </a:rPr>
              <a:t>est pratique de </a:t>
            </a:r>
            <a:r>
              <a:rPr sz="2800" spc="-10" dirty="0">
                <a:latin typeface="Times New Roman"/>
                <a:cs typeface="Times New Roman"/>
              </a:rPr>
              <a:t>les </a:t>
            </a:r>
            <a:r>
              <a:rPr sz="2800" b="1" spc="-5" dirty="0" err="1">
                <a:latin typeface="Times New Roman"/>
                <a:cs typeface="Times New Roman"/>
              </a:rPr>
              <a:t>nommer</a:t>
            </a:r>
            <a:r>
              <a:rPr lang="fr-FR" sz="2800" spc="-5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plutôt que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connaître </a:t>
            </a:r>
            <a:r>
              <a:rPr sz="2800" spc="-10" dirty="0">
                <a:latin typeface="Times New Roman"/>
                <a:cs typeface="Times New Roman"/>
              </a:rPr>
              <a:t>explicitement </a:t>
            </a:r>
            <a:r>
              <a:rPr sz="2800" spc="-5" dirty="0">
                <a:latin typeface="Times New Roman"/>
                <a:cs typeface="Times New Roman"/>
              </a:rPr>
              <a:t>leur  adresse en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mémoire.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 err="1">
                <a:latin typeface="Times New Roman"/>
                <a:cs typeface="Times New Roman"/>
              </a:rPr>
              <a:t>Une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donnée apparait sous 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un 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nom 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de 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variable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 dit que la variable  dénote une </a:t>
            </a:r>
            <a:r>
              <a:rPr sz="2800" spc="-25" dirty="0">
                <a:latin typeface="Times New Roman"/>
                <a:cs typeface="Times New Roman"/>
              </a:rPr>
              <a:t>valeur. </a:t>
            </a:r>
            <a:r>
              <a:rPr sz="2800" dirty="0">
                <a:latin typeface="Times New Roman"/>
                <a:cs typeface="Times New Roman"/>
              </a:rPr>
              <a:t>Pour </a:t>
            </a:r>
            <a:r>
              <a:rPr sz="2800" spc="-5" dirty="0">
                <a:latin typeface="Times New Roman"/>
                <a:cs typeface="Times New Roman"/>
              </a:rPr>
              <a:t>la </a:t>
            </a:r>
            <a:r>
              <a:rPr sz="2800" spc="-10" dirty="0">
                <a:latin typeface="Times New Roman"/>
                <a:cs typeface="Times New Roman"/>
              </a:rPr>
              <a:t>machine, </a:t>
            </a:r>
            <a:r>
              <a:rPr sz="2800" spc="-5" dirty="0">
                <a:latin typeface="Times New Roman"/>
                <a:cs typeface="Times New Roman"/>
              </a:rPr>
              <a:t>il s’agit d’une référence désignant une  adresse mémoire, </a:t>
            </a:r>
            <a:r>
              <a:rPr sz="2800" i="1" spc="-5" dirty="0">
                <a:latin typeface="Times New Roman"/>
                <a:cs typeface="Times New Roman"/>
              </a:rPr>
              <a:t>i</a:t>
            </a:r>
            <a:r>
              <a:rPr lang="en-US" sz="2800" i="1" spc="-5" dirty="0">
                <a:latin typeface="Times New Roman"/>
                <a:cs typeface="Times New Roman"/>
              </a:rPr>
              <a:t>.</a:t>
            </a:r>
            <a:r>
              <a:rPr sz="2800" i="1" spc="-5" dirty="0">
                <a:latin typeface="Times New Roman"/>
                <a:cs typeface="Times New Roman"/>
              </a:rPr>
              <a:t>e</a:t>
            </a:r>
            <a:r>
              <a:rPr lang="en-US" sz="2800" i="1" spc="-5" dirty="0">
                <a:latin typeface="Times New Roman"/>
                <a:cs typeface="Times New Roman"/>
              </a:rPr>
              <a:t>.</a:t>
            </a:r>
            <a:r>
              <a:rPr sz="2800" spc="-5" dirty="0">
                <a:latin typeface="Times New Roman"/>
                <a:cs typeface="Times New Roman"/>
              </a:rPr>
              <a:t> un </a:t>
            </a:r>
            <a:r>
              <a:rPr sz="2800" spc="-10" dirty="0">
                <a:latin typeface="Times New Roman"/>
                <a:cs typeface="Times New Roman"/>
              </a:rPr>
              <a:t>emplacement </a:t>
            </a:r>
            <a:r>
              <a:rPr sz="2800" spc="-5" dirty="0">
                <a:latin typeface="Times New Roman"/>
                <a:cs typeface="Times New Roman"/>
              </a:rPr>
              <a:t>précis dans la </a:t>
            </a:r>
            <a:r>
              <a:rPr sz="2800" spc="-5" dirty="0" err="1">
                <a:latin typeface="Times New Roman"/>
                <a:cs typeface="Times New Roman"/>
              </a:rPr>
              <a:t>mémoire</a:t>
            </a:r>
            <a:r>
              <a:rPr sz="2800" spc="-5" dirty="0">
                <a:latin typeface="Times New Roman"/>
                <a:cs typeface="Times New Roman"/>
              </a:rPr>
              <a:t> vive</a:t>
            </a:r>
            <a:r>
              <a:rPr lang="fr-FR" sz="2800" spc="-5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où </a:t>
            </a:r>
            <a:r>
              <a:rPr sz="2800" spc="-5" dirty="0">
                <a:latin typeface="Times New Roman"/>
                <a:cs typeface="Times New Roman"/>
              </a:rPr>
              <a:t>est  stockée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valeur bien déterminée </a:t>
            </a:r>
            <a:r>
              <a:rPr sz="2800" dirty="0">
                <a:latin typeface="Times New Roman"/>
                <a:cs typeface="Times New Roman"/>
              </a:rPr>
              <a:t>qui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dirty="0">
                <a:latin typeface="Times New Roman"/>
                <a:cs typeface="Times New Roman"/>
              </a:rPr>
              <a:t>la donnée </a:t>
            </a:r>
            <a:r>
              <a:rPr sz="2800" spc="-5" dirty="0">
                <a:latin typeface="Times New Roman"/>
                <a:cs typeface="Times New Roman"/>
              </a:rPr>
              <a:t>proprement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dite.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08600" y="821832"/>
            <a:ext cx="2602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/>
              <a:t>V</a:t>
            </a:r>
            <a:r>
              <a:rPr sz="3600" spc="-5" dirty="0"/>
              <a:t>ariables</a:t>
            </a:r>
            <a:endParaRPr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1033" y="1332379"/>
            <a:ext cx="10772140" cy="4906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830070" algn="l"/>
                <a:tab pos="2600325" algn="l"/>
                <a:tab pos="3919854" algn="l"/>
                <a:tab pos="4490720" algn="l"/>
                <a:tab pos="5023485" algn="l"/>
                <a:tab pos="7092315" algn="l"/>
                <a:tab pos="8569325" algn="l"/>
                <a:tab pos="9102090" algn="l"/>
                <a:tab pos="9910445" algn="l"/>
                <a:tab pos="10245090" algn="l"/>
              </a:tabLst>
            </a:pPr>
            <a:r>
              <a:rPr sz="2800" b="1" dirty="0">
                <a:latin typeface="Times New Roman"/>
                <a:cs typeface="Times New Roman"/>
              </a:rPr>
              <a:t>D</a:t>
            </a:r>
            <a:r>
              <a:rPr sz="2800" b="1" spc="-5" dirty="0">
                <a:latin typeface="Times New Roman"/>
                <a:cs typeface="Times New Roman"/>
              </a:rPr>
              <a:t>é</a:t>
            </a:r>
            <a:r>
              <a:rPr sz="2800" b="1" dirty="0">
                <a:latin typeface="Times New Roman"/>
                <a:cs typeface="Times New Roman"/>
              </a:rPr>
              <a:t>f</a:t>
            </a:r>
            <a:r>
              <a:rPr sz="2800" b="1" spc="-10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nit</a:t>
            </a:r>
            <a:r>
              <a:rPr sz="2800" b="1" spc="-10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n:	</a:t>
            </a:r>
            <a:r>
              <a:rPr sz="2800" spc="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ne	</a:t>
            </a:r>
            <a:r>
              <a:rPr sz="2800" spc="-5" dirty="0">
                <a:latin typeface="Times New Roman"/>
                <a:cs typeface="Times New Roman"/>
              </a:rPr>
              <a:t>va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ia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spc="-10" dirty="0">
                <a:latin typeface="Times New Roman"/>
                <a:cs typeface="Times New Roman"/>
              </a:rPr>
              <a:t>ica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ur	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ss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cia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5" dirty="0">
                <a:latin typeface="Times New Roman"/>
                <a:cs typeface="Times New Roman"/>
              </a:rPr>
              <a:t>no</a:t>
            </a:r>
            <a:r>
              <a:rPr sz="2800" dirty="0">
                <a:latin typeface="Times New Roman"/>
                <a:cs typeface="Times New Roman"/>
              </a:rPr>
              <a:t>m	à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ne  </a:t>
            </a:r>
            <a:r>
              <a:rPr sz="2800" spc="-5" dirty="0">
                <a:latin typeface="Times New Roman"/>
                <a:cs typeface="Times New Roman"/>
              </a:rPr>
              <a:t>valeur </a:t>
            </a:r>
            <a:r>
              <a:rPr sz="2800" dirty="0">
                <a:latin typeface="Times New Roman"/>
                <a:cs typeface="Times New Roman"/>
              </a:rPr>
              <a:t>qui </a:t>
            </a:r>
            <a:r>
              <a:rPr sz="2800" spc="-5" dirty="0">
                <a:latin typeface="Times New Roman"/>
                <a:cs typeface="Times New Roman"/>
              </a:rPr>
              <a:t>peut éventuellement varier au cours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temps.</a:t>
            </a:r>
            <a:endParaRPr sz="2800" dirty="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200"/>
              </a:spcBef>
            </a:pPr>
            <a:r>
              <a:rPr sz="2800" spc="-5" dirty="0">
                <a:latin typeface="Times New Roman"/>
                <a:cs typeface="Times New Roman"/>
              </a:rPr>
              <a:t>Le </a:t>
            </a:r>
            <a:r>
              <a:rPr sz="2800" dirty="0">
                <a:latin typeface="Times New Roman"/>
                <a:cs typeface="Times New Roman"/>
              </a:rPr>
              <a:t>nom d'une </a:t>
            </a:r>
            <a:r>
              <a:rPr sz="2800" spc="-5" dirty="0">
                <a:latin typeface="Times New Roman"/>
                <a:cs typeface="Times New Roman"/>
              </a:rPr>
              <a:t>variable </a:t>
            </a:r>
            <a:r>
              <a:rPr sz="2800" dirty="0">
                <a:latin typeface="Times New Roman"/>
                <a:cs typeface="Times New Roman"/>
              </a:rPr>
              <a:t>ne doit </a:t>
            </a:r>
            <a:r>
              <a:rPr sz="2800" spc="-5" dirty="0">
                <a:latin typeface="Times New Roman"/>
                <a:cs typeface="Times New Roman"/>
              </a:rPr>
              <a:t>comporter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que:</a:t>
            </a:r>
            <a:endParaRPr sz="2800" dirty="0">
              <a:latin typeface="Times New Roman"/>
              <a:cs typeface="Times New Roman"/>
            </a:endParaRPr>
          </a:p>
          <a:p>
            <a:pPr marL="1355725" indent="-428625">
              <a:lnSpc>
                <a:spcPct val="100000"/>
              </a:lnSpc>
              <a:buFont typeface="Wingdings"/>
              <a:buChar char=""/>
              <a:tabLst>
                <a:tab pos="1355725" algn="l"/>
                <a:tab pos="1356360" algn="l"/>
              </a:tabLst>
            </a:pP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Des lettres </a:t>
            </a:r>
            <a:r>
              <a:rPr sz="2800" dirty="0">
                <a:solidFill>
                  <a:srgbClr val="77933C"/>
                </a:solidFill>
                <a:latin typeface="Times New Roman"/>
                <a:cs typeface="Times New Roman"/>
              </a:rPr>
              <a:t>non</a:t>
            </a:r>
            <a:r>
              <a:rPr sz="2800" spc="-35" dirty="0">
                <a:solidFill>
                  <a:srgbClr val="77933C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77933C"/>
                </a:solidFill>
                <a:latin typeface="Times New Roman"/>
                <a:cs typeface="Times New Roman"/>
              </a:rPr>
              <a:t>accentuées</a:t>
            </a:r>
            <a:r>
              <a:rPr lang="fr-FR"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Des </a:t>
            </a:r>
            <a:r>
              <a:rPr sz="2800" spc="-10" dirty="0">
                <a:solidFill>
                  <a:srgbClr val="77933C"/>
                </a:solidFill>
                <a:latin typeface="Times New Roman"/>
                <a:cs typeface="Times New Roman"/>
              </a:rPr>
              <a:t>chiffres </a:t>
            </a: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(sauf en première</a:t>
            </a:r>
            <a:r>
              <a:rPr sz="2800" spc="-30" dirty="0">
                <a:solidFill>
                  <a:srgbClr val="77933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position)</a:t>
            </a:r>
            <a:r>
              <a:rPr lang="fr-FR"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;</a:t>
            </a: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Des </a:t>
            </a:r>
            <a:r>
              <a:rPr sz="2800" spc="-5" dirty="0" err="1">
                <a:solidFill>
                  <a:srgbClr val="77933C"/>
                </a:solidFill>
                <a:latin typeface="Times New Roman"/>
                <a:cs typeface="Times New Roman"/>
              </a:rPr>
              <a:t>tirets</a:t>
            </a:r>
            <a:r>
              <a:rPr sz="2800" spc="-65" dirty="0">
                <a:solidFill>
                  <a:srgbClr val="77933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bas</a:t>
            </a:r>
            <a:r>
              <a:rPr lang="en-US" sz="2800" spc="-5" dirty="0">
                <a:solidFill>
                  <a:srgbClr val="77933C"/>
                </a:solidFill>
                <a:latin typeface="Times New Roman"/>
                <a:cs typeface="Times New Roman"/>
              </a:rPr>
              <a:t> (underscore);</a:t>
            </a:r>
            <a:endParaRPr lang="fr-FR" sz="2800" spc="-5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tabLst>
                <a:tab pos="1355090" algn="l"/>
                <a:tab pos="1355725" algn="l"/>
              </a:tabLst>
            </a:pPr>
            <a:r>
              <a:rPr sz="2800" dirty="0">
                <a:latin typeface="Times New Roman"/>
                <a:cs typeface="Times New Roman"/>
              </a:rPr>
              <a:t>Il ne </a:t>
            </a:r>
            <a:r>
              <a:rPr sz="2800" spc="-5" dirty="0" err="1">
                <a:latin typeface="Times New Roman"/>
                <a:cs typeface="Times New Roman"/>
              </a:rPr>
              <a:t>peut</a:t>
            </a:r>
            <a:r>
              <a:rPr lang="fr-FR" sz="2800" spc="-5" dirty="0">
                <a:latin typeface="Times New Roman"/>
                <a:cs typeface="Times New Roman"/>
              </a:rPr>
              <a:t> pas</a:t>
            </a:r>
            <a:r>
              <a:rPr lang="fr-FR" sz="2800" spc="-55" dirty="0">
                <a:latin typeface="Times New Roman"/>
                <a:cs typeface="Times New Roman"/>
              </a:rPr>
              <a:t> comporter:</a:t>
            </a:r>
            <a:endParaRPr sz="2800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Les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espaces</a:t>
            </a:r>
            <a:r>
              <a:rPr lang="fr-FR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Signes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ponctuation</a:t>
            </a:r>
            <a:r>
              <a:rPr lang="fr-FR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Signes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arithmétiques</a:t>
            </a:r>
            <a:r>
              <a:rPr lang="fr-FR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1355090" indent="-428625">
              <a:lnSpc>
                <a:spcPct val="100000"/>
              </a:lnSpc>
              <a:buFont typeface="Wingdings"/>
              <a:buChar char=""/>
              <a:tabLst>
                <a:tab pos="1355090" algn="l"/>
                <a:tab pos="135572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Caractères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spéciaux.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68570" y="711095"/>
            <a:ext cx="2602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/>
              <a:t>V</a:t>
            </a:r>
            <a:r>
              <a:rPr sz="3600" spc="-5" dirty="0"/>
              <a:t>ariables</a:t>
            </a:r>
            <a:endParaRPr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0622" y="1488810"/>
            <a:ext cx="10773410" cy="459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7359" algn="l"/>
                <a:tab pos="468630" algn="l"/>
              </a:tabLst>
            </a:pPr>
            <a:r>
              <a:rPr lang="fr-FR" sz="2800" spc="-45" dirty="0">
                <a:latin typeface="Times New Roman"/>
                <a:cs typeface="Times New Roman"/>
              </a:rPr>
              <a:t>  </a:t>
            </a:r>
            <a:r>
              <a:rPr sz="2800" spc="-45" dirty="0" err="1">
                <a:latin typeface="Times New Roman"/>
                <a:cs typeface="Times New Roman"/>
              </a:rPr>
              <a:t>Toute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 </a:t>
            </a:r>
            <a:r>
              <a:rPr sz="2800" spc="-10" dirty="0">
                <a:latin typeface="Times New Roman"/>
                <a:cs typeface="Times New Roman"/>
              </a:rPr>
              <a:t>utilisée </a:t>
            </a:r>
            <a:r>
              <a:rPr sz="2800" spc="-5" dirty="0">
                <a:latin typeface="Times New Roman"/>
                <a:cs typeface="Times New Roman"/>
              </a:rPr>
              <a:t>dans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5" dirty="0">
                <a:latin typeface="Times New Roman"/>
                <a:cs typeface="Times New Roman"/>
              </a:rPr>
              <a:t>programme </a:t>
            </a:r>
            <a:r>
              <a:rPr sz="2800" spc="-5" dirty="0" err="1">
                <a:latin typeface="Times New Roman"/>
                <a:cs typeface="Times New Roman"/>
              </a:rPr>
              <a:t>doit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fai</a:t>
            </a:r>
            <a:r>
              <a:rPr lang="fr-FR" sz="2800" spc="-5" dirty="0" err="1">
                <a:latin typeface="Times New Roman"/>
                <a:cs typeface="Times New Roman"/>
              </a:rPr>
              <a:t>re</a:t>
            </a:r>
            <a:r>
              <a:rPr sz="2800" spc="-5" dirty="0">
                <a:latin typeface="Times New Roman"/>
                <a:cs typeface="Times New Roman"/>
              </a:rPr>
              <a:t> l’objet d’une  déclaration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préalable.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73709" algn="l"/>
                <a:tab pos="474345" algn="l"/>
              </a:tabLst>
            </a:pPr>
            <a:r>
              <a:rPr lang="fr-FR" sz="2800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 pseudo-code</a:t>
            </a:r>
            <a:r>
              <a:rPr lang="fr-FR" sz="2800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: la déclaration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variables est </a:t>
            </a:r>
            <a:r>
              <a:rPr sz="2800" spc="-10" dirty="0">
                <a:latin typeface="Times New Roman"/>
                <a:cs typeface="Times New Roman"/>
              </a:rPr>
              <a:t>effectuée </a:t>
            </a:r>
            <a:r>
              <a:rPr sz="2800" spc="-5" dirty="0">
                <a:latin typeface="Times New Roman"/>
                <a:cs typeface="Times New Roman"/>
              </a:rPr>
              <a:t>par la forme  suivante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</a:p>
          <a:p>
            <a:pPr marL="1344930">
              <a:lnSpc>
                <a:spcPct val="100000"/>
              </a:lnSpc>
            </a:pP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Variables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liste_identificateurs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: type</a:t>
            </a:r>
            <a:endParaRPr sz="2800" dirty="0">
              <a:latin typeface="Times New Roman"/>
              <a:cs typeface="Times New Roman"/>
            </a:endParaRPr>
          </a:p>
          <a:p>
            <a:pPr marL="384175" indent="-37211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sz="28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Exemple: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18615" algn="l"/>
              </a:tabLst>
            </a:pPr>
            <a:r>
              <a:rPr sz="2800" b="1" spc="-30" dirty="0">
                <a:latin typeface="Times New Roman"/>
                <a:cs typeface="Times New Roman"/>
              </a:rPr>
              <a:t>Variables	</a:t>
            </a:r>
            <a:r>
              <a:rPr sz="2800" dirty="0">
                <a:latin typeface="Times New Roman"/>
                <a:cs typeface="Times New Roman"/>
              </a:rPr>
              <a:t>i, j, k 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entier</a:t>
            </a:r>
            <a:endParaRPr sz="2800" dirty="0">
              <a:latin typeface="Times New Roman"/>
              <a:cs typeface="Times New Roman"/>
            </a:endParaRPr>
          </a:p>
          <a:p>
            <a:pPr marL="1548765" marR="7388225" indent="-26034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x, y : </a:t>
            </a:r>
            <a:r>
              <a:rPr sz="2800" spc="-5" dirty="0">
                <a:latin typeface="Times New Roman"/>
                <a:cs typeface="Times New Roman"/>
              </a:rPr>
              <a:t>réel  </a:t>
            </a:r>
            <a:r>
              <a:rPr sz="2800" dirty="0">
                <a:latin typeface="Times New Roman"/>
                <a:cs typeface="Times New Roman"/>
              </a:rPr>
              <a:t>OK: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booléen</a:t>
            </a:r>
            <a:endParaRPr sz="2800" dirty="0">
              <a:latin typeface="Times New Roman"/>
              <a:cs typeface="Times New Roman"/>
            </a:endParaRPr>
          </a:p>
          <a:p>
            <a:pPr marL="152273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Ch1, ch2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>
                <a:latin typeface="Times New Roman"/>
                <a:cs typeface="Times New Roman"/>
              </a:rPr>
              <a:t>chaîne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caractères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31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1012" y="799422"/>
            <a:ext cx="4951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Déclaration des</a:t>
            </a:r>
            <a:r>
              <a:rPr sz="3600" spc="-20" dirty="0"/>
              <a:t> </a:t>
            </a:r>
            <a:r>
              <a:rPr sz="3600" spc="-5" dirty="0"/>
              <a:t>variables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0321" y="1570693"/>
            <a:ext cx="10844530" cy="4506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Définition: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constante est une variable dont la valeur associée </a:t>
            </a:r>
            <a:r>
              <a:rPr sz="2800" dirty="0">
                <a:latin typeface="Times New Roman"/>
                <a:cs typeface="Times New Roman"/>
              </a:rPr>
              <a:t>ne </a:t>
            </a:r>
            <a:r>
              <a:rPr sz="2800" spc="-5" dirty="0">
                <a:latin typeface="Times New Roman"/>
                <a:cs typeface="Times New Roman"/>
              </a:rPr>
              <a:t>varie  pas au cours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programme.</a:t>
            </a:r>
            <a:endParaRPr sz="2800" dirty="0">
              <a:latin typeface="Times New Roman"/>
              <a:cs typeface="Times New Roman"/>
            </a:endParaRPr>
          </a:p>
          <a:p>
            <a:pPr marL="384175" indent="-37211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 pseudo-code</a:t>
            </a:r>
            <a:r>
              <a:rPr lang="fr-FR" sz="2800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1345565">
              <a:lnSpc>
                <a:spcPct val="100000"/>
              </a:lnSpc>
              <a:spcBef>
                <a:spcPts val="600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Constante nom_identificateur = valeur :</a:t>
            </a:r>
            <a:r>
              <a:rPr sz="2800" b="1" spc="-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type</a:t>
            </a:r>
            <a:endParaRPr sz="2800" dirty="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600"/>
              </a:spcBef>
            </a:pPr>
            <a:r>
              <a:rPr sz="2800" spc="-5" dirty="0">
                <a:latin typeface="Times New Roman"/>
                <a:cs typeface="Times New Roman"/>
              </a:rPr>
              <a:t>(par convention, les noms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constantes </a:t>
            </a:r>
            <a:r>
              <a:rPr sz="2800" dirty="0">
                <a:latin typeface="Times New Roman"/>
                <a:cs typeface="Times New Roman"/>
              </a:rPr>
              <a:t>sont </a:t>
            </a:r>
            <a:r>
              <a:rPr sz="2800" spc="-5" dirty="0">
                <a:latin typeface="Times New Roman"/>
                <a:cs typeface="Times New Roman"/>
              </a:rPr>
              <a:t>en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majuscules)</a:t>
            </a:r>
            <a:endParaRPr sz="2800" dirty="0">
              <a:latin typeface="Times New Roman"/>
              <a:cs typeface="Times New Roman"/>
            </a:endParaRPr>
          </a:p>
          <a:p>
            <a:pPr marL="384175" indent="-37147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</a:p>
          <a:p>
            <a:pPr marL="456565">
              <a:lnSpc>
                <a:spcPct val="100000"/>
              </a:lnSpc>
            </a:pPr>
            <a:r>
              <a:rPr lang="fr-FR" sz="2800" b="1" spc="-5" dirty="0">
                <a:latin typeface="Times New Roman"/>
                <a:cs typeface="Times New Roman"/>
              </a:rPr>
              <a:t>          </a:t>
            </a:r>
            <a:r>
              <a:rPr sz="2800" b="1" spc="-5" dirty="0" err="1">
                <a:latin typeface="Times New Roman"/>
                <a:cs typeface="Times New Roman"/>
              </a:rPr>
              <a:t>Constante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3.14 : </a:t>
            </a:r>
            <a:r>
              <a:rPr sz="2800" spc="-5" dirty="0" err="1">
                <a:latin typeface="Times New Roman"/>
                <a:cs typeface="Times New Roman"/>
              </a:rPr>
              <a:t>réel</a:t>
            </a:r>
            <a:endParaRPr lang="en-US" sz="2800" spc="-5" dirty="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</a:pPr>
            <a:r>
              <a:rPr lang="en-US" sz="2800" spc="-5" dirty="0">
                <a:latin typeface="Times New Roman"/>
                <a:cs typeface="Times New Roman"/>
              </a:rPr>
              <a:t>                             </a:t>
            </a:r>
            <a:r>
              <a:rPr sz="2800" spc="-5" dirty="0">
                <a:latin typeface="Times New Roman"/>
                <a:cs typeface="Times New Roman"/>
              </a:rPr>
              <a:t>MAX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lang="fr-FR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32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entier</a:t>
            </a:r>
            <a:endParaRPr sz="2800" dirty="0">
              <a:latin typeface="Times New Roman"/>
              <a:cs typeface="Times New Roman"/>
            </a:endParaRPr>
          </a:p>
          <a:p>
            <a:pPr marL="384175" indent="-37147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4810" algn="l"/>
              </a:tabLst>
            </a:pP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constante </a:t>
            </a:r>
            <a:r>
              <a:rPr sz="2800" dirty="0">
                <a:latin typeface="Times New Roman"/>
                <a:cs typeface="Times New Roman"/>
              </a:rPr>
              <a:t>doit toujours </a:t>
            </a:r>
            <a:r>
              <a:rPr sz="2800" spc="-5" dirty="0">
                <a:latin typeface="Times New Roman"/>
                <a:cs typeface="Times New Roman"/>
              </a:rPr>
              <a:t>recevoir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valeur dès </a:t>
            </a:r>
            <a:r>
              <a:rPr sz="2800" dirty="0">
                <a:latin typeface="Times New Roman"/>
                <a:cs typeface="Times New Roman"/>
              </a:rPr>
              <a:t>sa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déclaration.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32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59757" y="834746"/>
            <a:ext cx="270129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400" dirty="0" err="1"/>
              <a:t>C</a:t>
            </a:r>
            <a:r>
              <a:rPr sz="3400" spc="-5" dirty="0" err="1"/>
              <a:t>onstantes</a:t>
            </a:r>
            <a:endParaRPr sz="3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1008" y="1630273"/>
            <a:ext cx="10916285" cy="4614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Définition: </a:t>
            </a:r>
            <a:r>
              <a:rPr sz="2800" spc="-30" dirty="0">
                <a:latin typeface="Times New Roman"/>
                <a:cs typeface="Times New Roman"/>
              </a:rPr>
              <a:t>L’affectation </a:t>
            </a:r>
            <a:r>
              <a:rPr sz="2800" spc="-5" dirty="0">
                <a:latin typeface="Times New Roman"/>
                <a:cs typeface="Times New Roman"/>
              </a:rPr>
              <a:t>est l’opération qui consiste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attribuer une valeur </a:t>
            </a:r>
            <a:r>
              <a:rPr sz="2800" dirty="0">
                <a:latin typeface="Times New Roman"/>
                <a:cs typeface="Times New Roman"/>
              </a:rPr>
              <a:t>à  une </a:t>
            </a:r>
            <a:r>
              <a:rPr sz="2800" spc="-5" dirty="0">
                <a:latin typeface="Times New Roman"/>
                <a:cs typeface="Times New Roman"/>
              </a:rPr>
              <a:t>variable (</a:t>
            </a:r>
            <a:r>
              <a:rPr sz="2800" i="1" spc="-5" dirty="0">
                <a:solidFill>
                  <a:srgbClr val="00B0F0"/>
                </a:solidFill>
                <a:latin typeface="Times New Roman"/>
                <a:cs typeface="Times New Roman"/>
              </a:rPr>
              <a:t>variable </a:t>
            </a:r>
            <a:r>
              <a:rPr sz="2950" i="1" spc="-145" dirty="0">
                <a:solidFill>
                  <a:srgbClr val="00B0F0"/>
                </a:solidFill>
                <a:latin typeface="Wingdings"/>
                <a:cs typeface="Wingdings"/>
              </a:rPr>
              <a:t></a:t>
            </a:r>
            <a:r>
              <a:rPr sz="2950" i="1" spc="-114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lang="en-US" sz="2950" i="1" spc="-114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 err="1">
                <a:solidFill>
                  <a:srgbClr val="00B0F0"/>
                </a:solidFill>
                <a:latin typeface="Times New Roman"/>
                <a:cs typeface="Times New Roman"/>
              </a:rPr>
              <a:t>valeur</a:t>
            </a:r>
            <a:r>
              <a:rPr sz="3000" i="1" spc="-5" dirty="0">
                <a:latin typeface="Times New Roman"/>
                <a:cs typeface="Times New Roman"/>
              </a:rPr>
              <a:t>).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</a:pPr>
            <a:r>
              <a:rPr sz="2800" spc="-5" dirty="0">
                <a:latin typeface="Times New Roman"/>
                <a:cs typeface="Times New Roman"/>
              </a:rPr>
              <a:t>Le membre </a:t>
            </a:r>
            <a:r>
              <a:rPr sz="2800" dirty="0">
                <a:latin typeface="Times New Roman"/>
                <a:cs typeface="Times New Roman"/>
              </a:rPr>
              <a:t>de droite </a:t>
            </a:r>
            <a:r>
              <a:rPr sz="2800" spc="-5" dirty="0">
                <a:latin typeface="Times New Roman"/>
                <a:cs typeface="Times New Roman"/>
              </a:rPr>
              <a:t>peut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être:</a:t>
            </a:r>
            <a:endParaRPr sz="2800" dirty="0">
              <a:latin typeface="Times New Roman"/>
              <a:cs typeface="Times New Roman"/>
            </a:endParaRPr>
          </a:p>
          <a:p>
            <a:pPr marL="469900" marR="6350" lvl="1">
              <a:buFont typeface="Wingdings"/>
              <a:buChar char=""/>
              <a:tabLst>
                <a:tab pos="473075" algn="l"/>
                <a:tab pos="474345" algn="l"/>
                <a:tab pos="5895975" algn="l"/>
              </a:tabLst>
            </a:pPr>
            <a:r>
              <a:rPr lang="fr-FR" sz="2800" b="1" dirty="0">
                <a:latin typeface="Times New Roman"/>
                <a:cs typeface="Times New Roman"/>
              </a:rPr>
              <a:t>  </a:t>
            </a:r>
            <a:r>
              <a:rPr sz="2800" b="1" dirty="0" err="1">
                <a:latin typeface="Times New Roman"/>
                <a:cs typeface="Times New Roman"/>
              </a:rPr>
              <a:t>Une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constante </a:t>
            </a:r>
            <a:r>
              <a:rPr sz="2800" b="1" spc="-35" dirty="0">
                <a:latin typeface="Times New Roman"/>
                <a:cs typeface="Times New Roman"/>
              </a:rPr>
              <a:t>(Variable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Constante) : </a:t>
            </a:r>
            <a:r>
              <a:rPr sz="2800" spc="-5" dirty="0">
                <a:latin typeface="Times New Roman"/>
                <a:cs typeface="Times New Roman"/>
              </a:rPr>
              <a:t>La constante peut être d’un  </a:t>
            </a:r>
            <a:r>
              <a:rPr sz="2800" dirty="0">
                <a:latin typeface="Times New Roman"/>
                <a:cs typeface="Times New Roman"/>
              </a:rPr>
              <a:t>type </a:t>
            </a:r>
            <a:r>
              <a:rPr sz="2800" spc="-5" dirty="0">
                <a:latin typeface="Times New Roman"/>
                <a:cs typeface="Times New Roman"/>
              </a:rPr>
              <a:t>quelconque </a:t>
            </a:r>
            <a:r>
              <a:rPr sz="2800" spc="-15" dirty="0">
                <a:latin typeface="Times New Roman"/>
                <a:cs typeface="Times New Roman"/>
              </a:rPr>
              <a:t>(entier, </a:t>
            </a:r>
            <a:r>
              <a:rPr sz="2800" spc="-5" dirty="0">
                <a:latin typeface="Times New Roman"/>
                <a:cs typeface="Times New Roman"/>
              </a:rPr>
              <a:t>réel, booléen, chaine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caractères, tableau, </a:t>
            </a:r>
            <a:r>
              <a:rPr sz="2800" dirty="0">
                <a:latin typeface="Times New Roman"/>
                <a:cs typeface="Times New Roman"/>
              </a:rPr>
              <a:t>…).  </a:t>
            </a:r>
            <a:r>
              <a:rPr sz="2800" spc="-5" dirty="0">
                <a:latin typeface="Times New Roman"/>
                <a:cs typeface="Times New Roman"/>
              </a:rPr>
              <a:t>Exemple: </a:t>
            </a:r>
            <a:r>
              <a:rPr lang="en-US" sz="2800" spc="-5" dirty="0">
                <a:latin typeface="Times New Roman"/>
                <a:cs typeface="Times New Roman"/>
              </a:rPr>
              <a:t>X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dirty="0">
                <a:latin typeface="Times New Roman"/>
                <a:cs typeface="Times New Roman"/>
              </a:rPr>
              <a:t> 30, </a:t>
            </a:r>
            <a:r>
              <a:rPr sz="2800" spc="-5" dirty="0">
                <a:latin typeface="Times New Roman"/>
                <a:cs typeface="Times New Roman"/>
              </a:rPr>
              <a:t>chaine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"salut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",	reponse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45" dirty="0" err="1">
                <a:latin typeface="Times New Roman"/>
                <a:cs typeface="Times New Roman"/>
              </a:rPr>
              <a:t>Vrai</a:t>
            </a:r>
            <a:r>
              <a:rPr lang="en-US" sz="2800" spc="-4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929640" lvl="1" indent="-460375">
              <a:spcBef>
                <a:spcPts val="1800"/>
              </a:spcBef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sz="2800" b="1" dirty="0">
                <a:latin typeface="Times New Roman"/>
                <a:cs typeface="Times New Roman"/>
              </a:rPr>
              <a:t>Une </a:t>
            </a:r>
            <a:r>
              <a:rPr sz="2800" b="1" spc="-10" dirty="0">
                <a:latin typeface="Times New Roman"/>
                <a:cs typeface="Times New Roman"/>
              </a:rPr>
              <a:t>expression </a:t>
            </a:r>
            <a:r>
              <a:rPr sz="2800" b="1" dirty="0">
                <a:latin typeface="Times New Roman"/>
                <a:cs typeface="Times New Roman"/>
              </a:rPr>
              <a:t>évaluable </a:t>
            </a:r>
            <a:r>
              <a:rPr sz="2800" b="1" spc="-30" dirty="0">
                <a:latin typeface="Times New Roman"/>
                <a:cs typeface="Times New Roman"/>
              </a:rPr>
              <a:t>(Variable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Expression)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469900" lvl="1"/>
            <a:r>
              <a:rPr sz="2800" spc="-5" dirty="0">
                <a:latin typeface="Times New Roman"/>
                <a:cs typeface="Times New Roman"/>
              </a:rPr>
              <a:t>une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opération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arithmétique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(x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*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9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–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6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*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7),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appel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fonction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endParaRPr lang="fr-FR" sz="2800" spc="114" dirty="0">
              <a:latin typeface="Times New Roman"/>
              <a:cs typeface="Times New Roman"/>
            </a:endParaRPr>
          </a:p>
          <a:p>
            <a:pPr marL="469900" lvl="1"/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</a:t>
            </a:r>
            <a:r>
              <a:rPr sz="2800" dirty="0">
                <a:latin typeface="Times New Roman"/>
                <a:cs typeface="Times New Roman"/>
              </a:rPr>
              <a:t>sin(x)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) ou toute </a:t>
            </a:r>
            <a:r>
              <a:rPr sz="2800" spc="-5" dirty="0">
                <a:latin typeface="Times New Roman"/>
                <a:cs typeface="Times New Roman"/>
              </a:rPr>
              <a:t>autre combinaison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évaluable.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33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07026" y="799422"/>
            <a:ext cx="2521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30" dirty="0"/>
              <a:t>A</a:t>
            </a:r>
            <a:r>
              <a:rPr sz="3600" spc="-30" dirty="0"/>
              <a:t>ffectation</a:t>
            </a:r>
            <a:endParaRPr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40429" y="1441182"/>
            <a:ext cx="11378571" cy="49239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2860" marR="5274945">
              <a:lnSpc>
                <a:spcPct val="102000"/>
              </a:lnSpc>
              <a:spcBef>
                <a:spcPts val="35"/>
              </a:spcBef>
              <a:buFont typeface="Wingdings"/>
              <a:buChar char=""/>
              <a:tabLst>
                <a:tab pos="466725" algn="l"/>
                <a:tab pos="467995" algn="l"/>
                <a:tab pos="3390900" algn="l"/>
              </a:tabLst>
            </a:pPr>
            <a:r>
              <a:rPr lang="fr-FR" b="1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b="1" dirty="0" err="1">
                <a:solidFill>
                  <a:srgbClr val="FF0000"/>
                </a:solidFill>
                <a:latin typeface="Times New Roman"/>
                <a:cs typeface="Times New Roman"/>
              </a:rPr>
              <a:t>Méthode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fausse</a:t>
            </a:r>
            <a:r>
              <a:rPr lang="fr-FR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lang="fr-FR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  <a:p>
            <a:pPr marL="22860" marR="5274945">
              <a:lnSpc>
                <a:spcPct val="102000"/>
              </a:lnSpc>
              <a:spcBef>
                <a:spcPts val="35"/>
              </a:spcBef>
              <a:tabLst>
                <a:tab pos="466725" algn="l"/>
                <a:tab pos="467995" algn="l"/>
                <a:tab pos="3390900" algn="l"/>
              </a:tabLst>
            </a:pPr>
            <a:r>
              <a:rPr lang="fr-FR" dirty="0"/>
              <a:t>permutation de x et y </a:t>
            </a:r>
            <a:r>
              <a:rPr lang="fr-FR" b="1" spc="-5" dirty="0"/>
              <a:t>(</a:t>
            </a:r>
            <a:r>
              <a:rPr dirty="0"/>
              <a:t>x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dirty="0"/>
              <a:t> y </a:t>
            </a:r>
            <a:r>
              <a:rPr spc="-5" dirty="0"/>
              <a:t>et </a:t>
            </a:r>
            <a:r>
              <a:rPr dirty="0"/>
              <a:t>y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lang="fr-FR" spc="-125" dirty="0"/>
              <a:t> x)</a:t>
            </a:r>
            <a:r>
              <a:rPr lang="fr-FR" dirty="0"/>
              <a:t>  </a:t>
            </a:r>
          </a:p>
          <a:p>
            <a:pPr marL="22860" marR="5274945">
              <a:lnSpc>
                <a:spcPct val="102000"/>
              </a:lnSpc>
              <a:spcBef>
                <a:spcPts val="35"/>
              </a:spcBef>
              <a:tabLst>
                <a:tab pos="466725" algn="l"/>
                <a:tab pos="467995" algn="l"/>
                <a:tab pos="3390900" algn="l"/>
              </a:tabLst>
            </a:pPr>
            <a:r>
              <a:rPr dirty="0" err="1"/>
              <a:t>Supposons</a:t>
            </a:r>
            <a:r>
              <a:rPr dirty="0"/>
              <a:t> que x = 10 </a:t>
            </a:r>
            <a:r>
              <a:rPr spc="-5" dirty="0"/>
              <a:t>et </a:t>
            </a:r>
            <a:r>
              <a:rPr dirty="0"/>
              <a:t>y =</a:t>
            </a:r>
            <a:r>
              <a:rPr spc="-125" dirty="0"/>
              <a:t> </a:t>
            </a:r>
            <a:r>
              <a:rPr dirty="0"/>
              <a:t>20.</a:t>
            </a:r>
          </a:p>
          <a:p>
            <a:pPr marL="536575" indent="-514350">
              <a:lnSpc>
                <a:spcPct val="100000"/>
              </a:lnSpc>
              <a:buAutoNum type="arabicPeriod"/>
              <a:tabLst>
                <a:tab pos="536575" algn="l"/>
                <a:tab pos="537210" algn="l"/>
              </a:tabLst>
            </a:pPr>
            <a:r>
              <a:rPr dirty="0"/>
              <a:t>x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dirty="0"/>
              <a:t> y : </a:t>
            </a:r>
            <a:r>
              <a:rPr spc="-5" dirty="0"/>
              <a:t>évalue </a:t>
            </a:r>
            <a:r>
              <a:rPr dirty="0"/>
              <a:t>y puis </a:t>
            </a:r>
            <a:r>
              <a:rPr spc="-5" dirty="0"/>
              <a:t>attribue </a:t>
            </a:r>
            <a:r>
              <a:rPr dirty="0"/>
              <a:t>la </a:t>
            </a:r>
            <a:r>
              <a:rPr spc="-5" dirty="0"/>
              <a:t>valeur </a:t>
            </a:r>
            <a:r>
              <a:rPr dirty="0"/>
              <a:t>de y (20) à x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dirty="0">
                <a:solidFill>
                  <a:srgbClr val="0070C0"/>
                </a:solidFill>
              </a:rPr>
              <a:t>x = 20</a:t>
            </a:r>
            <a:r>
              <a:rPr spc="-165" dirty="0">
                <a:solidFill>
                  <a:srgbClr val="0070C0"/>
                </a:solidFill>
              </a:rPr>
              <a:t> </a:t>
            </a:r>
            <a:r>
              <a:rPr spc="-5" dirty="0" err="1">
                <a:solidFill>
                  <a:srgbClr val="0070C0"/>
                </a:solidFill>
              </a:rPr>
              <a:t>maintenant</a:t>
            </a:r>
            <a:r>
              <a:rPr lang="en-US" spc="-5" dirty="0">
                <a:solidFill>
                  <a:srgbClr val="0070C0"/>
                </a:solidFill>
              </a:rPr>
              <a:t>)</a:t>
            </a:r>
            <a:endParaRPr spc="-5" dirty="0">
              <a:solidFill>
                <a:srgbClr val="0070C0"/>
              </a:solidFill>
            </a:endParaRPr>
          </a:p>
          <a:p>
            <a:pPr marL="536575" indent="-514984">
              <a:buFontTx/>
              <a:buAutoNum type="arabicPeriod"/>
              <a:tabLst>
                <a:tab pos="536575" algn="l"/>
                <a:tab pos="537210" algn="l"/>
              </a:tabLst>
            </a:pPr>
            <a:r>
              <a:rPr dirty="0"/>
              <a:t>y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dirty="0"/>
              <a:t> x : </a:t>
            </a:r>
            <a:r>
              <a:rPr spc="-5" dirty="0"/>
              <a:t>évalue </a:t>
            </a:r>
            <a:r>
              <a:rPr dirty="0"/>
              <a:t>x puis </a:t>
            </a:r>
            <a:r>
              <a:rPr spc="-5" dirty="0"/>
              <a:t>attribue </a:t>
            </a:r>
            <a:r>
              <a:rPr dirty="0"/>
              <a:t>la </a:t>
            </a:r>
            <a:r>
              <a:rPr spc="-5" dirty="0"/>
              <a:t>valeur </a:t>
            </a:r>
            <a:r>
              <a:rPr dirty="0"/>
              <a:t>de x (20) à</a:t>
            </a:r>
            <a:r>
              <a:rPr spc="-170" dirty="0"/>
              <a:t> </a:t>
            </a:r>
            <a:r>
              <a:rPr spc="-90" dirty="0"/>
              <a:t>y.</a:t>
            </a:r>
            <a:r>
              <a:rPr lang="en-US" spc="-90" dirty="0"/>
              <a:t> </a:t>
            </a:r>
            <a:r>
              <a:rPr lang="en-US" dirty="0">
                <a:solidFill>
                  <a:srgbClr val="0070C0"/>
                </a:solidFill>
              </a:rPr>
              <a:t>(y = 20</a:t>
            </a:r>
            <a:r>
              <a:rPr lang="en-US" spc="-165" dirty="0">
                <a:solidFill>
                  <a:srgbClr val="0070C0"/>
                </a:solidFill>
              </a:rPr>
              <a:t> </a:t>
            </a:r>
            <a:r>
              <a:rPr lang="en-US" spc="-5" dirty="0" err="1">
                <a:solidFill>
                  <a:srgbClr val="0070C0"/>
                </a:solidFill>
              </a:rPr>
              <a:t>maintenant</a:t>
            </a:r>
            <a:r>
              <a:rPr lang="en-US" spc="-5" dirty="0">
                <a:solidFill>
                  <a:srgbClr val="0070C0"/>
                </a:solidFill>
              </a:rPr>
              <a:t>)</a:t>
            </a:r>
            <a:endParaRPr spc="-90" dirty="0"/>
          </a:p>
          <a:p>
            <a:pPr marL="22225">
              <a:lnSpc>
                <a:spcPct val="100000"/>
              </a:lnSpc>
              <a:tabLst>
                <a:tab pos="537210" algn="l"/>
              </a:tabLst>
            </a:pPr>
            <a:r>
              <a:rPr dirty="0">
                <a:latin typeface="Symbol"/>
                <a:cs typeface="Symbol"/>
              </a:rPr>
              <a:t></a:t>
            </a:r>
            <a:r>
              <a:rPr dirty="0"/>
              <a:t>	x </a:t>
            </a:r>
            <a:r>
              <a:rPr spc="-5" dirty="0"/>
              <a:t>et </a:t>
            </a:r>
            <a:r>
              <a:rPr dirty="0"/>
              <a:t>y sont donc </a:t>
            </a:r>
            <a:r>
              <a:rPr spc="-5" dirty="0"/>
              <a:t>identiques et </a:t>
            </a:r>
            <a:r>
              <a:rPr dirty="0"/>
              <a:t>non </a:t>
            </a:r>
            <a:r>
              <a:rPr spc="-5" dirty="0"/>
              <a:t>permutées</a:t>
            </a:r>
            <a:r>
              <a:rPr spc="-135" dirty="0"/>
              <a:t> </a:t>
            </a:r>
            <a:r>
              <a:rPr dirty="0"/>
              <a:t>!</a:t>
            </a:r>
          </a:p>
          <a:p>
            <a:pPr marL="22860" marR="5080" algn="just">
              <a:lnSpc>
                <a:spcPct val="100000"/>
              </a:lnSpc>
              <a:spcBef>
                <a:spcPts val="1195"/>
              </a:spcBef>
              <a:buFont typeface="Wingdings"/>
              <a:buChar char=""/>
              <a:tabLst>
                <a:tab pos="394970" algn="l"/>
              </a:tabLst>
            </a:pPr>
            <a:r>
              <a:rPr lang="fr-FR" b="1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b="1" dirty="0" err="1">
                <a:solidFill>
                  <a:srgbClr val="00B050"/>
                </a:solidFill>
                <a:latin typeface="Times New Roman"/>
                <a:cs typeface="Times New Roman"/>
              </a:rPr>
              <a:t>Méthode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b="1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juste</a:t>
            </a:r>
            <a:r>
              <a:rPr b="1" spc="-5" dirty="0">
                <a:solidFill>
                  <a:srgbClr val="00B050"/>
                </a:solidFill>
                <a:latin typeface="Times New Roman"/>
                <a:cs typeface="Times New Roman"/>
              </a:rPr>
              <a:t>: </a:t>
            </a:r>
            <a:r>
              <a:rPr dirty="0"/>
              <a:t>Pour </a:t>
            </a:r>
            <a:r>
              <a:rPr spc="-10" dirty="0"/>
              <a:t>effectuer </a:t>
            </a:r>
            <a:r>
              <a:rPr dirty="0"/>
              <a:t>la </a:t>
            </a:r>
            <a:r>
              <a:rPr spc="-5" dirty="0"/>
              <a:t>permutation, </a:t>
            </a:r>
            <a:r>
              <a:rPr dirty="0"/>
              <a:t>il </a:t>
            </a:r>
            <a:r>
              <a:rPr spc="-5" dirty="0"/>
              <a:t>faut utiliser </a:t>
            </a:r>
            <a:r>
              <a:rPr dirty="0"/>
              <a:t>une </a:t>
            </a:r>
            <a:r>
              <a:rPr spc="-5" dirty="0"/>
              <a:t>variable  </a:t>
            </a:r>
            <a:r>
              <a:rPr spc="-5" dirty="0" err="1"/>
              <a:t>temporaire</a:t>
            </a:r>
            <a:r>
              <a:rPr spc="-5" dirty="0"/>
              <a:t> (Ex: </a:t>
            </a:r>
            <a:r>
              <a:rPr dirty="0"/>
              <a:t>tmp)</a:t>
            </a:r>
            <a:r>
              <a:rPr spc="-35" dirty="0"/>
              <a:t> </a:t>
            </a:r>
            <a:r>
              <a:rPr dirty="0"/>
              <a:t>:</a:t>
            </a:r>
          </a:p>
          <a:p>
            <a:pPr marL="480059" marR="9125585">
              <a:lnSpc>
                <a:spcPct val="100000"/>
              </a:lnSpc>
            </a:pPr>
            <a:r>
              <a:rPr spc="-5" dirty="0"/>
              <a:t>tmp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spc="-105" dirty="0"/>
              <a:t> </a:t>
            </a:r>
            <a:r>
              <a:rPr dirty="0"/>
              <a:t>x  </a:t>
            </a:r>
            <a:r>
              <a:rPr dirty="0" err="1"/>
              <a:t>x</a:t>
            </a:r>
            <a:r>
              <a:rPr dirty="0">
                <a:latin typeface="Wingdings"/>
                <a:cs typeface="Wingdings"/>
              </a:rPr>
              <a:t></a:t>
            </a:r>
            <a:r>
              <a:rPr spc="-55" dirty="0"/>
              <a:t> </a:t>
            </a:r>
            <a:r>
              <a:rPr dirty="0"/>
              <a:t>y</a:t>
            </a:r>
          </a:p>
          <a:p>
            <a:pPr marL="480059">
              <a:lnSpc>
                <a:spcPct val="100000"/>
              </a:lnSpc>
            </a:pPr>
            <a:r>
              <a:rPr dirty="0"/>
              <a:t>y </a:t>
            </a:r>
            <a:r>
              <a:rPr dirty="0">
                <a:latin typeface="Wingdings"/>
                <a:cs typeface="Wingdings"/>
              </a:rPr>
              <a:t></a:t>
            </a:r>
            <a:r>
              <a:rPr spc="-25" dirty="0"/>
              <a:t> </a:t>
            </a:r>
            <a:r>
              <a:rPr spc="-5" dirty="0"/>
              <a:t>tmp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94107" y="720389"/>
            <a:ext cx="7717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dirty="0"/>
              <a:t>A</a:t>
            </a:r>
            <a:r>
              <a:rPr spc="-25" dirty="0"/>
              <a:t>ffectation: </a:t>
            </a:r>
            <a:r>
              <a:rPr spc="-5" dirty="0"/>
              <a:t>Permutation de deux</a:t>
            </a:r>
            <a:r>
              <a:rPr spc="-10" dirty="0"/>
              <a:t> </a:t>
            </a:r>
            <a:r>
              <a:rPr spc="-15" dirty="0"/>
              <a:t>nombres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0706" y="734421"/>
            <a:ext cx="53714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Syntaxe </a:t>
            </a:r>
            <a:r>
              <a:rPr sz="3000" dirty="0"/>
              <a:t>générale </a:t>
            </a:r>
            <a:r>
              <a:rPr sz="3000" spc="-5" dirty="0"/>
              <a:t>de</a:t>
            </a:r>
            <a:r>
              <a:rPr sz="3000" spc="-50" dirty="0"/>
              <a:t> </a:t>
            </a:r>
            <a:r>
              <a:rPr sz="3000" dirty="0"/>
              <a:t>l’algorithme</a:t>
            </a:r>
            <a:endParaRPr sz="3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35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74800" y="1536854"/>
            <a:ext cx="9009380" cy="4711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800"/>
              </a:spcAft>
            </a:pPr>
            <a:r>
              <a:rPr sz="2800" b="1" dirty="0">
                <a:latin typeface="Times New Roman"/>
                <a:cs typeface="Times New Roman"/>
              </a:rPr>
              <a:t>Algorithme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nom_algorithme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/*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La partie déclaration des constantes et des variables</a:t>
            </a:r>
            <a:r>
              <a:rPr sz="2800" spc="-7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*/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b="1" i="1" spc="-5" dirty="0" err="1">
                <a:latin typeface="Times New Roman"/>
                <a:cs typeface="Times New Roman"/>
              </a:rPr>
              <a:t>Constantes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var1</a:t>
            </a:r>
            <a:r>
              <a:rPr lang="fr-FR" sz="2800" dirty="0">
                <a:latin typeface="Times New Roman"/>
                <a:cs typeface="Times New Roman"/>
              </a:rPr>
              <a:t> = </a:t>
            </a:r>
            <a:r>
              <a:rPr sz="2800" dirty="0">
                <a:latin typeface="Times New Roman"/>
                <a:cs typeface="Times New Roman"/>
              </a:rPr>
              <a:t>20 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entier</a:t>
            </a:r>
            <a:endParaRPr sz="2800" dirty="0">
              <a:latin typeface="Times New Roman"/>
              <a:cs typeface="Times New Roman"/>
            </a:endParaRPr>
          </a:p>
          <a:p>
            <a:pPr marL="2615565">
              <a:lnSpc>
                <a:spcPct val="100000"/>
              </a:lnSpc>
              <a:spcAft>
                <a:spcPts val="800"/>
              </a:spcAft>
            </a:pPr>
            <a:r>
              <a:rPr lang="fr-FR" sz="2800" spc="-5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ar2</a:t>
            </a:r>
            <a:r>
              <a:rPr lang="fr-FR" sz="2800" spc="-5" dirty="0">
                <a:latin typeface="Times New Roman"/>
                <a:cs typeface="Times New Roman"/>
              </a:rPr>
              <a:t> = </a:t>
            </a:r>
            <a:r>
              <a:rPr sz="2800" spc="-5" dirty="0">
                <a:latin typeface="Times New Roman"/>
                <a:cs typeface="Times New Roman"/>
              </a:rPr>
              <a:t>"bonjour!"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 err="1">
                <a:latin typeface="Times New Roman"/>
                <a:cs typeface="Times New Roman"/>
              </a:rPr>
              <a:t>chaîne</a:t>
            </a:r>
            <a:r>
              <a:rPr lang="en-US" sz="2800" spc="-110" dirty="0">
                <a:latin typeface="Times New Roman"/>
                <a:cs typeface="Times New Roman"/>
              </a:rPr>
              <a:t> de </a:t>
            </a:r>
            <a:r>
              <a:rPr lang="en-US" sz="2800" spc="-110" dirty="0" err="1">
                <a:latin typeface="Times New Roman"/>
                <a:cs typeface="Times New Roman"/>
              </a:rPr>
              <a:t>caractères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b="1" i="1" spc="-40" dirty="0">
                <a:latin typeface="Times New Roman"/>
                <a:cs typeface="Times New Roman"/>
              </a:rPr>
              <a:t>Variables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var3, var4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réels</a:t>
            </a:r>
            <a:endParaRPr sz="2800" dirty="0">
              <a:latin typeface="Times New Roman"/>
              <a:cs typeface="Times New Roman"/>
            </a:endParaRPr>
          </a:p>
          <a:p>
            <a:pPr marL="2348865">
              <a:lnSpc>
                <a:spcPct val="100000"/>
              </a:lnSpc>
              <a:spcAft>
                <a:spcPts val="800"/>
              </a:spcAft>
            </a:pPr>
            <a:r>
              <a:rPr sz="2800" spc="-5" dirty="0">
                <a:latin typeface="Times New Roman"/>
                <a:cs typeface="Times New Roman"/>
              </a:rPr>
              <a:t>var5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chaîne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b="1" spc="-5" dirty="0">
                <a:latin typeface="Times New Roman"/>
                <a:cs typeface="Times New Roman"/>
              </a:rPr>
              <a:t>Début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/*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corps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de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l’algorithme </a:t>
            </a:r>
            <a:r>
              <a:rPr sz="2800" dirty="0">
                <a:solidFill>
                  <a:srgbClr val="00B050"/>
                </a:solidFill>
                <a:latin typeface="Wingdings"/>
                <a:cs typeface="Wingdings"/>
              </a:rPr>
              <a:t>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les instructions</a:t>
            </a:r>
            <a:r>
              <a:rPr sz="2800" spc="-9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*/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Aft>
                <a:spcPts val="800"/>
              </a:spcAft>
            </a:pPr>
            <a:r>
              <a:rPr sz="2800" b="1" spc="-5" dirty="0">
                <a:latin typeface="Times New Roman"/>
                <a:cs typeface="Times New Roman"/>
              </a:rPr>
              <a:t>Fin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13741" y="609600"/>
            <a:ext cx="339045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Exercice</a:t>
            </a:r>
            <a:r>
              <a:rPr sz="4000" spc="-50" dirty="0"/>
              <a:t> </a:t>
            </a:r>
            <a:r>
              <a:rPr sz="4000" dirty="0"/>
              <a:t>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1052" y="1066800"/>
            <a:ext cx="10886948" cy="5470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332230" algn="l"/>
                <a:tab pos="1941195" algn="l"/>
                <a:tab pos="3181350" algn="l"/>
                <a:tab pos="3869690" algn="l"/>
                <a:tab pos="5365750" algn="l"/>
                <a:tab pos="5926455" algn="l"/>
                <a:tab pos="6377940" algn="l"/>
                <a:tab pos="6848475" algn="l"/>
                <a:tab pos="7299325" algn="l"/>
                <a:tab pos="8263255" algn="l"/>
                <a:tab pos="9857740" algn="l"/>
              </a:tabLst>
            </a:pP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z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	v</a:t>
            </a:r>
            <a:r>
              <a:rPr sz="2800" spc="-10" dirty="0">
                <a:latin typeface="Times New Roman"/>
                <a:cs typeface="Times New Roman"/>
              </a:rPr>
              <a:t>ale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rs	</a:t>
            </a:r>
            <a:r>
              <a:rPr sz="2800" spc="-5" dirty="0">
                <a:latin typeface="Times New Roman"/>
                <a:cs typeface="Times New Roman"/>
              </a:rPr>
              <a:t>de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va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ia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	A,	B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t	C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è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10" dirty="0">
                <a:latin typeface="Times New Roman"/>
                <a:cs typeface="Times New Roman"/>
              </a:rPr>
              <a:t>é</a:t>
            </a:r>
            <a:r>
              <a:rPr sz="2800" spc="-5" dirty="0">
                <a:latin typeface="Times New Roman"/>
                <a:cs typeface="Times New Roman"/>
              </a:rPr>
              <a:t>cu</a:t>
            </a:r>
            <a:r>
              <a:rPr sz="2800" spc="-10" dirty="0">
                <a:latin typeface="Times New Roman"/>
                <a:cs typeface="Times New Roman"/>
              </a:rPr>
              <a:t>ti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es  </a:t>
            </a:r>
            <a:r>
              <a:rPr sz="2800" spc="-5" dirty="0">
                <a:latin typeface="Times New Roman"/>
                <a:cs typeface="Times New Roman"/>
              </a:rPr>
              <a:t>instructions suivantes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?</a:t>
            </a:r>
          </a:p>
          <a:p>
            <a:pPr marL="469900" marR="6125845">
              <a:lnSpc>
                <a:spcPct val="100000"/>
              </a:lnSpc>
              <a:spcBef>
                <a:spcPts val="1080"/>
              </a:spcBef>
            </a:pPr>
            <a:r>
              <a:rPr lang="en-US" sz="2800" b="1" spc="-5" dirty="0" err="1">
                <a:latin typeface="Times New Roman"/>
                <a:cs typeface="Times New Roman"/>
              </a:rPr>
              <a:t>Algorithme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5" dirty="0" err="1">
                <a:latin typeface="Times New Roman"/>
                <a:cs typeface="Times New Roman"/>
              </a:rPr>
              <a:t>nom_algorithme</a:t>
            </a:r>
            <a:endParaRPr lang="en-US" sz="2800" b="1" spc="-30" dirty="0">
              <a:latin typeface="Times New Roman"/>
              <a:cs typeface="Times New Roman"/>
            </a:endParaRPr>
          </a:p>
          <a:p>
            <a:pPr marL="469900" marR="6125845">
              <a:lnSpc>
                <a:spcPct val="100000"/>
              </a:lnSpc>
              <a:spcBef>
                <a:spcPts val="1080"/>
              </a:spcBef>
            </a:pPr>
            <a:r>
              <a:rPr sz="2800" b="1" spc="-30" dirty="0">
                <a:latin typeface="Times New Roman"/>
                <a:cs typeface="Times New Roman"/>
              </a:rPr>
              <a:t>Variables </a:t>
            </a:r>
            <a:r>
              <a:rPr sz="2800" dirty="0">
                <a:latin typeface="Times New Roman"/>
                <a:cs typeface="Times New Roman"/>
              </a:rPr>
              <a:t>A, </a:t>
            </a:r>
            <a:r>
              <a:rPr sz="2800" spc="-5" dirty="0">
                <a:latin typeface="Times New Roman"/>
                <a:cs typeface="Times New Roman"/>
              </a:rPr>
              <a:t>B, C: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Entier  Début</a:t>
            </a:r>
            <a:endParaRPr sz="2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 ←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</a:t>
            </a:r>
          </a:p>
          <a:p>
            <a:pPr marL="4699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B ←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17</a:t>
            </a:r>
          </a:p>
          <a:p>
            <a:pPr marL="4699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 ←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</a:p>
          <a:p>
            <a:pPr marL="469900" marR="826262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B ← </a:t>
            </a:r>
            <a:r>
              <a:rPr sz="2800" spc="-5" dirty="0">
                <a:latin typeface="Times New Roman"/>
                <a:cs typeface="Times New Roman"/>
              </a:rPr>
              <a:t>A+5  </a:t>
            </a:r>
            <a:endParaRPr lang="en-US" sz="2800" spc="-5" dirty="0">
              <a:latin typeface="Times New Roman"/>
              <a:cs typeface="Times New Roman"/>
            </a:endParaRPr>
          </a:p>
          <a:p>
            <a:pPr marL="469900" marR="826262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C ← A +</a:t>
            </a:r>
            <a:r>
              <a:rPr sz="2800" spc="-43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  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826262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C ← B –</a:t>
            </a:r>
            <a:r>
              <a:rPr sz="2800" spc="-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</a:p>
          <a:p>
            <a:pPr marL="469900">
              <a:lnSpc>
                <a:spcPts val="3360"/>
              </a:lnSpc>
            </a:pPr>
            <a:r>
              <a:rPr sz="2800" b="1" spc="-5" dirty="0">
                <a:latin typeface="Times New Roman"/>
                <a:cs typeface="Times New Roman"/>
              </a:rPr>
              <a:t>Fin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5092" y="1382463"/>
            <a:ext cx="12116308" cy="433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Donnez les valeurs des variables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dirty="0">
                <a:latin typeface="Times New Roman"/>
                <a:cs typeface="Times New Roman"/>
              </a:rPr>
              <a:t>B </a:t>
            </a:r>
            <a:r>
              <a:rPr sz="2800" spc="-5" dirty="0">
                <a:latin typeface="Times New Roman"/>
                <a:cs typeface="Times New Roman"/>
              </a:rPr>
              <a:t>après exécution des instructions  suivantes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?</a:t>
            </a:r>
          </a:p>
          <a:p>
            <a:pPr marL="469900" marR="6450965" indent="-635" algn="just"/>
            <a:r>
              <a:rPr lang="en-US" sz="2800" b="1" spc="-5" dirty="0" err="1">
                <a:latin typeface="Times New Roman"/>
                <a:cs typeface="Times New Roman"/>
              </a:rPr>
              <a:t>Algorithme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5" dirty="0" err="1">
                <a:latin typeface="Times New Roman"/>
                <a:cs typeface="Times New Roman"/>
              </a:rPr>
              <a:t>nom_algorithme</a:t>
            </a:r>
            <a:endParaRPr lang="en-US" sz="2800" b="1" spc="-30" dirty="0">
              <a:latin typeface="Times New Roman"/>
              <a:cs typeface="Times New Roman"/>
            </a:endParaRPr>
          </a:p>
          <a:p>
            <a:pPr marL="469900" marR="6450965" indent="-635" algn="just">
              <a:lnSpc>
                <a:spcPct val="100000"/>
              </a:lnSpc>
            </a:pPr>
            <a:r>
              <a:rPr sz="2800" b="1" spc="-30" dirty="0">
                <a:latin typeface="Times New Roman"/>
                <a:cs typeface="Times New Roman"/>
              </a:rPr>
              <a:t>Variables </a:t>
            </a:r>
            <a:r>
              <a:rPr sz="2800" dirty="0">
                <a:latin typeface="Times New Roman"/>
                <a:cs typeface="Times New Roman"/>
              </a:rPr>
              <a:t>A, B :</a:t>
            </a:r>
            <a:r>
              <a:rPr sz="2800" spc="-229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Times New Roman"/>
                <a:cs typeface="Times New Roman"/>
              </a:rPr>
              <a:t>Entier</a:t>
            </a:r>
            <a:r>
              <a:rPr sz="2800" b="1" spc="-5" dirty="0">
                <a:latin typeface="Times New Roman"/>
                <a:cs typeface="Times New Roman"/>
              </a:rPr>
              <a:t>  </a:t>
            </a:r>
            <a:endParaRPr lang="en-US" sz="2800" b="1" spc="-5" dirty="0">
              <a:latin typeface="Times New Roman"/>
              <a:cs typeface="Times New Roman"/>
            </a:endParaRPr>
          </a:p>
          <a:p>
            <a:pPr marL="469900" marR="6450965" indent="-635" algn="just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Début</a:t>
            </a:r>
            <a:endParaRPr sz="28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 ←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</a:p>
          <a:p>
            <a:pPr marL="469900" marR="8856345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B ← 2  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8856345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 ←</a:t>
            </a:r>
            <a:r>
              <a:rPr sz="2800" spc="-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  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8856345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B ←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 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8856345" algn="just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Fin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ts val="3360"/>
              </a:lnSpc>
              <a:spcBef>
                <a:spcPts val="110"/>
              </a:spcBef>
            </a:pPr>
            <a:r>
              <a:rPr sz="2800" spc="-5" dirty="0">
                <a:latin typeface="Times New Roman"/>
                <a:cs typeface="Times New Roman"/>
              </a:rPr>
              <a:t>Les deux dernières instructions permettent-elles d’échanger </a:t>
            </a:r>
            <a:r>
              <a:rPr sz="2800" spc="-10" dirty="0">
                <a:latin typeface="Times New Roman"/>
                <a:cs typeface="Times New Roman"/>
              </a:rPr>
              <a:t>les </a:t>
            </a:r>
            <a:r>
              <a:rPr sz="2800" spc="-5" dirty="0">
                <a:latin typeface="Times New Roman"/>
                <a:cs typeface="Times New Roman"/>
              </a:rPr>
              <a:t>valeurs  </a:t>
            </a:r>
            <a:r>
              <a:rPr sz="2800" dirty="0">
                <a:latin typeface="Times New Roman"/>
                <a:cs typeface="Times New Roman"/>
              </a:rPr>
              <a:t>de A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37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0" name="object 5"/>
          <p:cNvSpPr txBox="1">
            <a:spLocks/>
          </p:cNvSpPr>
          <p:nvPr/>
        </p:nvSpPr>
        <p:spPr>
          <a:xfrm>
            <a:off x="4813741" y="734421"/>
            <a:ext cx="339045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Exercice</a:t>
            </a:r>
            <a:r>
              <a:rPr kumimoji="0" lang="fr-FR" sz="4000" b="1" i="0" u="none" strike="noStrike" kern="0" cap="none" spc="-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 </a:t>
            </a:r>
            <a:r>
              <a:rPr kumimoji="0" lang="fr-FR" sz="4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44246" y="902401"/>
            <a:ext cx="646938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/>
              <a:t>Incrémentation </a:t>
            </a:r>
            <a:r>
              <a:rPr sz="3400" dirty="0"/>
              <a:t>vs.</a:t>
            </a:r>
            <a:r>
              <a:rPr sz="3400" spc="20" dirty="0"/>
              <a:t> </a:t>
            </a:r>
            <a:r>
              <a:rPr sz="3400" spc="-5" dirty="0"/>
              <a:t>décrémentation</a:t>
            </a:r>
            <a:endParaRPr sz="3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38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3909" y="1836202"/>
            <a:ext cx="10772140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indent="-49339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05459" algn="l"/>
                <a:tab pos="506095" algn="l"/>
                <a:tab pos="3437254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Incrémentation</a:t>
            </a:r>
            <a:r>
              <a:rPr sz="3000" b="1" spc="6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:	</a:t>
            </a:r>
            <a:r>
              <a:rPr sz="3000" spc="-5" dirty="0">
                <a:latin typeface="Times New Roman"/>
                <a:cs typeface="Times New Roman"/>
              </a:rPr>
              <a:t>Ex: i </a:t>
            </a:r>
            <a:r>
              <a:rPr lang="fr-FR" sz="3200" dirty="0">
                <a:latin typeface="Times New Roman"/>
                <a:cs typeface="Times New Roman"/>
              </a:rPr>
              <a:t>←</a:t>
            </a:r>
            <a:r>
              <a:rPr sz="3000" spc="-5" dirty="0">
                <a:latin typeface="Times New Roman"/>
                <a:cs typeface="Times New Roman"/>
              </a:rPr>
              <a:t> i +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1</a:t>
            </a:r>
            <a:endParaRPr sz="3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652145" algn="l"/>
                <a:tab pos="1823085" algn="l"/>
                <a:tab pos="3184525" algn="l"/>
                <a:tab pos="3634740" algn="l"/>
                <a:tab pos="5059680" algn="l"/>
                <a:tab pos="5595620" algn="l"/>
                <a:tab pos="6659880" algn="l"/>
                <a:tab pos="7068184" algn="l"/>
                <a:tab pos="7775575" algn="l"/>
                <a:tab pos="8585835" algn="l"/>
                <a:tab pos="9140825" algn="l"/>
                <a:tab pos="10481945" algn="l"/>
              </a:tabLst>
            </a:pPr>
            <a:r>
              <a:rPr sz="3000" spc="-5" dirty="0">
                <a:latin typeface="Times New Roman"/>
                <a:cs typeface="Times New Roman"/>
              </a:rPr>
              <a:t>On	é</a:t>
            </a:r>
            <a:r>
              <a:rPr sz="3000" spc="5" dirty="0">
                <a:latin typeface="Times New Roman"/>
                <a:cs typeface="Times New Roman"/>
              </a:rPr>
              <a:t>v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ue	</a:t>
            </a:r>
            <a:r>
              <a:rPr sz="3000" spc="5" dirty="0">
                <a:latin typeface="Times New Roman"/>
                <a:cs typeface="Times New Roman"/>
              </a:rPr>
              <a:t>d</a:t>
            </a:r>
            <a:r>
              <a:rPr sz="3000" dirty="0">
                <a:latin typeface="Times New Roman"/>
                <a:cs typeface="Times New Roman"/>
              </a:rPr>
              <a:t>’ab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rd	le	</a:t>
            </a:r>
            <a:r>
              <a:rPr sz="3000" spc="5" dirty="0">
                <a:latin typeface="Times New Roman"/>
                <a:cs typeface="Times New Roman"/>
              </a:rPr>
              <a:t>me</a:t>
            </a:r>
            <a:r>
              <a:rPr sz="3000" dirty="0">
                <a:latin typeface="Times New Roman"/>
                <a:cs typeface="Times New Roman"/>
              </a:rPr>
              <a:t>mbre	</a:t>
            </a:r>
            <a:r>
              <a:rPr sz="3000" spc="5" dirty="0">
                <a:latin typeface="Times New Roman"/>
                <a:cs typeface="Times New Roman"/>
              </a:rPr>
              <a:t>d</a:t>
            </a:r>
            <a:r>
              <a:rPr sz="3000" dirty="0">
                <a:latin typeface="Times New Roman"/>
                <a:cs typeface="Times New Roman"/>
              </a:rPr>
              <a:t>e	droi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e	</a:t>
            </a:r>
            <a:r>
              <a:rPr sz="3000" spc="5" dirty="0">
                <a:latin typeface="Times New Roman"/>
                <a:cs typeface="Times New Roman"/>
              </a:rPr>
              <a:t>(</a:t>
            </a:r>
            <a:r>
              <a:rPr sz="3000" dirty="0">
                <a:latin typeface="Times New Roman"/>
                <a:cs typeface="Times New Roman"/>
              </a:rPr>
              <a:t>i	+1)	puis	on	</a:t>
            </a:r>
            <a:r>
              <a:rPr sz="3000" spc="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ribue	</a:t>
            </a:r>
            <a:r>
              <a:rPr sz="3000" spc="5" dirty="0">
                <a:latin typeface="Times New Roman"/>
                <a:cs typeface="Times New Roman"/>
              </a:rPr>
              <a:t>la  </a:t>
            </a:r>
            <a:r>
              <a:rPr sz="3000" dirty="0">
                <a:latin typeface="Times New Roman"/>
                <a:cs typeface="Times New Roman"/>
              </a:rPr>
              <a:t>valeur obtenue au membre de gauche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(i)</a:t>
            </a:r>
          </a:p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</a:t>
            </a:r>
            <a:r>
              <a:rPr sz="3000" dirty="0">
                <a:latin typeface="Times New Roman"/>
                <a:cs typeface="Times New Roman"/>
              </a:rPr>
              <a:t> on dit que </a:t>
            </a:r>
            <a:r>
              <a:rPr sz="3000" b="1" dirty="0">
                <a:latin typeface="Times New Roman"/>
                <a:cs typeface="Times New Roman"/>
              </a:rPr>
              <a:t>i</a:t>
            </a:r>
            <a:r>
              <a:rPr sz="3000" dirty="0">
                <a:latin typeface="Times New Roman"/>
                <a:cs typeface="Times New Roman"/>
              </a:rPr>
              <a:t> a été incrémenté de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</a:t>
            </a:r>
          </a:p>
          <a:p>
            <a:pPr marL="505459" indent="-493395">
              <a:lnSpc>
                <a:spcPct val="100000"/>
              </a:lnSpc>
              <a:spcBef>
                <a:spcPts val="3000"/>
              </a:spcBef>
              <a:buFont typeface="Wingdings"/>
              <a:buChar char=""/>
              <a:tabLst>
                <a:tab pos="505459" algn="l"/>
                <a:tab pos="506095" algn="l"/>
                <a:tab pos="3522979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Décrémentation</a:t>
            </a:r>
            <a:r>
              <a:rPr sz="3000" b="1" spc="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:	</a:t>
            </a:r>
            <a:r>
              <a:rPr sz="3000" spc="-5" dirty="0">
                <a:latin typeface="Times New Roman"/>
                <a:cs typeface="Times New Roman"/>
              </a:rPr>
              <a:t>Ex: </a:t>
            </a:r>
            <a:r>
              <a:rPr sz="3000" dirty="0">
                <a:latin typeface="Times New Roman"/>
                <a:cs typeface="Times New Roman"/>
              </a:rPr>
              <a:t>i </a:t>
            </a:r>
            <a:r>
              <a:rPr lang="fr-FR" sz="3200" dirty="0">
                <a:latin typeface="Times New Roman"/>
                <a:cs typeface="Times New Roman"/>
              </a:rPr>
              <a:t>←</a:t>
            </a:r>
            <a:r>
              <a:rPr sz="3000" dirty="0">
                <a:latin typeface="Times New Roman"/>
                <a:cs typeface="Times New Roman"/>
              </a:rPr>
              <a:t> i -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</a:t>
            </a:r>
          </a:p>
          <a:p>
            <a:pPr marL="12700" marR="5080">
              <a:lnSpc>
                <a:spcPct val="100000"/>
              </a:lnSpc>
              <a:tabLst>
                <a:tab pos="645795" algn="l"/>
                <a:tab pos="1809114" algn="l"/>
                <a:tab pos="3164205" algn="l"/>
                <a:tab pos="3608070" algn="l"/>
                <a:tab pos="5026025" algn="l"/>
                <a:tab pos="5554980" algn="l"/>
                <a:tab pos="6613525" algn="l"/>
                <a:tab pos="7014209" algn="l"/>
                <a:tab pos="7309484" algn="l"/>
                <a:tab pos="7795259" algn="l"/>
                <a:tab pos="8598535" algn="l"/>
                <a:tab pos="9147175" algn="l"/>
                <a:tab pos="10481945" algn="l"/>
              </a:tabLst>
            </a:pPr>
            <a:r>
              <a:rPr sz="3000" spc="-5" dirty="0">
                <a:latin typeface="Times New Roman"/>
                <a:cs typeface="Times New Roman"/>
              </a:rPr>
              <a:t>On	é</a:t>
            </a:r>
            <a:r>
              <a:rPr sz="3000" spc="5" dirty="0">
                <a:latin typeface="Times New Roman"/>
                <a:cs typeface="Times New Roman"/>
              </a:rPr>
              <a:t>v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ue	</a:t>
            </a:r>
            <a:r>
              <a:rPr sz="3000" spc="5" dirty="0">
                <a:latin typeface="Times New Roman"/>
                <a:cs typeface="Times New Roman"/>
              </a:rPr>
              <a:t>d</a:t>
            </a:r>
            <a:r>
              <a:rPr sz="3000" dirty="0">
                <a:latin typeface="Times New Roman"/>
                <a:cs typeface="Times New Roman"/>
              </a:rPr>
              <a:t>’ab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rd	</a:t>
            </a:r>
            <a:r>
              <a:rPr sz="3000" spc="5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e	</a:t>
            </a:r>
            <a:r>
              <a:rPr sz="3000" spc="5" dirty="0">
                <a:latin typeface="Times New Roman"/>
                <a:cs typeface="Times New Roman"/>
              </a:rPr>
              <a:t>me</a:t>
            </a:r>
            <a:r>
              <a:rPr sz="3000" dirty="0">
                <a:latin typeface="Times New Roman"/>
                <a:cs typeface="Times New Roman"/>
              </a:rPr>
              <a:t>mbre	</a:t>
            </a:r>
            <a:r>
              <a:rPr sz="3000" spc="5" dirty="0">
                <a:latin typeface="Times New Roman"/>
                <a:cs typeface="Times New Roman"/>
              </a:rPr>
              <a:t>d</a:t>
            </a:r>
            <a:r>
              <a:rPr sz="3000" dirty="0">
                <a:latin typeface="Times New Roman"/>
                <a:cs typeface="Times New Roman"/>
              </a:rPr>
              <a:t>e	droi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e	(i	-	</a:t>
            </a:r>
            <a:r>
              <a:rPr sz="3000" spc="5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)	puis	on	</a:t>
            </a:r>
            <a:r>
              <a:rPr sz="3000" spc="5" dirty="0">
                <a:latin typeface="Times New Roman"/>
                <a:cs typeface="Times New Roman"/>
              </a:rPr>
              <a:t>att</a:t>
            </a:r>
            <a:r>
              <a:rPr sz="3000" dirty="0">
                <a:latin typeface="Times New Roman"/>
                <a:cs typeface="Times New Roman"/>
              </a:rPr>
              <a:t>ribue	</a:t>
            </a:r>
            <a:r>
              <a:rPr sz="3000" spc="5" dirty="0">
                <a:latin typeface="Times New Roman"/>
                <a:cs typeface="Times New Roman"/>
              </a:rPr>
              <a:t>la  </a:t>
            </a:r>
            <a:r>
              <a:rPr sz="3000" dirty="0">
                <a:latin typeface="Times New Roman"/>
                <a:cs typeface="Times New Roman"/>
              </a:rPr>
              <a:t>valeur obtenue au membre de gauche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(i)</a:t>
            </a:r>
          </a:p>
          <a:p>
            <a:pPr marL="1270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=&gt; on dit que </a:t>
            </a:r>
            <a:r>
              <a:rPr sz="3000" b="1" dirty="0">
                <a:latin typeface="Times New Roman"/>
                <a:cs typeface="Times New Roman"/>
              </a:rPr>
              <a:t>i</a:t>
            </a:r>
            <a:r>
              <a:rPr sz="3000" dirty="0">
                <a:latin typeface="Times New Roman"/>
                <a:cs typeface="Times New Roman"/>
              </a:rPr>
              <a:t> a été décrémenté de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61554" y="732135"/>
            <a:ext cx="304927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Entrées /</a:t>
            </a:r>
            <a:r>
              <a:rPr sz="3400" spc="-105" dirty="0"/>
              <a:t> </a:t>
            </a:r>
            <a:r>
              <a:rPr sz="3400" dirty="0"/>
              <a:t>Sorties</a:t>
            </a:r>
            <a:endParaRPr sz="3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7624" y="1528057"/>
            <a:ext cx="11129010" cy="438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"/>
              <a:tabLst>
                <a:tab pos="474345" algn="l"/>
              </a:tabLst>
            </a:pPr>
            <a:r>
              <a:rPr lang="fr-FR" sz="2800" b="1" spc="-5" dirty="0">
                <a:solidFill>
                  <a:srgbClr val="00B0F0"/>
                </a:solidFill>
                <a:latin typeface="Times New Roman"/>
                <a:cs typeface="Times New Roman"/>
              </a:rPr>
              <a:t>  </a:t>
            </a:r>
            <a:r>
              <a:rPr sz="2800" b="1" spc="-5" dirty="0" err="1">
                <a:solidFill>
                  <a:srgbClr val="006600"/>
                </a:solidFill>
                <a:latin typeface="Times New Roman"/>
                <a:cs typeface="Times New Roman"/>
              </a:rPr>
              <a:t>L'instruction</a:t>
            </a:r>
            <a:r>
              <a:rPr sz="2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600"/>
                </a:solidFill>
                <a:latin typeface="Times New Roman"/>
                <a:cs typeface="Times New Roman"/>
              </a:rPr>
              <a:t>de </a:t>
            </a:r>
            <a:r>
              <a:rPr sz="2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lecture </a:t>
            </a:r>
            <a:r>
              <a:rPr sz="28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(Lire): </a:t>
            </a:r>
            <a:r>
              <a:rPr sz="2800" spc="-5" dirty="0">
                <a:latin typeface="Times New Roman"/>
                <a:cs typeface="Times New Roman"/>
              </a:rPr>
              <a:t>interrompt le programme, attend</a:t>
            </a:r>
            <a:r>
              <a:rPr sz="2800" spc="509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que  </a:t>
            </a:r>
            <a:r>
              <a:rPr sz="2800" spc="-10" dirty="0">
                <a:latin typeface="Times New Roman"/>
                <a:cs typeface="Times New Roman"/>
              </a:rPr>
              <a:t>l'utilisateur </a:t>
            </a:r>
            <a:r>
              <a:rPr sz="2800" spc="-5" dirty="0">
                <a:latin typeface="Times New Roman"/>
                <a:cs typeface="Times New Roman"/>
              </a:rPr>
              <a:t>entre une valeur au </a:t>
            </a:r>
            <a:r>
              <a:rPr sz="2800" spc="-10" dirty="0">
                <a:latin typeface="Times New Roman"/>
                <a:cs typeface="Times New Roman"/>
              </a:rPr>
              <a:t>clavier </a:t>
            </a:r>
            <a:r>
              <a:rPr sz="2800" spc="-5" dirty="0">
                <a:latin typeface="Times New Roman"/>
                <a:cs typeface="Times New Roman"/>
              </a:rPr>
              <a:t>et stocke </a:t>
            </a:r>
            <a:r>
              <a:rPr sz="2800" dirty="0">
                <a:latin typeface="Times New Roman"/>
                <a:cs typeface="Times New Roman"/>
              </a:rPr>
              <a:t>la </a:t>
            </a:r>
            <a:r>
              <a:rPr sz="2800" spc="-5" dirty="0">
                <a:latin typeface="Times New Roman"/>
                <a:cs typeface="Times New Roman"/>
              </a:rPr>
              <a:t>valeur en mémoire dans </a:t>
            </a:r>
            <a:r>
              <a:rPr sz="2800" spc="-10" dirty="0">
                <a:latin typeface="Times New Roman"/>
                <a:cs typeface="Times New Roman"/>
              </a:rPr>
              <a:t>la  </a:t>
            </a:r>
            <a:r>
              <a:rPr sz="2800" spc="-5" dirty="0">
                <a:latin typeface="Times New Roman"/>
                <a:cs typeface="Times New Roman"/>
              </a:rPr>
              <a:t>variable désignée en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paramètres.</a:t>
            </a:r>
            <a:endParaRPr sz="2800" dirty="0">
              <a:latin typeface="Times New Roman"/>
              <a:cs typeface="Times New Roman"/>
            </a:endParaRPr>
          </a:p>
          <a:p>
            <a:pPr marL="469265" marR="5080" indent="635" algn="just">
              <a:lnSpc>
                <a:spcPct val="100000"/>
              </a:lnSpc>
              <a:spcBef>
                <a:spcPts val="720"/>
              </a:spcBef>
            </a:pPr>
            <a:r>
              <a:rPr sz="2800" b="1" spc="-5" dirty="0">
                <a:latin typeface="Times New Roman"/>
                <a:cs typeface="Times New Roman"/>
              </a:rPr>
              <a:t>Ex: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Lire(x)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( </a:t>
            </a:r>
            <a:r>
              <a:rPr sz="2800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est une variable désignant l'endroit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la mémoire ou </a:t>
            </a:r>
            <a:r>
              <a:rPr sz="2800" dirty="0">
                <a:latin typeface="Times New Roman"/>
                <a:cs typeface="Times New Roman"/>
              </a:rPr>
              <a:t>la  </a:t>
            </a:r>
            <a:r>
              <a:rPr sz="2800" dirty="0" err="1">
                <a:latin typeface="Times New Roman"/>
                <a:cs typeface="Times New Roman"/>
              </a:rPr>
              <a:t>donnée</a:t>
            </a:r>
            <a:r>
              <a:rPr lang="en-US" sz="280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 qui </a:t>
            </a:r>
            <a:r>
              <a:rPr sz="2800" spc="-5" dirty="0">
                <a:latin typeface="Times New Roman"/>
                <a:cs typeface="Times New Roman"/>
              </a:rPr>
              <a:t>sera </a:t>
            </a:r>
            <a:r>
              <a:rPr sz="2800" dirty="0" err="1">
                <a:latin typeface="Times New Roman"/>
                <a:cs typeface="Times New Roman"/>
              </a:rPr>
              <a:t>lue</a:t>
            </a:r>
            <a:r>
              <a:rPr lang="en-US" sz="280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devra être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stockée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699"/>
              </a:lnSpc>
              <a:spcBef>
                <a:spcPts val="2570"/>
              </a:spcBef>
              <a:buClr>
                <a:srgbClr val="000000"/>
              </a:buClr>
              <a:buSzPct val="107142"/>
              <a:buFont typeface="Wingdings"/>
              <a:buChar char=""/>
              <a:tabLst>
                <a:tab pos="412115" algn="l"/>
              </a:tabLst>
            </a:pPr>
            <a:r>
              <a:rPr lang="fr-FR" sz="2800" b="1" spc="-5" dirty="0">
                <a:solidFill>
                  <a:srgbClr val="00B0F0"/>
                </a:solidFill>
                <a:latin typeface="Times New Roman"/>
                <a:cs typeface="Times New Roman"/>
              </a:rPr>
              <a:t>  </a:t>
            </a:r>
            <a:r>
              <a:rPr sz="2800" b="1" spc="-5" dirty="0" err="1">
                <a:solidFill>
                  <a:srgbClr val="006600"/>
                </a:solidFill>
                <a:latin typeface="Times New Roman"/>
                <a:cs typeface="Times New Roman"/>
              </a:rPr>
              <a:t>L'instruction</a:t>
            </a:r>
            <a:r>
              <a:rPr sz="2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d'écriture (Ecrire): </a:t>
            </a:r>
            <a:r>
              <a:rPr sz="2800" spc="-10" dirty="0">
                <a:latin typeface="Times New Roman"/>
                <a:cs typeface="Times New Roman"/>
              </a:rPr>
              <a:t>affiche </a:t>
            </a:r>
            <a:r>
              <a:rPr sz="2800" spc="-5" dirty="0">
                <a:latin typeface="Times New Roman"/>
                <a:cs typeface="Times New Roman"/>
              </a:rPr>
              <a:t>le contenu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l'expression </a:t>
            </a:r>
            <a:r>
              <a:rPr sz="2800" spc="-10" dirty="0">
                <a:latin typeface="Times New Roman"/>
                <a:cs typeface="Times New Roman"/>
              </a:rPr>
              <a:t>en  </a:t>
            </a:r>
            <a:r>
              <a:rPr sz="2800" spc="-5" dirty="0">
                <a:latin typeface="Times New Roman"/>
                <a:cs typeface="Times New Roman"/>
              </a:rPr>
              <a:t>paramètre.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expression peut être une </a:t>
            </a:r>
            <a:r>
              <a:rPr sz="2800" spc="-25" dirty="0">
                <a:latin typeface="Times New Roman"/>
                <a:cs typeface="Times New Roman"/>
              </a:rPr>
              <a:t>valeur, </a:t>
            </a:r>
            <a:r>
              <a:rPr sz="2800" spc="-5" dirty="0">
                <a:latin typeface="Times New Roman"/>
                <a:cs typeface="Times New Roman"/>
              </a:rPr>
              <a:t>le contenu d'une variable, </a:t>
            </a:r>
            <a:r>
              <a:rPr sz="2800" spc="-10" dirty="0">
                <a:latin typeface="Times New Roman"/>
                <a:cs typeface="Times New Roman"/>
              </a:rPr>
              <a:t>le  </a:t>
            </a:r>
            <a:r>
              <a:rPr sz="2800" spc="-5" dirty="0">
                <a:latin typeface="Times New Roman"/>
                <a:cs typeface="Times New Roman"/>
              </a:rPr>
              <a:t>résultat </a:t>
            </a:r>
            <a:r>
              <a:rPr sz="2800" dirty="0">
                <a:latin typeface="Times New Roman"/>
                <a:cs typeface="Times New Roman"/>
              </a:rPr>
              <a:t>d'un </a:t>
            </a:r>
            <a:r>
              <a:rPr sz="2800" spc="-5" dirty="0">
                <a:latin typeface="Times New Roman"/>
                <a:cs typeface="Times New Roman"/>
              </a:rPr>
              <a:t>calcul, </a:t>
            </a:r>
            <a:r>
              <a:rPr sz="2800" dirty="0">
                <a:latin typeface="Times New Roman"/>
                <a:cs typeface="Times New Roman"/>
              </a:rPr>
              <a:t>ou la </a:t>
            </a:r>
            <a:r>
              <a:rPr sz="2800" spc="-5" dirty="0">
                <a:latin typeface="Times New Roman"/>
                <a:cs typeface="Times New Roman"/>
              </a:rPr>
              <a:t>concaténation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plusieurs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expressions.</a:t>
            </a:r>
            <a:endParaRPr sz="28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720"/>
              </a:spcBef>
            </a:pPr>
            <a:r>
              <a:rPr sz="2800" b="1" spc="-5" dirty="0">
                <a:latin typeface="Times New Roman"/>
                <a:cs typeface="Times New Roman"/>
              </a:rPr>
              <a:t>Ex: </a:t>
            </a:r>
            <a:r>
              <a:rPr sz="2800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Ecrire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"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 Bonjour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!!</a:t>
            </a:r>
            <a:r>
              <a:rPr lang="en-US"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"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64861" y="841673"/>
            <a:ext cx="30162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T</a:t>
            </a:r>
            <a:r>
              <a:rPr spc="-5" dirty="0"/>
              <a:t>ypes de</a:t>
            </a:r>
            <a:r>
              <a:rPr spc="-60" dirty="0"/>
              <a:t> </a:t>
            </a:r>
            <a:r>
              <a:rPr spc="-5" dirty="0"/>
              <a:t>base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2470" y="1663115"/>
            <a:ext cx="10772775" cy="3942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C00000"/>
                </a:solidFill>
                <a:latin typeface="Times New Roman"/>
                <a:cs typeface="Times New Roman"/>
              </a:rPr>
              <a:t>Définition: </a:t>
            </a:r>
            <a:r>
              <a:rPr sz="3000" spc="-10" dirty="0">
                <a:latin typeface="Times New Roman"/>
                <a:cs typeface="Times New Roman"/>
              </a:rPr>
              <a:t>Un </a:t>
            </a:r>
            <a:r>
              <a:rPr sz="3000" dirty="0">
                <a:latin typeface="Times New Roman"/>
                <a:cs typeface="Times New Roman"/>
              </a:rPr>
              <a:t>type définit les valeurs que peut prendre une donnée  (en particulier </a:t>
            </a:r>
            <a:r>
              <a:rPr sz="3000" spc="-5" dirty="0">
                <a:latin typeface="Times New Roman"/>
                <a:cs typeface="Times New Roman"/>
              </a:rPr>
              <a:t>une </a:t>
            </a:r>
            <a:r>
              <a:rPr sz="3000" dirty="0">
                <a:latin typeface="Times New Roman"/>
                <a:cs typeface="Times New Roman"/>
              </a:rPr>
              <a:t>variable) et </a:t>
            </a:r>
            <a:r>
              <a:rPr sz="3000" spc="-5" dirty="0">
                <a:latin typeface="Times New Roman"/>
                <a:cs typeface="Times New Roman"/>
              </a:rPr>
              <a:t>les </a:t>
            </a:r>
            <a:r>
              <a:rPr sz="3000" dirty="0">
                <a:latin typeface="Times New Roman"/>
                <a:cs typeface="Times New Roman"/>
              </a:rPr>
              <a:t>opérateurs </a:t>
            </a:r>
            <a:r>
              <a:rPr sz="3000" spc="-5" dirty="0">
                <a:latin typeface="Times New Roman"/>
                <a:cs typeface="Times New Roman"/>
              </a:rPr>
              <a:t>qui </a:t>
            </a:r>
            <a:r>
              <a:rPr sz="3000" dirty="0">
                <a:latin typeface="Times New Roman"/>
                <a:cs typeface="Times New Roman"/>
              </a:rPr>
              <a:t>peuvent lui être  appliqués.</a:t>
            </a:r>
          </a:p>
          <a:p>
            <a:pPr marL="403225" indent="-39116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03860" algn="l"/>
              </a:tabLst>
            </a:pPr>
            <a:r>
              <a:rPr sz="3000" b="1" spc="-50" dirty="0">
                <a:latin typeface="Times New Roman"/>
                <a:cs typeface="Times New Roman"/>
              </a:rPr>
              <a:t>Types </a:t>
            </a:r>
            <a:r>
              <a:rPr sz="3000" b="1" spc="-5" dirty="0">
                <a:latin typeface="Times New Roman"/>
                <a:cs typeface="Times New Roman"/>
              </a:rPr>
              <a:t>de</a:t>
            </a:r>
            <a:r>
              <a:rPr sz="3000" b="1" spc="4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base:</a:t>
            </a:r>
            <a:endParaRPr sz="3000" dirty="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Entier</a:t>
            </a:r>
            <a:endParaRPr sz="3000" dirty="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Réel</a:t>
            </a:r>
            <a:endParaRPr sz="3000" dirty="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Booléen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(deux </a:t>
            </a:r>
            <a:r>
              <a:rPr sz="3000" spc="-5" dirty="0">
                <a:latin typeface="Times New Roman"/>
                <a:cs typeface="Times New Roman"/>
              </a:rPr>
              <a:t>valeurs possibles, vrai et faux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)</a:t>
            </a:r>
            <a:endParaRPr sz="3000" dirty="0">
              <a:latin typeface="Times New Roman"/>
              <a:cs typeface="Times New Roman"/>
            </a:endParaRPr>
          </a:p>
          <a:p>
            <a:pPr marL="1290955" lvl="1" indent="-364490">
              <a:lnSpc>
                <a:spcPct val="100000"/>
              </a:lnSpc>
              <a:buFont typeface="Wingdings"/>
              <a:buChar char=""/>
              <a:tabLst>
                <a:tab pos="1290955" algn="l"/>
                <a:tab pos="1291590" algn="l"/>
              </a:tabLst>
            </a:pPr>
            <a:r>
              <a:rPr sz="3000" dirty="0" err="1">
                <a:latin typeface="Times New Roman"/>
                <a:cs typeface="Times New Roman"/>
              </a:rPr>
              <a:t>Caractère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(lettres, </a:t>
            </a:r>
            <a:r>
              <a:rPr sz="3000" spc="-10" dirty="0">
                <a:latin typeface="Times New Roman"/>
                <a:cs typeface="Times New Roman"/>
              </a:rPr>
              <a:t>chiffres,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ponctuation…)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34988" y="876536"/>
            <a:ext cx="67913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Les types de base : </a:t>
            </a:r>
            <a:r>
              <a:rPr b="0" spc="-5" dirty="0">
                <a:latin typeface="Times New Roman"/>
                <a:cs typeface="Times New Roman"/>
              </a:rPr>
              <a:t>Opérateurs de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Calcul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41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1033" y="1734553"/>
            <a:ext cx="9420225" cy="363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indent="-493395">
              <a:lnSpc>
                <a:spcPts val="3595"/>
              </a:lnSpc>
              <a:spcBef>
                <a:spcPts val="100"/>
              </a:spcBef>
              <a:buFont typeface="Wingdings"/>
              <a:buChar char=""/>
              <a:tabLst>
                <a:tab pos="505459" algn="l"/>
                <a:tab pos="506095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Opérateurs de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calcul</a:t>
            </a:r>
            <a:endParaRPr sz="3000" dirty="0">
              <a:latin typeface="Times New Roman"/>
              <a:cs typeface="Times New Roman"/>
            </a:endParaRPr>
          </a:p>
          <a:p>
            <a:pPr marL="1315720" lvl="1" indent="-389255">
              <a:lnSpc>
                <a:spcPts val="3835"/>
              </a:lnSpc>
              <a:buFont typeface="Wingdings"/>
              <a:buChar char=""/>
              <a:tabLst>
                <a:tab pos="1315720" algn="l"/>
                <a:tab pos="1316355" algn="l"/>
              </a:tabLst>
            </a:pPr>
            <a:r>
              <a:rPr sz="3200" spc="-5" dirty="0" err="1">
                <a:latin typeface="Times New Roman"/>
                <a:cs typeface="Times New Roman"/>
              </a:rPr>
              <a:t>Entier</a:t>
            </a:r>
            <a:r>
              <a:rPr sz="3200" spc="-5" dirty="0">
                <a:latin typeface="Times New Roman"/>
                <a:cs typeface="Times New Roman"/>
              </a:rPr>
              <a:t> :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div</a:t>
            </a:r>
            <a:r>
              <a:rPr lang="fr-FR"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mod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15085" lvl="1" indent="-389255">
              <a:lnSpc>
                <a:spcPct val="100000"/>
              </a:lnSpc>
              <a:buFont typeface="Wingdings"/>
              <a:buChar char=""/>
              <a:tabLst>
                <a:tab pos="1315085" algn="l"/>
                <a:tab pos="1315720" algn="l"/>
              </a:tabLst>
            </a:pPr>
            <a:r>
              <a:rPr sz="3200" spc="-5" dirty="0" err="1">
                <a:latin typeface="Times New Roman"/>
                <a:cs typeface="Times New Roman"/>
              </a:rPr>
              <a:t>Réel</a:t>
            </a:r>
            <a:r>
              <a:rPr sz="3200" spc="-5" dirty="0">
                <a:latin typeface="Times New Roman"/>
                <a:cs typeface="Times New Roman"/>
              </a:rPr>
              <a:t> :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15720" lvl="1" indent="-389890">
              <a:lnSpc>
                <a:spcPct val="100000"/>
              </a:lnSpc>
              <a:buFont typeface="Wingdings"/>
              <a:buChar char=""/>
              <a:tabLst>
                <a:tab pos="1315085" algn="l"/>
                <a:tab pos="1315720" algn="l"/>
              </a:tabLst>
            </a:pPr>
            <a:r>
              <a:rPr sz="3200" spc="-5" dirty="0" err="1">
                <a:latin typeface="Times New Roman"/>
                <a:cs typeface="Times New Roman"/>
              </a:rPr>
              <a:t>Booléen</a:t>
            </a:r>
            <a:r>
              <a:rPr sz="3200" spc="-5" dirty="0">
                <a:latin typeface="Times New Roman"/>
                <a:cs typeface="Times New Roman"/>
              </a:rPr>
              <a:t> :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;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05459" indent="-493395">
              <a:lnSpc>
                <a:spcPts val="3595"/>
              </a:lnSpc>
              <a:spcBef>
                <a:spcPts val="2045"/>
              </a:spcBef>
              <a:buFont typeface="Wingdings"/>
              <a:buChar char=""/>
              <a:tabLst>
                <a:tab pos="505459" algn="l"/>
                <a:tab pos="506095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Opérateurs de comparaison </a:t>
            </a:r>
            <a:r>
              <a:rPr sz="3000" b="1" dirty="0">
                <a:latin typeface="Times New Roman"/>
                <a:cs typeface="Times New Roman"/>
              </a:rPr>
              <a:t>(le </a:t>
            </a:r>
            <a:r>
              <a:rPr sz="3000" b="1" spc="-5" dirty="0">
                <a:latin typeface="Times New Roman"/>
                <a:cs typeface="Times New Roman"/>
              </a:rPr>
              <a:t>résultat est un</a:t>
            </a:r>
            <a:r>
              <a:rPr sz="3000" b="1" spc="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booléen)</a:t>
            </a:r>
            <a:endParaRPr sz="3000" dirty="0">
              <a:latin typeface="Times New Roman"/>
              <a:cs typeface="Times New Roman"/>
            </a:endParaRPr>
          </a:p>
          <a:p>
            <a:pPr marL="1315720" lvl="1" indent="-389255">
              <a:lnSpc>
                <a:spcPts val="3835"/>
              </a:lnSpc>
              <a:buFont typeface="Wingdings"/>
              <a:buChar char=""/>
              <a:tabLst>
                <a:tab pos="1315720" algn="l"/>
                <a:tab pos="1316355" algn="l"/>
              </a:tabLst>
            </a:pPr>
            <a:r>
              <a:rPr sz="3200" spc="-5" dirty="0" err="1">
                <a:latin typeface="Times New Roman"/>
                <a:cs typeface="Times New Roman"/>
              </a:rPr>
              <a:t>Entier</a:t>
            </a:r>
            <a:r>
              <a:rPr sz="3200" spc="-5" dirty="0">
                <a:latin typeface="Times New Roman"/>
                <a:cs typeface="Times New Roman"/>
              </a:rPr>
              <a:t>, </a:t>
            </a:r>
            <a:r>
              <a:rPr lang="en-US" sz="3200" spc="-5" dirty="0" err="1">
                <a:latin typeface="Times New Roman"/>
                <a:cs typeface="Times New Roman"/>
              </a:rPr>
              <a:t>R</a:t>
            </a:r>
            <a:r>
              <a:rPr sz="3200" spc="-5" dirty="0" err="1">
                <a:latin typeface="Times New Roman"/>
                <a:cs typeface="Times New Roman"/>
              </a:rPr>
              <a:t>éel</a:t>
            </a:r>
            <a:r>
              <a:rPr sz="3200" spc="-5" dirty="0">
                <a:latin typeface="Times New Roman"/>
                <a:cs typeface="Times New Roman"/>
              </a:rPr>
              <a:t>, </a:t>
            </a:r>
            <a:r>
              <a:rPr lang="en-US" sz="3200" spc="-5" dirty="0" err="1">
                <a:latin typeface="Times New Roman"/>
                <a:cs typeface="Times New Roman"/>
              </a:rPr>
              <a:t>C</a:t>
            </a:r>
            <a:r>
              <a:rPr sz="3200" spc="-5" dirty="0" err="1">
                <a:latin typeface="Times New Roman"/>
                <a:cs typeface="Times New Roman"/>
              </a:rPr>
              <a:t>aractère</a:t>
            </a:r>
            <a:r>
              <a:rPr sz="3200" spc="-5" dirty="0">
                <a:latin typeface="Times New Roman"/>
                <a:cs typeface="Times New Roman"/>
              </a:rPr>
              <a:t> :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&lt;=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&gt;=</a:t>
            </a:r>
            <a:r>
              <a:rPr sz="3200" spc="-5" dirty="0">
                <a:latin typeface="Times New Roman"/>
                <a:cs typeface="Times New Roman"/>
              </a:rPr>
              <a:t> ;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3200" spc="-5" dirty="0">
                <a:latin typeface="Times New Roman"/>
                <a:cs typeface="Times New Roman"/>
              </a:rPr>
              <a:t> ;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&lt;&gt;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15720" lvl="1" indent="-389255">
              <a:lnSpc>
                <a:spcPct val="100000"/>
              </a:lnSpc>
              <a:buFont typeface="Wingdings"/>
              <a:buChar char=""/>
              <a:tabLst>
                <a:tab pos="1315720" algn="l"/>
                <a:tab pos="1316355" algn="l"/>
              </a:tabLst>
            </a:pPr>
            <a:r>
              <a:rPr sz="3200" spc="-5" dirty="0" err="1">
                <a:latin typeface="Times New Roman"/>
                <a:cs typeface="Times New Roman"/>
              </a:rPr>
              <a:t>Booléen</a:t>
            </a:r>
            <a:r>
              <a:rPr sz="3200" spc="-5" dirty="0">
                <a:latin typeface="Times New Roman"/>
                <a:cs typeface="Times New Roman"/>
              </a:rPr>
              <a:t> :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200" spc="-5" dirty="0">
                <a:latin typeface="Times New Roman"/>
                <a:cs typeface="Times New Roman"/>
              </a:rPr>
              <a:t> ;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&lt;&gt;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 base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22470" y="2019543"/>
            <a:ext cx="10557510" cy="19819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buFont typeface="Wingdings" pitchFamily="2" charset="2"/>
              <a:buChar char="Ø"/>
            </a:pPr>
            <a:r>
              <a:rPr lang="fr-FR"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200" b="1" spc="-10" dirty="0" err="1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endParaRPr sz="32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tabLst>
                <a:tab pos="1333500" algn="l"/>
                <a:tab pos="2068830" algn="l"/>
                <a:tab pos="4157979" algn="l"/>
                <a:tab pos="5006340" algn="l"/>
                <a:tab pos="6804025" algn="l"/>
                <a:tab pos="7539355" algn="l"/>
                <a:tab pos="9109710" algn="l"/>
                <a:tab pos="10364470" algn="l"/>
              </a:tabLst>
            </a:pPr>
            <a:r>
              <a:rPr lang="fr-FR" sz="3100" spc="-5" dirty="0">
                <a:latin typeface="Times New Roman"/>
                <a:cs typeface="Times New Roman"/>
              </a:rPr>
              <a:t>  </a:t>
            </a:r>
            <a:r>
              <a:rPr sz="3200" spc="-5" dirty="0">
                <a:latin typeface="Times New Roman"/>
                <a:cs typeface="Times New Roman"/>
              </a:rPr>
              <a:t>Ec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un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algo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ithme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qui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dem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nde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un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nomb</a:t>
            </a:r>
            <a:r>
              <a:rPr sz="3200" spc="-15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e</a:t>
            </a:r>
            <a:r>
              <a:rPr sz="3200" spc="-5" dirty="0">
                <a:latin typeface="Times New Roman"/>
                <a:cs typeface="Times New Roman"/>
              </a:rPr>
              <a:t>ntier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à  </a:t>
            </a:r>
            <a:r>
              <a:rPr sz="3200" spc="-15" dirty="0">
                <a:latin typeface="Times New Roman"/>
                <a:cs typeface="Times New Roman"/>
              </a:rPr>
              <a:t>l'utilisateur, </a:t>
            </a:r>
            <a:r>
              <a:rPr sz="3200" spc="-5" dirty="0">
                <a:latin typeface="Times New Roman"/>
                <a:cs typeface="Times New Roman"/>
              </a:rPr>
              <a:t>puis qui calcule et </a:t>
            </a:r>
            <a:r>
              <a:rPr sz="3200" spc="-15" dirty="0">
                <a:latin typeface="Times New Roman"/>
                <a:cs typeface="Times New Roman"/>
              </a:rPr>
              <a:t>affiche </a:t>
            </a:r>
            <a:r>
              <a:rPr sz="3200" spc="-5" dirty="0">
                <a:latin typeface="Times New Roman"/>
                <a:cs typeface="Times New Roman"/>
              </a:rPr>
              <a:t>le carré de ce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nombre.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42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745973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4937" y="99208"/>
            <a:ext cx="4274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 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548628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17655" y="877298"/>
            <a:ext cx="17964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C00000"/>
                </a:solidFill>
              </a:rPr>
              <a:t>Correction</a:t>
            </a:r>
            <a:endParaRPr sz="3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43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2400" y="1524000"/>
            <a:ext cx="10271760" cy="44499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5344" marR="5609590" indent="-457834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Algorithme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Calcul_du_Carre</a:t>
            </a:r>
            <a:r>
              <a:rPr sz="2800" spc="-5" dirty="0">
                <a:latin typeface="Times New Roman"/>
                <a:cs typeface="Times New Roman"/>
              </a:rPr>
              <a:t>  </a:t>
            </a:r>
            <a:r>
              <a:rPr lang="fr-FR" sz="2800" b="1" spc="-5" dirty="0">
                <a:latin typeface="Times New Roman"/>
                <a:cs typeface="Times New Roman"/>
              </a:rPr>
              <a:t>Variables</a:t>
            </a: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lang="fr-FR" sz="2800" dirty="0">
                <a:latin typeface="Times New Roman"/>
                <a:cs typeface="Times New Roman"/>
              </a:rPr>
              <a:t>,C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lang="fr-FR" sz="2800" spc="-5" dirty="0">
                <a:latin typeface="Times New Roman"/>
                <a:cs typeface="Times New Roman"/>
              </a:rPr>
              <a:t> E</a:t>
            </a:r>
            <a:r>
              <a:rPr sz="2800" spc="-5" dirty="0" err="1">
                <a:latin typeface="Times New Roman"/>
                <a:cs typeface="Times New Roman"/>
              </a:rPr>
              <a:t>ntier</a:t>
            </a:r>
            <a:endParaRPr sz="2800" dirty="0">
              <a:latin typeface="Times New Roman"/>
              <a:cs typeface="Times New Roman"/>
            </a:endParaRPr>
          </a:p>
          <a:p>
            <a:pPr marL="855980">
              <a:lnSpc>
                <a:spcPts val="3360"/>
              </a:lnSpc>
            </a:pPr>
            <a:r>
              <a:rPr sz="2800" b="1" spc="-5" dirty="0">
                <a:latin typeface="Times New Roman"/>
                <a:cs typeface="Times New Roman"/>
              </a:rPr>
              <a:t>Début</a:t>
            </a:r>
            <a:endParaRPr sz="2800" dirty="0">
              <a:latin typeface="Times New Roman"/>
              <a:cs typeface="Times New Roman"/>
            </a:endParaRPr>
          </a:p>
          <a:p>
            <a:pPr marL="855980" marR="3847465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Ecrire("</a:t>
            </a:r>
            <a:r>
              <a:rPr sz="2800" spc="-50" dirty="0" err="1">
                <a:latin typeface="Times New Roman"/>
                <a:cs typeface="Times New Roman"/>
              </a:rPr>
              <a:t>Ve</a:t>
            </a:r>
            <a:r>
              <a:rPr lang="fr-FR" sz="2800" spc="-50" dirty="0">
                <a:latin typeface="Times New Roman"/>
                <a:cs typeface="Times New Roman"/>
              </a:rPr>
              <a:t>u</a:t>
            </a:r>
            <a:r>
              <a:rPr sz="2800" spc="-50" dirty="0" err="1">
                <a:latin typeface="Times New Roman"/>
                <a:cs typeface="Times New Roman"/>
              </a:rPr>
              <a:t>illez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saisir </a:t>
            </a:r>
            <a:r>
              <a:rPr sz="2800" dirty="0">
                <a:latin typeface="Times New Roman"/>
                <a:cs typeface="Times New Roman"/>
              </a:rPr>
              <a:t>la </a:t>
            </a:r>
            <a:r>
              <a:rPr sz="2800" spc="-5" dirty="0">
                <a:latin typeface="Times New Roman"/>
                <a:cs typeface="Times New Roman"/>
              </a:rPr>
              <a:t>valeur </a:t>
            </a:r>
            <a:r>
              <a:rPr sz="2800" dirty="0">
                <a:latin typeface="Times New Roman"/>
                <a:cs typeface="Times New Roman"/>
              </a:rPr>
              <a:t>de A:</a:t>
            </a:r>
            <a:r>
              <a:rPr sz="2800" spc="-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")  </a:t>
            </a:r>
            <a:r>
              <a:rPr sz="2800" spc="-5" dirty="0">
                <a:latin typeface="Times New Roman"/>
                <a:cs typeface="Times New Roman"/>
              </a:rPr>
              <a:t>Lire(A)</a:t>
            </a:r>
            <a:endParaRPr sz="2800" dirty="0">
              <a:latin typeface="Times New Roman"/>
              <a:cs typeface="Times New Roman"/>
            </a:endParaRPr>
          </a:p>
          <a:p>
            <a:pPr marL="85598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C ←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A*A</a:t>
            </a:r>
          </a:p>
          <a:p>
            <a:pPr marL="85598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Ecrire("le carre </a:t>
            </a:r>
            <a:r>
              <a:rPr sz="2800" dirty="0">
                <a:latin typeface="Times New Roman"/>
                <a:cs typeface="Times New Roman"/>
              </a:rPr>
              <a:t>de ", A, </a:t>
            </a:r>
            <a:r>
              <a:rPr sz="2800" spc="-5" dirty="0">
                <a:latin typeface="Times New Roman"/>
                <a:cs typeface="Times New Roman"/>
              </a:rPr>
              <a:t>"est </a:t>
            </a:r>
            <a:r>
              <a:rPr sz="2800" dirty="0">
                <a:latin typeface="Times New Roman"/>
                <a:cs typeface="Times New Roman"/>
              </a:rPr>
              <a:t>:",</a:t>
            </a:r>
            <a:r>
              <a:rPr sz="2800" spc="-2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C)</a:t>
            </a:r>
            <a:endParaRPr sz="2800" dirty="0">
              <a:latin typeface="Times New Roman"/>
              <a:cs typeface="Times New Roman"/>
            </a:endParaRPr>
          </a:p>
          <a:p>
            <a:pPr marL="85598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Fin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405"/>
              </a:spcBef>
              <a:tabLst>
                <a:tab pos="650875" algn="l"/>
                <a:tab pos="2586990" algn="l"/>
                <a:tab pos="3302635" algn="l"/>
                <a:tab pos="4655820" algn="l"/>
                <a:tab pos="5076825" algn="l"/>
                <a:tab pos="5994400" algn="l"/>
                <a:tab pos="6586855" algn="l"/>
                <a:tab pos="7164070" algn="l"/>
                <a:tab pos="8312784" algn="l"/>
                <a:tab pos="9065260" algn="l"/>
              </a:tabLst>
            </a:pPr>
            <a:r>
              <a:rPr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B:	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héo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iq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nt,	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ute	i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st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uct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on	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	lec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ur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	do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t	êt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	p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é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cé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d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é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	d'u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e	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st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uc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ti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n 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d'écriture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informative.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3086</Words>
  <Application>Microsoft Office PowerPoint</Application>
  <PresentationFormat>Personnalisé</PresentationFormat>
  <Paragraphs>429</Paragraphs>
  <Slides>43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8" baseType="lpstr">
      <vt:lpstr>Calibri</vt:lpstr>
      <vt:lpstr>Symbol</vt:lpstr>
      <vt:lpstr>Times New Roman</vt:lpstr>
      <vt:lpstr>Wingdings</vt:lpstr>
      <vt:lpstr>Office Theme</vt:lpstr>
      <vt:lpstr>Algorithmique</vt:lpstr>
      <vt:lpstr>A quoi sert un algorithme?</vt:lpstr>
      <vt:lpstr>Pourquoi apprendre l’algorithmique avant  d’apprendre à programmer ?</vt:lpstr>
      <vt:lpstr>Notion d’algorithme</vt:lpstr>
      <vt:lpstr>Exemple 1: Mode d’emploi d’un télécopieur (Fax)</vt:lpstr>
      <vt:lpstr>Exemple 2: Trouver son chemin Extrait d’un dialogue entre un touriste égaré et un autochtone.</vt:lpstr>
      <vt:lpstr>Un algorithme</vt:lpstr>
      <vt:lpstr>Algorithme</vt:lpstr>
      <vt:lpstr>Représentation d’un algorithme (1)</vt:lpstr>
      <vt:lpstr>Introduction: Définitions</vt:lpstr>
      <vt:lpstr>Représentation d’un algorithme (3)</vt:lpstr>
      <vt:lpstr>Introduction: Définitions</vt:lpstr>
      <vt:lpstr>1. Validité d’un algorithme</vt:lpstr>
      <vt:lpstr>2. Robustesse d’un algorithme</vt:lpstr>
      <vt:lpstr>3. Réutilisabilité d’un algorithme</vt:lpstr>
      <vt:lpstr>4. Complexité d’un algorithme</vt:lpstr>
      <vt:lpstr>4. Efficacité d’un algorithme</vt:lpstr>
      <vt:lpstr>Algorithmique &amp; programmation</vt:lpstr>
      <vt:lpstr>Cycle de développement d’un programme</vt:lpstr>
      <vt:lpstr>Cycle de développement d’un programme</vt:lpstr>
      <vt:lpstr>Cycle de développement d’un programme</vt:lpstr>
      <vt:lpstr>Cycle de développement d’un programme</vt:lpstr>
      <vt:lpstr>Cycle de développement d’un programme</vt:lpstr>
      <vt:lpstr>Quel sont les qualités demandées pour être bon en algorithmique ?</vt:lpstr>
      <vt:lpstr>Caractéristiques d’un bon algorithme</vt:lpstr>
      <vt:lpstr>Caractéristiques d’un bon algorithme (suite)</vt:lpstr>
      <vt:lpstr>Présentation PowerPoint</vt:lpstr>
      <vt:lpstr>Algorithmique: Outils de base</vt:lpstr>
      <vt:lpstr>Variables</vt:lpstr>
      <vt:lpstr>Variables</vt:lpstr>
      <vt:lpstr>Déclaration des variables</vt:lpstr>
      <vt:lpstr>Constantes</vt:lpstr>
      <vt:lpstr>Affectation</vt:lpstr>
      <vt:lpstr>Affectation: Permutation de deux nombres</vt:lpstr>
      <vt:lpstr>Syntaxe générale de l’algorithme</vt:lpstr>
      <vt:lpstr>Exercice 1</vt:lpstr>
      <vt:lpstr>Présentation PowerPoint</vt:lpstr>
      <vt:lpstr>Incrémentation vs. décrémentation</vt:lpstr>
      <vt:lpstr>Entrées / Sorties</vt:lpstr>
      <vt:lpstr>Types de base</vt:lpstr>
      <vt:lpstr>Les types de base : Opérateurs de Calcul</vt:lpstr>
      <vt:lpstr>Algorithmique: Outils de base</vt:lpstr>
      <vt:lpstr>Correction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des ordinateurs</dc:title>
  <dc:creator>Niss</dc:creator>
  <cp:lastModifiedBy>JABRANE</cp:lastModifiedBy>
  <cp:revision>147</cp:revision>
  <dcterms:created xsi:type="dcterms:W3CDTF">2019-09-09T04:59:08Z</dcterms:created>
  <dcterms:modified xsi:type="dcterms:W3CDTF">2024-11-04T10:01:16Z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2017-10-27T00:00:00Z</vt:filetime>
  </property>
  <property fmtid="{D5CDD505-2E9C-101B-9397-08002B2CF9AE}" pid="3" name="Creator">
    <vt:lpwstr>Acrobat PDFMaker 10.0 pour PowerPoint</vt:lpwstr>
  </property>
  <property fmtid="{D5CDD505-2E9C-101B-9397-08002B2CF9AE}" pid="4" name="LastSaved">
    <vt:filetime>2019-09-09T00:00:00Z</vt:filetime>
  </property>
</Properties>
</file>